
<file path=[Content_Types].xml><?xml version="1.0" encoding="utf-8"?>
<ns0:Types xmlns:ns0="http://schemas.openxmlformats.org/package/2006/content-types">
  <ns0:Default Extension="xml" ContentType="application/xml"/>
  <ns0:Default Extension="rels" ContentType="application/vnd.openxmlformats-package.relationships+xml"/>
  <ns0:Default Extension="jpeg" ContentType="image/jpeg"/>
  <ns0:Default Extension="jpg" ContentType="image/jpg"/>
  <ns0:Default Extension="svg" ContentType="image/svg+xml"/>
  <ns0:Default Extension="png" ContentType="image/png"/>
  <ns0:Default Extension="gif" ContentType="image/gif"/>
  <ns0:Default Extension="m4v" ContentType="video/mp4"/>
  <ns0:Default Extension="mp4" ContentType="video/mp4"/>
  <ns0:Default Extension="vml" ContentType="application/vnd.openxmlformats-officedocument.vmlDrawing"/>
  <ns0:Default Extension="xlsx" ContentType="application/vnd.openxmlformats-officedocument.spreadsheetml.sheet"/>
  <ns0:Override PartName="/ppt/presentation.xml" ContentType="application/vnd.openxmlformats-officedocument.presentationml.presentation.main+xml"/>
  <ns0:Override PartName="/ppt/notesMasters/notesMaster1.xml" ContentType="application/vnd.openxmlformats-officedocument.presentationml.notesMaster+xml"/>
  <ns0:Override PartName="/ppt/slideMasters/slideMaster1.xml" ContentType="application/vnd.openxmlformats-officedocument.presentationml.slideMaster+xml"/>
  <ns0:Override PartName="/ppt/slides/slide1.xml" ContentType="application/vnd.openxmlformats-officedocument.presentationml.slide+xml"/>
  <ns0:Override PartName="/ppt/slides/slide2.xml" ContentType="application/vnd.openxmlformats-officedocument.presentationml.slide+xml"/>
  <ns0:Override PartName="/ppt/slides/slide3.xml" ContentType="application/vnd.openxmlformats-officedocument.presentationml.slide+xml"/>
  <ns0:Override PartName="/ppt/slides/slide4.xml" ContentType="application/vnd.openxmlformats-officedocument.presentationml.slide+xml"/>
  <ns0:Override PartName="/ppt/slides/slide5.xml" ContentType="application/vnd.openxmlformats-officedocument.presentationml.slide+xml"/>
  <ns0:Override PartName="/ppt/slides/slide6.xml" ContentType="application/vnd.openxmlformats-officedocument.presentationml.slide+xml"/>
  <ns0:Override PartName="/ppt/charts/chart1.xml" ContentType="application/vnd.openxmlformats-officedocument.drawingml.chart+xml"/>
  <ns0:Override PartName="/ppt/slides/slide7.xml" ContentType="application/vnd.openxmlformats-officedocument.presentationml.slide+xml"/>
  <ns0:Override PartName="/ppt/slides/slide8.xml" ContentType="application/vnd.openxmlformats-officedocument.presentationml.slide+xml"/>
  <ns0:Override PartName="/ppt/slides/slide9.xml" ContentType="application/vnd.openxmlformats-officedocument.presentationml.slide+xml"/>
  <ns0:Override PartName="/ppt/slides/slide10.xml" ContentType="application/vnd.openxmlformats-officedocument.presentationml.slide+xml"/>
  <ns0:Override PartName="/ppt/charts/chart4.xml" ContentType="application/vnd.openxmlformats-officedocument.drawingml.chart+xml"/>
  <ns0:Override PartName="/ppt/slides/slide11.xml" ContentType="application/vnd.openxmlformats-officedocument.presentationml.slide+xml"/>
  <ns0:Override PartName="/ppt/slides/slide12.xml" ContentType="application/vnd.openxmlformats-officedocument.presentationml.slide+xml"/>
  <ns0:Override PartName="/ppt/slides/slide13.xml" ContentType="application/vnd.openxmlformats-officedocument.presentationml.slide+xml"/>
  <ns0:Override PartName="/ppt/slides/slide14.xml" ContentType="application/vnd.openxmlformats-officedocument.presentationml.slide+xml"/>
  <ns0:Override PartName="/ppt/slides/slide15.xml" ContentType="application/vnd.openxmlformats-officedocument.presentationml.slide+xml"/>
  <ns0:Override PartName="/ppt/slides/slide16.xml" ContentType="application/vnd.openxmlformats-officedocument.presentationml.slide+xml"/>
  <ns0:Override PartName="/ppt/slides/slide17.xml" ContentType="application/vnd.openxmlformats-officedocument.presentationml.slide+xml"/>
  <ns0:Override PartName="/ppt/slides/slide18.xml" ContentType="application/vnd.openxmlformats-officedocument.presentationml.slide+xml"/>
  <ns0:Override PartName="/ppt/slides/slide19.xml" ContentType="application/vnd.openxmlformats-officedocument.presentationml.slide+xml"/>
  <ns0:Override PartName="/ppt/slides/slide20.xml" ContentType="application/vnd.openxmlformats-officedocument.presentationml.slide+xml"/>
  <ns0:Override PartName="/ppt/presProps.xml" ContentType="application/vnd.openxmlformats-officedocument.presentationml.presProps+xml"/>
  <ns0:Override PartName="/ppt/viewProps.xml" ContentType="application/vnd.openxmlformats-officedocument.presentationml.viewProps+xml"/>
  <ns0:Override PartName="/ppt/theme/theme1.xml" ContentType="application/vnd.openxmlformats-officedocument.theme+xml"/>
  <ns0:Override PartName="/ppt/tableStyles.xml" ContentType="application/vnd.openxmlformats-officedocument.presentationml.tableStyles+xml"/>
  <ns0:Override PartName="/ppt/slideLayouts/slideLayout1.xml" ContentType="application/vnd.openxmlformats-officedocument.presentationml.slideLayout+xml"/>
  <ns0:Override PartName="/ppt/notesSlides/notesSlide1.xml" ContentType="application/vnd.openxmlformats-officedocument.presentationml.notesSlide+xml"/>
  <ns0:Override PartName="/ppt/notesSlides/notesSlide2.xml" ContentType="application/vnd.openxmlformats-officedocument.presentationml.notesSlide+xml"/>
  <ns0:Override PartName="/ppt/notesSlides/notesSlide3.xml" ContentType="application/vnd.openxmlformats-officedocument.presentationml.notesSlide+xml"/>
  <ns0:Override PartName="/ppt/notesSlides/notesSlide4.xml" ContentType="application/vnd.openxmlformats-officedocument.presentationml.notesSlide+xml"/>
  <ns0:Override PartName="/ppt/notesSlides/notesSlide5.xml" ContentType="application/vnd.openxmlformats-officedocument.presentationml.notesSlide+xml"/>
  <ns0:Override PartName="/ppt/notesSlides/notesSlide6.xml" ContentType="application/vnd.openxmlformats-officedocument.presentationml.notesSlide+xml"/>
  <ns0:Override PartName="/ppt/notesSlides/notesSlide7.xml" ContentType="application/vnd.openxmlformats-officedocument.presentationml.notesSlide+xml"/>
  <ns0:Override PartName="/ppt/notesSlides/notesSlide8.xml" ContentType="application/vnd.openxmlformats-officedocument.presentationml.notesSlide+xml"/>
  <ns0:Override PartName="/ppt/notesSlides/notesSlide9.xml" ContentType="application/vnd.openxmlformats-officedocument.presentationml.notesSlide+xml"/>
  <ns0:Override PartName="/ppt/notesSlides/notesSlide10.xml" ContentType="application/vnd.openxmlformats-officedocument.presentationml.notesSlide+xml"/>
  <ns0:Override PartName="/ppt/notesSlides/notesSlide11.xml" ContentType="application/vnd.openxmlformats-officedocument.presentationml.notesSlide+xml"/>
  <ns0:Override PartName="/ppt/notesSlides/notesSlide12.xml" ContentType="application/vnd.openxmlformats-officedocument.presentationml.notesSlide+xml"/>
  <ns0:Override PartName="/ppt/notesSlides/notesSlide13.xml" ContentType="application/vnd.openxmlformats-officedocument.presentationml.notesSlide+xml"/>
  <ns0:Override PartName="/ppt/notesSlides/notesSlide14.xml" ContentType="application/vnd.openxmlformats-officedocument.presentationml.notesSlide+xml"/>
  <ns0:Override PartName="/ppt/notesSlides/notesSlide15.xml" ContentType="application/vnd.openxmlformats-officedocument.presentationml.notesSlide+xml"/>
  <ns0:Override PartName="/ppt/notesSlides/notesSlide16.xml" ContentType="application/vnd.openxmlformats-officedocument.presentationml.notesSlide+xml"/>
  <ns0:Override PartName="/ppt/notesSlides/notesSlide17.xml" ContentType="application/vnd.openxmlformats-officedocument.presentationml.notesSlide+xml"/>
  <ns0:Override PartName="/ppt/notesSlides/notesSlide18.xml" ContentType="application/vnd.openxmlformats-officedocument.presentationml.notesSlide+xml"/>
  <ns0:Override PartName="/ppt/notesSlides/notesSlide19.xml" ContentType="application/vnd.openxmlformats-officedocument.presentationml.notesSlide+xml"/>
  <ns0:Override PartName="/ppt/notesSlides/notesSlide20.xml" ContentType="application/vnd.openxmlformats-officedocument.presentationml.notesSlide+xml"/>
  <ns0:Override PartName="/docProps/core.xml" ContentType="application/vnd.openxmlformats-package.core-properties+xml"/>
  <ns0:Override PartName="/docProps/app.xml" ContentType="application/vnd.openxmlformats-officedocument.extended-properties+xml"/>
  <ns0:Override PartName="/ppt/webextensions/taskpanes.xml" ContentType="application/vnd.ms-office.webextensiontaskpanes+xml"/>
  <ns0:Override PartName="/ppt/webextensions/webextension1.xml" ContentType="application/vnd.ms-office.webextension+xml"/>
</ns0:Types>
</file>

<file path=_rels/.rels><?xml version='1.0' encoding='UTF-8'?>
<ns0:Relationships xmlns:ns0="http://schemas.openxmlformats.org/package/2006/relationships">
		<ns0:Relationship Id="rId1" Type="http://schemas.openxmlformats.org/officeDocument/2006/relationships/extended-properties" Target="docProps/app.xml" />
		<ns0:Relationship Id="rId2" Type="http://schemas.openxmlformats.org/package/2006/relationships/metadata/core-properties" Target="docProps/core.xml" />
		<ns0:Relationship Id="rId3" Type="http://schemas.openxmlformats.org/officeDocument/2006/relationships/officeDocument" Target="ppt/presentation.xml" />
		<ns0:Relationship Id="rId4" Type="http://schemas.microsoft.com/office/2011/relationships/webextensiontaskpanes" Target="ppt/webextensions/taskpanes.xml" /></ns0: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 Correct</c:v>
                </c:pt>
              </c:strCache>
            </c:strRef>
          </c:tx>
          <c:spPr>
            <a:solidFill>
              <a:srgbClr val="10B981"/>
            </a:solidFill>
            <a:effectLst/>
          </c:spPr>
          <c:invertIfNegative val="0"/>
          <c:dLbls>
            <c:numFmt formatCode="#&quot;%&quot;" sourceLinked="0"/>
            <c:txPr>
              <a:bodyPr/>
              <a:lstStyle/>
              <a:p>
                <a:pPr>
                  <a:defRPr b="0" i="0" strike="noStrike" sz="900" u="none">
                    <a:solidFill>
                      <a:srgbClr val="1E293B"/>
                    </a:solidFill>
                    <a:latin typeface="Arial"/>
                  </a:defRPr>
                </a:pPr>
              </a:p>
            </c:txPr>
            <c:showLegendKey val="0"/>
            <c:showVal val="1"/>
            <c:showCatName val="0"/>
            <c:showSerName val="0"/>
            <c:showPercent val="0"/>
            <c:showBubbleSize val="0"/>
            <c:showLeaderLines val="0"/>
          </c:dLbls>
          <c:dPt>
            <c:idx val="0"/>
            <c:invertIfNegative val="0"/>
            <c:bubble3D val="0"/>
            <c:spPr>
              <a:solidFill>
                <a:srgbClr val="10B981"/>
              </a:solidFill>
              <a:effectLst/>
            </c:spPr>
          </c:dPt>
          <c:dPt>
            <c:idx val="1"/>
            <c:invertIfNegative val="0"/>
            <c:bubble3D val="0"/>
            <c:spPr>
              <a:solidFill>
                <a:srgbClr val="F59E0B"/>
              </a:solidFill>
              <a:effectLst/>
            </c:spPr>
          </c:dPt>
          <c:dPt>
            <c:idx val="2"/>
            <c:invertIfNegative val="0"/>
            <c:bubble3D val="0"/>
            <c:spPr>
              <a:solidFill>
                <a:srgbClr val="F59E0B"/>
              </a:solidFill>
              <a:effectLst/>
            </c:spPr>
          </c:dPt>
          <c:dPt>
            <c:idx val="3"/>
            <c:invertIfNegative val="0"/>
            <c:bubble3D val="0"/>
            <c:spPr>
              <a:solidFill>
                <a:srgbClr val="EF4444"/>
              </a:solidFill>
              <a:effectLst/>
            </c:spPr>
          </c:dPt>
          <c:dPt>
            <c:idx val="4"/>
            <c:invertIfNegative val="0"/>
            <c:bubble3D val="0"/>
            <c:spPr>
              <a:solidFill>
                <a:srgbClr val="EF4444"/>
              </a:solidFill>
              <a:effectLst/>
            </c:spPr>
          </c:dPt>
          <c:dPt>
            <c:idx val="5"/>
            <c:invertIfNegative val="0"/>
            <c:bubble3D val="0"/>
            <c:spPr>
              <a:solidFill>
                <a:srgbClr val="EF4444"/>
              </a:solidFill>
              <a:effectLst/>
            </c:spPr>
          </c:dPt>
          <c:cat>
            <c:multiLvlStrRef>
              <c:f>Sheet1!$A$2:$A$7</c:f>
              <c:multiLvlStrCache>
                <c:ptCount val="6"/>
                <c:lvl>
                  <c:pt idx="0">
                    <c:v>Q38 Comp.
Thinking</c:v>
                  </c:pt>
                  <c:pt idx="1">
                    <c:v>Q13
Virtualisation</c:v>
                  </c:pt>
                  <c:pt idx="2">
                    <c:v>Q9 File
Formats</c:v>
                  </c:pt>
                  <c:pt idx="3">
                    <c:v>Q24
TCP/IP</c:v>
                  </c:pt>
                  <c:pt idx="4">
                    <c:v>Q12 OS
Functions</c:v>
                  </c:pt>
                  <c:pt idx="5">
                    <c:v>Q18
IPv4</c:v>
                  </c:pt>
                </c:lvl>
              </c:multiLvlStrCache>
            </c:multiLvlStrRef>
          </c:cat>
          <c:val>
            <c:numRef>
              <c:f>Sheet1!$B$2:$B$7</c:f>
              <c:numCache>
                <c:formatCode>General</c:formatCode>
                <c:ptCount val="6"/>
                <c:pt idx="0">
                  <c:v>65</c:v>
                </c:pt>
                <c:pt idx="1">
                  <c:v>52</c:v>
                </c:pt>
                <c:pt idx="2">
                  <c:v>52</c:v>
                </c:pt>
                <c:pt idx="3">
                  <c:v>49</c:v>
                </c:pt>
                <c:pt idx="4">
                  <c:v>45</c:v>
                </c:pt>
                <c:pt idx="5">
                  <c:v>44</c:v>
                </c:pt>
              </c:numCache>
            </c:numRef>
          </c:val>
        </c:ser>
        <c:dLbls>
          <c:numFmt formatCode="#&quot;%&quot;" sourceLinked="0"/>
          <c:txPr>
            <a:bodyPr/>
            <a:lstStyle/>
            <a:p>
              <a:pPr>
                <a:defRPr b="0" i="0" strike="noStrike" sz="9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800" b="0" i="0" u="none" strike="noStrike">
                <a:solidFill>
                  <a:srgbClr val="1E293B"/>
                </a:solidFill>
                <a:latin typeface="Arial"/>
              </a:defRPr>
            </a:pPr>
            <a:endParaRPr lang="en-US"/>
          </a:p>
        </c:txPr>
        <c:crossAx val="2094734552"/>
        <c:crosses val="autoZero"/>
        <c:auto val="1"/>
        <c:lblAlgn val="ctr"/>
        <c:noMultiLvlLbl val="1"/>
      </c:catAx>
      <c:valAx>
        <c:axId val="2094734552"/>
        <c:scaling>
          <c:orientation val="minMax"/>
          <c:max val="80"/>
          <c:min val="0"/>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8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Sub-questions</c:v>
                </c:pt>
              </c:strCache>
            </c:strRef>
          </c:tx>
          <c:spPr>
            <a:solidFill>
              <a:srgbClr val="10B981"/>
            </a:solidFill>
            <a:effectLst/>
          </c:spPr>
          <c:invertIfNegative val="0"/>
          <c:dLbls>
            <c:numFmt formatCode="#,##0" sourceLinked="0"/>
            <c:txPr>
              <a:bodyPr/>
              <a:lstStyle/>
              <a:p>
                <a:pPr>
                  <a:defRPr b="0" i="0" strike="noStrike" sz="1000" u="none">
                    <a:solidFill>
                      <a:srgbClr val="1E293B"/>
                    </a:solidFill>
                    <a:latin typeface="Arial"/>
                  </a:defRPr>
                </a:pPr>
              </a:p>
            </c:txPr>
            <c:showLegendKey val="0"/>
            <c:showVal val="1"/>
            <c:showCatName val="0"/>
            <c:showSerName val="0"/>
            <c:showPercent val="0"/>
            <c:showBubbleSize val="0"/>
            <c:showLeaderLines val="0"/>
          </c:dLbls>
          <c:dPt>
            <c:idx val="0"/>
            <c:invertIfNegative val="0"/>
            <c:bubble3D val="0"/>
            <c:spPr>
              <a:solidFill>
                <a:srgbClr val="10B981"/>
              </a:solidFill>
              <a:effectLst/>
            </c:spPr>
          </c:dPt>
          <c:dPt>
            <c:idx val="1"/>
            <c:invertIfNegative val="0"/>
            <c:bubble3D val="0"/>
            <c:spPr>
              <a:solidFill>
                <a:srgbClr val="34D399"/>
              </a:solidFill>
              <a:effectLst/>
            </c:spPr>
          </c:dPt>
          <c:dPt>
            <c:idx val="2"/>
            <c:invertIfNegative val="0"/>
            <c:bubble3D val="0"/>
            <c:spPr>
              <a:solidFill>
                <a:srgbClr val="3B82F6"/>
              </a:solidFill>
              <a:effectLst/>
            </c:spPr>
          </c:dPt>
          <c:dPt>
            <c:idx val="3"/>
            <c:invertIfNegative val="0"/>
            <c:bubble3D val="0"/>
            <c:spPr>
              <a:solidFill>
                <a:srgbClr val="F59E0B"/>
              </a:solidFill>
              <a:effectLst/>
            </c:spPr>
          </c:dPt>
          <c:dPt>
            <c:idx val="4"/>
            <c:invertIfNegative val="0"/>
            <c:bubble3D val="0"/>
            <c:spPr>
              <a:solidFill>
                <a:srgbClr val="EF4444"/>
              </a:solidFill>
              <a:effectLst/>
            </c:spPr>
          </c:dPt>
          <c:cat>
            <c:multiLvlStrRef>
              <c:f>Sheet1!$A$2:$A$6</c:f>
              <c:multiLvlStrCache>
                <c:ptCount val="5"/>
                <c:lvl>
                  <c:pt idx="0">
                    <c:v>Very Good</c:v>
                  </c:pt>
                  <c:pt idx="1">
                    <c:v>Good</c:v>
                  </c:pt>
                  <c:pt idx="2">
                    <c:v>Satisfactory</c:v>
                  </c:pt>
                  <c:pt idx="3">
                    <c:v>Fair</c:v>
                  </c:pt>
                  <c:pt idx="4">
                    <c:v>Poor</c:v>
                  </c:pt>
                </c:lvl>
              </c:multiLvlStrCache>
            </c:multiLvlStrRef>
          </c:cat>
          <c:val>
            <c:numRef>
              <c:f>Sheet1!$B$2:$B$6</c:f>
              <c:numCache>
                <c:formatCode>General</c:formatCode>
                <c:ptCount val="5"/>
                <c:pt idx="0">
                  <c:v>3</c:v>
                </c:pt>
                <c:pt idx="1">
                  <c:v>3</c:v>
                </c:pt>
                <c:pt idx="2">
                  <c:v>8</c:v>
                </c:pt>
                <c:pt idx="3">
                  <c:v>9</c:v>
                </c:pt>
                <c:pt idx="4">
                  <c:v>4</c:v>
                </c:pt>
              </c:numCache>
            </c:numRef>
          </c:val>
        </c:ser>
        <c:dLbls>
          <c:numFmt formatCode="#,##0" sourceLinked="0"/>
          <c:txPr>
            <a:bodyPr/>
            <a:lstStyle/>
            <a:p>
              <a:pPr>
                <a:defRPr b="0" i="0" strike="noStrike" sz="10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1E293B"/>
                </a:solidFill>
                <a:latin typeface="Arial"/>
              </a:defRPr>
            </a:pPr>
            <a:endParaRPr lang="en-US"/>
          </a:p>
        </c:txPr>
        <c:crossAx val="2094734552"/>
        <c:crosses val="autoZero"/>
        <c:auto val="1"/>
        <c:lblAlgn val="ctr"/>
        <c:noMultiLvlLbl val="1"/>
      </c:catAx>
      <c:valAx>
        <c:axId val="2094734552"/>
        <c:scaling>
          <c:orientation val="minMax"/>
          <c:max val="12"/>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 today's exam skills masterclass. Over the next 90 minutes, we're going to do a deep dive into the 2025 HKDSE ICT Examination Report to understand exactly where candidates performed well, where they struggled, and most importantly — what exam skills and strategies you need to maximise your marks. This lesson is structured around the three exam papers and will conclude with actionable preparation strategies you can start using immediately.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our roadmap for today. We'll start with a quick recap of the exam structure and the cognitive levels the DSE tests — this is important because it tells you HOW to answer, not just WHAT to answer. Then we'll go paper by paper through the 2025 exam report findings. For each paper, I'll show you where candidates scored well, where they fell apart, and the specific exam skills you need. We'll finish with a synthesis of recurring error patterns and a concrete revision checklist you can take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the basics. The HKDSE ICT exam has three components [1]. Paper 1 is the compulsory part worth 55% of your total mark, lasting 2 hours. It has Section A with 40 multiple-choice questions and Section B with structured data-response questions [2] [1]. Paper 2 is the elective part worth 25%, lasting 1.5 hours, where you choose two of three options: Databases, Web Application Development, or Algorithm and Programming [1]. SBA is worth 20% and involves two guided tasks focusing on design, implementation, testing and evaluation of an information system [1]. Grading uses Levels 1 to 5, with 5-double-star and 5-star for the very best performers [1]. The compulsory curriculum covers five modules spanning Information Processing at 37 hours, Computer System Fundamentals at 20 hours, Internet and its Applications at 31 hours, Computational Thinking and Programming at 48 hours, and Social Implications at 8 hours [1] [1] [1] [1] [1].
Sources:
[1] https://quick.aws.com/sn/spaces/481a48e8-dcf2-46d4-8250-0dbe14ab3943?documentId=35571d62-01cb-4a44-b8ab-fc643cd40ac5
[2] https://quick.aws.com/sn/spaces/481a48e8-dcf2-46d4-8250-0dbe14ab3943?documentId=3a6b9bdc-b26c-4d3c-aadf-6cd59e15630b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DSE ICT exam is built around six assessment objectives grouped into three categories [1]. Under Knowledge and Understanding, Objective 1 requires you to demonstrate knowledge of computer systems and the interrelationships between hardware, software and data [1]. Objective 2 is about realising the social, ethical and legal issues of ICT use [1]. Under Skills, Objective 3 asks you to use application software effectively and ethically [1], while Objective 4 is about demonstrating understanding of methods for analysing problems and implementing solutions using ICT [1]. Under Values and Attitudes, Objective 5 is about appreciating how information literacy influences decision-making [1], and Objective 6 is about developing responsible attitudes towards ICT use [1]. The critical takeaway is that Paper 1 covers most objectives through MC and structured questions [2], Paper 2 goes deeper into skills [1], and SBA is where attitudinal and synthesis objectives are primarily assessed [1] [1].
Sources:
[1] https://quick.aws.com/sn/spaces/481a48e8-dcf2-46d4-8250-0dbe14ab3943?documentId=35571d62-01cb-4a44-b8ab-fc643cd40ac5
[2] https://quick.aws.com/sn/spaces/481a48e8-dcf2-46d4-8250-0dbe14ab3943?documentId=3a6b9bdc-b26c-4d3c-aadf-6cd59e15630b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of the most important slides today. The C&amp;A Guide defines four cognitive levels [1]. Level 1 is Recall and Understanding — demonstrating recall of specific terms, facts and simple concepts. The action verbs are define, list, state, recognise [1] [1]. Level 2 is Application — applying knowledge and practical skills in particular contexts. Verbs include describe, explain, apply, convert [1] [1]. Level 3 is Analysis — breaking down materials into parts and recognising relationships. Verbs include distinguish, analyse, compare, evaluate [1] [1]. Level 4 is Synthesis — combining concepts from different areas into a plan for solving a problem. Verbs include design, construct, implement, integrate [1] [1]. Paper 1A MC questions predominantly test Levels 1 and 2 [2]. Paper 1B structured questions test Levels 2 and 3 [2]. Paper 2 elective questions test Levels 3 and 4 [2]. SBA targets the highest level — Synthesis [1]. The key exam skill here: when you see 'distinguish' or 'evaluate' in a question, you MUST provide comparison and reasoning, not just a definition. Written tests should assess understanding of concepts, creativity, and higher-order thinking skills [1].
Sources:
[1] https://quick.aws.com/sn/spaces/481a48e8-dcf2-46d4-8250-0dbe14ab3943?documentId=35571d62-01cb-4a44-b8ab-fc643cd40ac5
[2] https://quick.aws.com/sn/spaces/481a48e8-dcf2-46d4-8250-0dbe14ab3943?documentId=3a6b9bdc-b26c-4d3c-aadf-6cd59e15630b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dive into Paper 1A. Candidates performed satisfactorily overall with an average of 28 out of 40 questions answered correctly, giving a 70% facility rate [2]. But this headline number hides some serious weaknesses. The strongest area was Computational Thinking and Programming, where Q38 on conditional loops achieved 65% correct [2]. The weakest area was Internet and its Applications — Q18 on IPv4 addresses had only 44% correct and Q24 on TCP/IP had only 49% correct [2]. Computer System Fundamentals was also below average, with Q12 on OS functions at 45% and Q13 on virtualisation at about 52% [2]. The six flagged questions averaged only about 51% correct, which is significantly below the paper's overall standard [2]. The unflagged 34 questions had an implied average of about 73.5%, meaning most of the paper was within candidates' capabilities [2]. So the message is clear: there are specific topic areas that are dragging marks down.
Sources:
[2] https://quick.aws.com/sn/spaces/481a48e8-dcf2-46d4-8250-0dbe14ab3943?documentId=3a6b9bdc-b26c-4d3c-aadf-6cd59e15630b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show you the specific questions that tripped candidates up. Q18 on IPv4 addresses was the hardest flagged question at only 44% correct. The majority did not understand that each octet in an IPv4 address must be 0 to 255 — 50% of candidates accepted invalid addresses containing values like 512 or 256 [2]. 27% chose option D which included the value 256, and 23% chose option C which included 512 [2]. Q24 on TCP/IP was at 49% correct. 26% chose option D, incorrectly believing IP routing involves fixed paths — they confused packet switching with circuit switching [2]. Q12 on OS functions was at 45% correct. 36% chose option B, failing to recognise that memory management is a core OS function alongside I/O device management and system security [2]. Q13 on virtualisation was at 52% — 24% confused combining physical hard disks into a single virtual storage device, which is RAID, with virtualisation [2]. And Q9 on file formats was at 52% — candidates confused PDF and HTML advantages, with 20% thinking PDF has smaller file size and 19% thinking multimedia was PDF-specific [2].
Sources:
[2] https://quick.aws.com/sn/spaces/481a48e8-dcf2-46d4-8250-0dbe14ab3943?documentId=3a6b9bdc-b26c-4d3c-aadf-6cd59e15630b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drill into the five key misconceptions the 2025 report revealed. First, PDF versus HTML — candidates selected options favouring HTML capabilities like browser viewing and multimedia as reasons to use PDF. The actual advantage of PDF is document protection [2]. Second, OS functions — while two-thirds recognised system security, many excluded memory management. All three — I/O devices, security, AND memory — are core OS functions [2]. Third, virtualisation versus RAID — candidates confused combining physical hard disks into a single virtual storage device, which is RAID, with virtualisation. These are fundamentally different concepts [2]. Fourth, IPv4 addresses — each octet must be in the range 0 to 255. This is a basic fact that 50% of candidates got wrong [2]. Fifth, packet switching versus circuit switching — TCP/IP uses packet switching with dynamic routing, not fixed paths. 26% of candidates made this error [2]. I want you to create a comparison table for each of these pairs in your revision notes.
Sources:
[2] https://quick.aws.com/sn/spaces/481a48e8-dcf2-46d4-8250-0dbe14ab3943?documentId=3a6b9bdc-b26c-4d3c-aadf-6cd59e15630b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me teach you a concrete exam skill for Paper 1A. The option distribution data from 2025 tells us a lot about how to approach MC questions [2]. For Q12, 36% of candidates chose option B — that is the strongest distractor, pulling more than a third of students [2]. For Q18, 27% chose option D and 23% chose option C — both containing invalid IPv4 values [2]. The lesson is: always test each individual statement in a combination question before looking at the combined options. For Q12, if you tested whether memory management is an OS function independently, you would get the right answer. For Q18, if you checked whether 256 is a valid octet value, you would immediately eliminate two options. The algorithm tracing question Q38 shows that 65% got it right, but 16% chose C and 14% chose A — indicating errors in tracing conditional increments within loops [2]. For algorithm tracing, always write out each iteration step by step on paper. Do not try to do it in your head.
Sources:
[2] https://quick.aws.com/sn/spaces/481a48e8-dcf2-46d4-8250-0dbe14ab3943?documentId=3a6b9bdc-b26c-4d3c-aadf-6cd59e15630b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Moving to Paper 1B, the structured questions section. This comprised 9 main questions with sub-parts covering spreadsheet skills, security and encryption, data transmission, HTML and AI, system software, form design and validation, arrays and programming, and software concepts [2]. The performance distribution tells the story: 3 sub-questions were rated Very Good, 3 Good, 8 Satisfactory, 9 Fair, and 4 Poor [2]. The strongest performance was on Q6 which was rated Very Good and Good, and Q7d and Q9a which were also Very Good or Good [2]. The weakest areas were Q4 on HTML and AI/ML — both parts rated Poor — and Q7c on validation checks, also rated Poor [2]. The overarching theme from Paper 1B is that candidates often know concepts at a surface level but cannot apply them with the precision and detail the exam requires.
Sources:
[2] https://quick.aws.com/sn/spaces/481a48e8-dcf2-46d4-8250-0dbe14ab3943?documentId=3a6b9bdc-b26c-4d3c-aadf-6cd59e15630b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technical errors that cost the most marks in Paper 1B. First, spreadsheet function names — around half of candidates used AVG instead of the correct function name AVERAGE in Q1a [2] [2]. This is a zero-mark error because the function simply does not exist in standard spreadsheets. Second, concatenation — candidates struggled significantly with using the ampersand operator to combine comparison operators with cell addresses in formula parameters for functions like COUNTIF or SUMIF [2] [2]. This suggests a lack of practical experience constructing dynamic criteria [2]. Third, programming loop errors — candidates wrote range(2,N) instead of range(2,N+1) in Q8c, the classic off-by-one error [2]. Fourth, uninitialised variables — candidates forgot to initialise variables like Smax, Smin, and FS before using them in loops [2]. Fifth, flag misunderstanding — approximately two-thirds of candidates misunderstood the application of flags in error detection, and only one-third successfully identified all errors in Q9c [2].
Sources:
[2] https://quick.aws.com/sn/spaces/481a48e8-dcf2-46d4-8250-0dbe14ab3943?documentId=3a6b9bdc-b26c-4d3c-aadf-6cd59e15630b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topics were rated Poor in Paper 1B and need urgent attention. HTML in Q4a — candidates demonstrated limited understanding of HTML code, particularly in distinguishing between display size and file size, and only a small number accurately described the impact of changes to a photo's aspect ratio [2]. AI and machine learning in Q4b — responses indicated a narrow grasp of AI concepts. Candidates were unfamiliar with key ML considerations such as selecting photo samples for training, and often focused on irrelevant factors like copyright or data privacy instead of the technical aspects of training data selection [2] [2]. Validation checks in Q7c — few candidates identified the fixed value check, and many believed multiple validation checks could apply to a single value [2]. Beyond the Poor-rated topics, data conversion in Q3a was rated Fair — frequent errors included failing to convert bytes to bits using the 1 byte equals 8 bits relationship, and neglecting to include units like seconds in transmission time calculations [2] [2]. Encryption in Q2b was Satisfactory but some candidates omitted specifying who performs the encryption or decryption, or who owns the cryptographic key [2].
Sources:
[2] https://quick.aws.com/sn/spaces/481a48e8-dcf2-46d4-8250-0dbe14ab3943?documentId=3a6b9bdc-b26c-4d3c-aadf-6cd59e15630b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five rules for maximising your marks on Paper 1B structured questions. Rule 1: Use precise technical terminology. Examiners penalised vague language — weaker candidates used imprecise terms like system instead of operating system, and described data types as numeric without justification [2] [2]. Rule 2: Always elaborate your answers. Many marks were lost because candidates identified correct concepts but wrote vague answers like easy to change without explaining why or how [2]. For modular design, you should write something like easier to debug individual modules independently and reuse modules in other programs. Rule 3: Include units in every calculation. The recurring error of failing to convert bytes to bits and omitting units cost many candidates marks [2] [2]. Always show the conversion: 1 byte equals 8 bits. Rule 4: For encryption questions, you must specify who performs the encryption, who performs the decryption, and who owns which key — public versus private [2] [2]. Rule 5: For programming questions, always initialise all variables before a loop and carefully check your loop boundaries — range(2,N) misses the last value; you need range(2,N+1) [2] [2].
Sources:
[2] https://quick.aws.com/sn/spaces/481a48e8-dcf2-46d4-8250-0dbe14ab3943?documentId=3a6b9bdc-b26c-4d3c-aadf-6cd59e15630b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look at Paper 2, the elective part focusing on databases. This section carries 25% of the total assessment weighting [1]. Performance ranged from Good to Poor across the questions [2]. The good news: ER diagrams in Q1a were rated Good — most candidates could complete them correctly, though weaker candidates could not provide minimal cardinalities [2] [2]. UPDATE statements in Q2b were also Good — candidates successfully updated values [2]. But here is the critical finding: the UNION command in Q2a was rated Poor. Nearly all candidates were unable to use the UNION command in SQL [2]. This was the worst-performing sub-question in the entire database section [2]. Normalisation in Q4 was rated Fair — only a small number of candidates successfully completed two normalised database tables with appropriate attributes and correct primary keys [2]. And subqueries with MAX in Q5b-iii were rated Fair — more than half of the candidates encountered difficulties with subqueries and the MAX aggregate function [2].
Sources:
[1] https://quick.aws.com/sn/spaces/481a48e8-dcf2-46d4-8250-0dbe14ab3943?documentId=35571d62-01cb-4a44-b8ab-fc643cd40ac5
[2] https://quick.aws.com/sn/spaces/481a48e8-dcf2-46d4-8250-0dbe14ab3943?documentId=3a6b9bdc-b26c-4d3c-aadf-6cd59e15630b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break down the specific SQL errors from Paper 2. The UNION command was catastrophic — nearly all candidates were unable to use it correctly. Weaker candidates did not understand that UNION selects only distinct values by default, as opposed to UNION ALL [2] [2]. INSERT INTO had widespread quotation mark errors — a high proportion of candidates incorrectly used quotation marks for string data values [2] [2]. The MINUS versus MIN confusion is a terminology trap — candidates conflated the set operation MINUS with the aggregate function MIN [2] [2]. Subqueries were a major struggle — more than half of candidates encountered difficulties constructing subqueries with the MAX aggregate function [2] [2]. And WHERE clause predicates — weaker candidates could not write proper filter conditions [2] [2]. The examiner commentary strongly implies that teachers should ensure students practise set operations like UNION, INTERSECT, and MINUS beyond basic SELECT and UPDATE [2].
Sources:
[2] https://quick.aws.com/sn/spaces/481a48e8-dcf2-46d4-8250-0dbe14ab3943?documentId=3a6b9bdc-b26c-4d3c-aadf-6cd59e15630b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SQL syntax, Paper 2 revealed serious conceptual gaps. Normalisation in Q4 was rated Fair — only a small number of candidates successfully completed two normalised database tables with appropriate attributes and correct primary keys [2]. The curriculum requires students to reduce data redundancy through normalisation up to Third Normal Form [1]. Denormalisation in Q5e was also Fair — only a small number accurately described the process of denormalising two database tables and its related benefits. Critically, weaker candidates confused decomposing tables with denormalising tables [2] [2]. These are opposite processes and the distinction must be explicitly understood [2]. Rollback in Q1b was Fair — candidates were unfamiliar with the functions of rollback in a DBMS, and weaker candidates failed to articulate any benefit [2]. The curriculum explicitly lists describing the purposes of rollback as a learning outcome [1]. The one bright spot was data integrity in Q5d, rated Good — a high proportion identified and described integrity problems clearly [2]. Teachers should cover DBMS transaction concepts with real-world scenarios [2].
Sources:
[1] https://quick.aws.com/sn/spaces/481a48e8-dcf2-46d4-8250-0dbe14ab3943?documentId=35571d62-01cb-4a44-b8ab-fc643cd40ac5
[2] https://quick.aws.com/sn/spaces/481a48e8-dcf2-46d4-8250-0dbe14ab3943?documentId=3a6b9bdc-b26c-4d3c-aadf-6cd59e15630b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Stepping back from individual papers, let me show you the six recurring error categories that appeared across the entire 2025 exam [2]. First, formula and function misuse — this includes using AVG instead of AVERAGE, incorrect loop ranges, inability to use the SQL UNION command, and misapplying quotation marks in INSERT INTO [2]. Second, terminology confusion — candidates consistently confused related but distinct concepts: virtualisation versus RAID, packet switching versus circuit switching, decomposition versus denormalisation, input correctness versus input reasonableness [2] [2]. Third, incomplete explanations — many candidates identified correct concepts but failed to elaborate. They wrote vague answers like easy to change without explaining why, omitted who performs encryption or owns the key, and listed device names without identifying their functions [2]. Fourth, unit conversion failures — failing to convert bytes to bits and omitting units in calculations was a frequent error [2]. Fifth, weak practical coding skills — this was particularly severe in the elective papers, with candidates unable to use essential PHP database functions like mysqli_num_rows, mysqli_fetch_array, and mysqli_close [2] [2]. And sixth, the AI/ML knowledge gap — candidates showed a narrow grasp of AI, focusing on irrelevant factors like copyright instead of ML training considerations [2].
Sources:
[2] https://quick.aws.com/sn/spaces/481a48e8-dcf2-46d4-8250-0dbe14ab3943?documentId=3a6b9bdc-b26c-4d3c-aadf-6cd59e15630b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Based on the examiner commentary across all papers, here are the top five preparation strategies ranked by impact [2]. Number one: gain hands-on practical coding experience. The extremely poor performance on PHP database functions and SQL commands indicates candidates lack practical experience. You must write and debug real code rather than only studying theory [2] [2]. Number two: master networking fundamentals. Study IPv4 address structure with the 0 to 255 range, TCP/IP packet switching versus circuit switching, and network device functions [2] [2]. Number three: elaborate and justify all written answers. Always explain your reasoning, provide specific examples, and avoid vague one-word responses. Show working for calculations and include units [2] [2]. Number four: create comparison tables for commonly confused concepts — virtualisation versus RAID, decomposition versus denormalisation, packet switching versus circuit switching, input correctness versus reasonableness [2] [2]. Number five: use precise technical terminology. Replace vague terms with exact ICT vocabulary. Specify operating system not system, and justify data type choices with reasoning [2] [2].
Sources:
[2] https://quick.aws.com/sn/spaces/481a48e8-dcf2-46d4-8250-0dbe14ab3943?documentId=3a6b9bdc-b26c-4d3c-aadf-6cd59e15630b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Continuing with strategies six through ten [2] [2] [2] [2] [2]. Number six: practise unit conversions systematically. Drill byte-to-bit conversions, bandwidth calculations, and always include measurement units in your answers [2] [2]. Number seven: study AI and machine learning concepts beyond surface awareness. Understand practical ML considerations like training data selection, model evaluation, and appropriate use cases [2] [2]. Number eight: strengthen CSS and web technology knowledge. Study external versus inline CSS, HTML code application, and the distinction between display size and file size [2]. Number nine: practise database normalisation end-to-end. Complete exercises on creating normalised tables from 1NF to 3NF with correct attributes, primary keys, and understand rollback functions [2]. Number ten: learn correct spreadsheet function names and syntax. Memorise exact function names — AVERAGE not AVG — and practise concatenation with the ampersand operator [2]. The C&amp;A Guide recommends that students should use programming languages to implement learning elements rather than just learning syntax, and schools should provide opportunities to foster programming learning [1].
Sources:
[1] https://quick.aws.com/sn/spaces/481a48e8-dcf2-46d4-8250-0dbe14ab3943?documentId=35571d62-01cb-4a44-b8ab-fc643cd40ac5
[2] https://quick.aws.com/sn/spaces/481a48e8-dcf2-46d4-8250-0dbe14ab3943?documentId=3a6b9bdc-b26c-4d3c-aadf-6cd59e15630b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wrap up with the key takeaways from today. For Paper 1A, the overall average was 70% but Internet and its Applications averaged only 46.5% on flagged questions [2] [2]. This is where your biggest mark gains are — master IPv4 addresses, TCP/IP concepts, and OS functions. For Paper 1B, the message is clear: use precise terminology, elaborate every answer with justification, always include units in calculations, and initialise all variables in programming questions [2] [2] [2]. For Paper 2, practise the SQL commands that failed candidates — UNION was the worst-performing question with nearly all candidates unable to use it [2] [2]. Also practise INSERT INTO with correct quotation marks, normalisation up to 3NF, and understand rollback purposes [2] [2] [2]. Remember the cognitive levels — match your answer depth to the action verb in the question. Define means recall, explain means application, evaluate means analysis, and design means synthesis [1] [1] [1] [1] [1]. Your action plan starting today: create comparison tables for confused concepts, do hands-on coding practice with real programs, and practise past paper questions under timed exam conditions. Good luck with your preparation!
Sources:
[1] https://quick.aws.com/sn/spaces/481a48e8-dcf2-46d4-8250-0dbe14ab3943?documentId=35571d62-01cb-4a44-b8ab-fc643cd40ac5
[2] https://quick.aws.com/sn/spaces/481a48e8-dcf2-46d4-8250-0dbe14ab3943?documentId=3a6b9bdc-b26c-4d3c-aadf-6cd59e15630b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503920" y="4886325"/>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6B8CAE"/>
                </a:solidFill>
                <a:latin typeface="Calibri"/>
                <a:ea typeface="Calibri"/>
                <a:cs typeface="Calibri"/>
              </a:defRPr>
            </a:lvl1pPr>
          </a:lstStyle>
          <a:p>
            <a:pPr algn="l"/>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503920" y="4886325"/>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6B8CAE"/>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image" Target="../media/image-2-3.png"/><Relationship Id="rId4" Type="http://schemas.openxmlformats.org/officeDocument/2006/relationships/image" Target="../media/image-2-4.svg"/><Relationship Id="rId5" Type="http://schemas.openxmlformats.org/officeDocument/2006/relationships/image" Target="../media/image-2-5.png"/><Relationship Id="rId6" Type="http://schemas.openxmlformats.org/officeDocument/2006/relationships/image" Target="../media/image-2-6.svg"/><Relationship Id="rId7" Type="http://schemas.openxmlformats.org/officeDocument/2006/relationships/image" Target="../media/image-2-7.png"/><Relationship Id="rId8" Type="http://schemas.openxmlformats.org/officeDocument/2006/relationships/image" Target="../media/image-2-8.svg"/><Relationship Id="rId9" Type="http://schemas.openxmlformats.org/officeDocument/2006/relationships/image" Target="../media/image-2-9.png"/><Relationship Id="rId10" Type="http://schemas.openxmlformats.org/officeDocument/2006/relationships/image" Target="../media/image-2-10.svg"/><Relationship Id="rId11" Type="http://schemas.openxmlformats.org/officeDocument/2006/relationships/image" Target="../media/image-2-11.png"/><Relationship Id="rId12" Type="http://schemas.openxmlformats.org/officeDocument/2006/relationships/image" Target="../media/image-2-12.svg"/><Relationship Id="rId13" Type="http://schemas.openxmlformats.org/officeDocument/2006/relationships/slideLayout" Target="../slideLayouts/slideLayout1.xml"/><Relationship Id="rId1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3.png"/><Relationship Id="rId4" Type="http://schemas.openxmlformats.org/officeDocument/2006/relationships/image" Target="../media/image-3-4.sv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3.png"/><Relationship Id="rId4" Type="http://schemas.openxmlformats.org/officeDocument/2006/relationships/image" Target="../media/image-4-4.sv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image" Target="../media/image-5-3.png"/><Relationship Id="rId4" Type="http://schemas.openxmlformats.org/officeDocument/2006/relationships/image" Target="../media/image-5-4.sv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image" Target="../media/image-8-3.png"/><Relationship Id="rId4" Type="http://schemas.openxmlformats.org/officeDocument/2006/relationships/image" Target="../media/image-8-4.svg"/><Relationship Id="rId5" Type="http://schemas.openxmlformats.org/officeDocument/2006/relationships/image" Target="../media/image-8-5.png"/><Relationship Id="rId6" Type="http://schemas.openxmlformats.org/officeDocument/2006/relationships/image" Target="../media/image-8-6.svg"/><Relationship Id="rId7" Type="http://schemas.openxmlformats.org/officeDocument/2006/relationships/image" Target="../media/image-8-7.png"/><Relationship Id="rId8" Type="http://schemas.openxmlformats.org/officeDocument/2006/relationships/image" Target="../media/image-8-8.svg"/><Relationship Id="rId9" Type="http://schemas.openxmlformats.org/officeDocument/2006/relationships/image" Target="../media/image-8-9.png"/><Relationship Id="rId10" Type="http://schemas.openxmlformats.org/officeDocument/2006/relationships/image" Target="../media/image-8-10.svg"/><Relationship Id="rId11" Type="http://schemas.openxmlformats.org/officeDocument/2006/relationships/image" Target="../media/image-8-11.png"/><Relationship Id="rId12" Type="http://schemas.openxmlformats.org/officeDocument/2006/relationships/image" Target="../media/image-8-12.svg"/><Relationship Id="rId13" Type="http://schemas.openxmlformats.org/officeDocument/2006/relationships/image" Target="../media/image-8-13.png"/><Relationship Id="rId14" Type="http://schemas.openxmlformats.org/officeDocument/2006/relationships/image" Target="../media/image-8-14.svg"/><Relationship Id="rId15" Type="http://schemas.openxmlformats.org/officeDocument/2006/relationships/image" Target="../media/image-8-15.png"/><Relationship Id="rId16" Type="http://schemas.openxmlformats.org/officeDocument/2006/relationships/image" Target="../media/image-8-16.svg"/><Relationship Id="rId17" Type="http://schemas.openxmlformats.org/officeDocument/2006/relationships/image" Target="../media/image-8-17.png"/><Relationship Id="rId18" Type="http://schemas.openxmlformats.org/officeDocument/2006/relationships/image" Target="../media/image-8-18.svg"/><Relationship Id="rId19" Type="http://schemas.openxmlformats.org/officeDocument/2006/relationships/image" Target="../media/image-8-19.png"/><Relationship Id="rId20" Type="http://schemas.openxmlformats.org/officeDocument/2006/relationships/image" Target="../media/image-8-20.svg"/><Relationship Id="rId21" Type="http://schemas.openxmlformats.org/officeDocument/2006/relationships/image" Target="../media/image-8-21.png"/><Relationship Id="rId22" Type="http://schemas.openxmlformats.org/officeDocument/2006/relationships/image" Target="../media/image-8-22.svg"/><Relationship Id="rId23" Type="http://schemas.openxmlformats.org/officeDocument/2006/relationships/slideLayout" Target="../slideLayouts/slideLayout1.xml"/><Relationship Id="rId2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image" Target="../media/image-10-1.png"/><Relationship Id="rId3" Type="http://schemas.openxmlformats.org/officeDocument/2006/relationships/image" Target="../media/image-10-2.svg"/><Relationship Id="rId4" Type="http://schemas.openxmlformats.org/officeDocument/2006/relationships/image" Target="../media/image-10-3.png"/><Relationship Id="rId5" Type="http://schemas.openxmlformats.org/officeDocument/2006/relationships/image" Target="../media/image-10-4.svg"/><Relationship Id="rId6" Type="http://schemas.openxmlformats.org/officeDocument/2006/relationships/image" Target="../media/image-10-5.png"/><Relationship Id="rId7" Type="http://schemas.openxmlformats.org/officeDocument/2006/relationships/image" Target="../media/image-10-6.svg"/><Relationship Id="rId8" Type="http://schemas.openxmlformats.org/officeDocument/2006/relationships/slideLayout" Target="../slideLayouts/slideLayout1.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sv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svg"/><Relationship Id="rId3" Type="http://schemas.openxmlformats.org/officeDocument/2006/relationships/image" Target="../media/image-12-3.png"/><Relationship Id="rId4" Type="http://schemas.openxmlformats.org/officeDocument/2006/relationships/image" Target="../media/image-12-4.svg"/><Relationship Id="rId5" Type="http://schemas.openxmlformats.org/officeDocument/2006/relationships/image" Target="../media/image-12-5.png"/><Relationship Id="rId6" Type="http://schemas.openxmlformats.org/officeDocument/2006/relationships/image" Target="../media/image-12-6.svg"/><Relationship Id="rId7" Type="http://schemas.openxmlformats.org/officeDocument/2006/relationships/image" Target="../media/image-12-7.png"/><Relationship Id="rId8" Type="http://schemas.openxmlformats.org/officeDocument/2006/relationships/image" Target="../media/image-12-8.svg"/><Relationship Id="rId9" Type="http://schemas.openxmlformats.org/officeDocument/2006/relationships/slideLayout" Target="../slideLayouts/slideLayout1.xml"/><Relationship Id="rId10"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svg"/><Relationship Id="rId3" Type="http://schemas.openxmlformats.org/officeDocument/2006/relationships/image" Target="../media/image-13-3.png"/><Relationship Id="rId4" Type="http://schemas.openxmlformats.org/officeDocument/2006/relationships/image" Target="../media/image-13-4.svg"/><Relationship Id="rId5" Type="http://schemas.openxmlformats.org/officeDocument/2006/relationships/image" Target="../media/image-13-5.png"/><Relationship Id="rId6" Type="http://schemas.openxmlformats.org/officeDocument/2006/relationships/image" Target="../media/image-13-6.svg"/><Relationship Id="rId7" Type="http://schemas.openxmlformats.org/officeDocument/2006/relationships/image" Target="../media/image-13-7.png"/><Relationship Id="rId8" Type="http://schemas.openxmlformats.org/officeDocument/2006/relationships/image" Target="../media/image-13-8.svg"/><Relationship Id="rId9" Type="http://schemas.openxmlformats.org/officeDocument/2006/relationships/image" Target="../media/image-13-9.png"/><Relationship Id="rId10" Type="http://schemas.openxmlformats.org/officeDocument/2006/relationships/image" Target="../media/image-13-10.svg"/><Relationship Id="rId11" Type="http://schemas.openxmlformats.org/officeDocument/2006/relationships/image" Target="../media/image-13-11.png"/><Relationship Id="rId12" Type="http://schemas.openxmlformats.org/officeDocument/2006/relationships/image" Target="../media/image-13-12.svg"/><Relationship Id="rId13" Type="http://schemas.openxmlformats.org/officeDocument/2006/relationships/slideLayout" Target="../slideLayouts/slideLayout1.xml"/><Relationship Id="rId1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svg"/><Relationship Id="rId3" Type="http://schemas.openxmlformats.org/officeDocument/2006/relationships/image" Target="../media/image-14-3.png"/><Relationship Id="rId4" Type="http://schemas.openxmlformats.org/officeDocument/2006/relationships/image" Target="../media/image-14-4.sv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sv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sv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svg"/><Relationship Id="rId3" Type="http://schemas.openxmlformats.org/officeDocument/2006/relationships/image" Target="../media/image-17-3.png"/><Relationship Id="rId4" Type="http://schemas.openxmlformats.org/officeDocument/2006/relationships/image" Target="../media/image-17-4.svg"/><Relationship Id="rId5" Type="http://schemas.openxmlformats.org/officeDocument/2006/relationships/image" Target="../media/image-17-5.png"/><Relationship Id="rId6" Type="http://schemas.openxmlformats.org/officeDocument/2006/relationships/image" Target="../media/image-17-6.svg"/><Relationship Id="rId7" Type="http://schemas.openxmlformats.org/officeDocument/2006/relationships/image" Target="../media/image-17-7.png"/><Relationship Id="rId8" Type="http://schemas.openxmlformats.org/officeDocument/2006/relationships/image" Target="../media/image-17-8.svg"/><Relationship Id="rId9" Type="http://schemas.openxmlformats.org/officeDocument/2006/relationships/image" Target="../media/image-17-9.png"/><Relationship Id="rId10" Type="http://schemas.openxmlformats.org/officeDocument/2006/relationships/image" Target="../media/image-17-10.svg"/><Relationship Id="rId11" Type="http://schemas.openxmlformats.org/officeDocument/2006/relationships/image" Target="../media/image-17-11.png"/><Relationship Id="rId12" Type="http://schemas.openxmlformats.org/officeDocument/2006/relationships/image" Target="../media/image-17-12.svg"/><Relationship Id="rId13" Type="http://schemas.openxmlformats.org/officeDocument/2006/relationships/image" Target="../media/image-17-13.png"/><Relationship Id="rId14" Type="http://schemas.openxmlformats.org/officeDocument/2006/relationships/image" Target="../media/image-17-14.svg"/><Relationship Id="rId15" Type="http://schemas.openxmlformats.org/officeDocument/2006/relationships/slideLayout" Target="../slideLayouts/slideLayout1.xml"/><Relationship Id="rId1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svg"/><Relationship Id="rId3" Type="http://schemas.openxmlformats.org/officeDocument/2006/relationships/image" Target="../media/image-18-3.png"/><Relationship Id="rId4" Type="http://schemas.openxmlformats.org/officeDocument/2006/relationships/image" Target="../media/image-18-4.svg"/><Relationship Id="rId5" Type="http://schemas.openxmlformats.org/officeDocument/2006/relationships/image" Target="../media/image-18-5.png"/><Relationship Id="rId6" Type="http://schemas.openxmlformats.org/officeDocument/2006/relationships/image" Target="../media/image-18-6.svg"/><Relationship Id="rId7" Type="http://schemas.openxmlformats.org/officeDocument/2006/relationships/image" Target="../media/image-18-7.png"/><Relationship Id="rId8" Type="http://schemas.openxmlformats.org/officeDocument/2006/relationships/image" Target="../media/image-18-8.svg"/><Relationship Id="rId9" Type="http://schemas.openxmlformats.org/officeDocument/2006/relationships/image" Target="../media/image-18-9.png"/><Relationship Id="rId10" Type="http://schemas.openxmlformats.org/officeDocument/2006/relationships/image" Target="../media/image-18-10.svg"/><Relationship Id="rId11" Type="http://schemas.openxmlformats.org/officeDocument/2006/relationships/image" Target="../media/image-18-11.png"/><Relationship Id="rId12" Type="http://schemas.openxmlformats.org/officeDocument/2006/relationships/image" Target="../media/image-18-12.svg"/><Relationship Id="rId13" Type="http://schemas.openxmlformats.org/officeDocument/2006/relationships/slideLayout" Target="../slideLayouts/slideLayout1.xml"/><Relationship Id="rId1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svg"/><Relationship Id="rId3" Type="http://schemas.openxmlformats.org/officeDocument/2006/relationships/image" Target="../media/image-19-3.png"/><Relationship Id="rId4" Type="http://schemas.openxmlformats.org/officeDocument/2006/relationships/image" Target="../media/image-19-4.svg"/><Relationship Id="rId5" Type="http://schemas.openxmlformats.org/officeDocument/2006/relationships/image" Target="../media/image-19-5.png"/><Relationship Id="rId6" Type="http://schemas.openxmlformats.org/officeDocument/2006/relationships/image" Target="../media/image-19-6.svg"/><Relationship Id="rId7" Type="http://schemas.openxmlformats.org/officeDocument/2006/relationships/image" Target="../media/image-19-7.png"/><Relationship Id="rId8" Type="http://schemas.openxmlformats.org/officeDocument/2006/relationships/image" Target="../media/image-19-8.svg"/><Relationship Id="rId9" Type="http://schemas.openxmlformats.org/officeDocument/2006/relationships/image" Target="../media/image-19-9.png"/><Relationship Id="rId10" Type="http://schemas.openxmlformats.org/officeDocument/2006/relationships/image" Target="../media/image-19-10.svg"/><Relationship Id="rId11" Type="http://schemas.openxmlformats.org/officeDocument/2006/relationships/image" Target="../media/image-19-11.png"/><Relationship Id="rId12" Type="http://schemas.openxmlformats.org/officeDocument/2006/relationships/image" Target="../media/image-19-12.svg"/><Relationship Id="rId13" Type="http://schemas.openxmlformats.org/officeDocument/2006/relationships/slideLayout" Target="../slideLayouts/slideLayout1.xml"/><Relationship Id="rId1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svg"/><Relationship Id="rId3" Type="http://schemas.openxmlformats.org/officeDocument/2006/relationships/image" Target="../media/image-20-3.png"/><Relationship Id="rId4" Type="http://schemas.openxmlformats.org/officeDocument/2006/relationships/image" Target="../media/image-20-4.svg"/><Relationship Id="rId5" Type="http://schemas.openxmlformats.org/officeDocument/2006/relationships/image" Target="../media/image-20-5.png"/><Relationship Id="rId6" Type="http://schemas.openxmlformats.org/officeDocument/2006/relationships/image" Target="../media/image-20-6.svg"/><Relationship Id="rId7" Type="http://schemas.openxmlformats.org/officeDocument/2006/relationships/slideLayout" Target="../slideLayouts/slideLayout1.xml"/><Relationship Id="rId8"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914400" y="-914400"/>
            <a:ext cx="3657600" cy="6972300"/>
          </a:xfrm>
          <a:prstGeom prst="rect">
            <a:avLst/>
          </a:prstGeom>
          <a:solidFill>
            <a:srgbClr val="0C7C9B">
              <a:alpha val="15000"/>
            </a:srgbClr>
          </a:solidFill>
          <a:ln/>
        </p:spPr>
      </p:sp>
      <p:sp>
        <p:nvSpPr>
          <p:cNvPr id="3" name="Shape 1"/>
          <p:cNvSpPr/>
          <p:nvPr/>
        </p:nvSpPr>
        <p:spPr>
          <a:xfrm>
            <a:off x="6400800" y="-457200"/>
            <a:ext cx="3657600" cy="2743200"/>
          </a:xfrm>
          <a:prstGeom prst="rect">
            <a:avLst/>
          </a:prstGeom>
          <a:solidFill>
            <a:srgbClr val="14B8A6">
              <a:alpha val="10000"/>
            </a:srgbClr>
          </a:solidFill>
          <a:ln/>
        </p:spPr>
      </p:sp>
      <p:sp>
        <p:nvSpPr>
          <p:cNvPr id="4" name="Shape 2"/>
          <p:cNvSpPr/>
          <p:nvPr/>
        </p:nvSpPr>
        <p:spPr>
          <a:xfrm>
            <a:off x="7498080" y="3200400"/>
            <a:ext cx="2286000" cy="2286000"/>
          </a:xfrm>
          <a:prstGeom prst="ellipse">
            <a:avLst/>
          </a:prstGeom>
          <a:solidFill>
            <a:srgbClr val="06D6A0">
              <a:alpha val="8000"/>
            </a:srgbClr>
          </a:solidFill>
          <a:ln/>
        </p:spPr>
      </p:sp>
      <p:sp>
        <p:nvSpPr>
          <p:cNvPr id="5" name="Shape 3"/>
          <p:cNvSpPr/>
          <p:nvPr/>
        </p:nvSpPr>
        <p:spPr>
          <a:xfrm>
            <a:off x="731520" y="914400"/>
            <a:ext cx="54864" cy="1645920"/>
          </a:xfrm>
          <a:prstGeom prst="rect">
            <a:avLst/>
          </a:prstGeom>
          <a:solidFill>
            <a:srgbClr val="14B8A6"/>
          </a:solidFill>
          <a:ln/>
        </p:spPr>
      </p:sp>
      <p:sp>
        <p:nvSpPr>
          <p:cNvPr id="6" name="Text 4"/>
          <p:cNvSpPr/>
          <p:nvPr/>
        </p:nvSpPr>
        <p:spPr>
          <a:xfrm>
            <a:off x="1005840" y="914400"/>
            <a:ext cx="7315200" cy="685800"/>
          </a:xfrm>
          <a:prstGeom prst="rect">
            <a:avLst/>
          </a:prstGeom>
          <a:noFill/>
          <a:ln/>
        </p:spPr>
        <p:txBody>
          <a:bodyPr wrap="square" lIns="0" tIns="0" rIns="0" bIns="0" rtlCol="0" anchor="b"/>
          <a:lstStyle/>
          <a:p>
            <a:pPr indent="0" marL="0">
              <a:buNone/>
            </a:pPr>
            <a:r>
              <a:rPr lang="en-US" sz="4000" dirty="0">
                <a:solidFill>
                  <a:srgbClr val="FFFFFF"/>
                </a:solidFill>
                <a:latin typeface="Trebuchet MS" pitchFamily="34" charset="0"/>
                <a:ea typeface="Trebuchet MS" pitchFamily="34" charset="-122"/>
                <a:cs typeface="Trebuchet MS" pitchFamily="34" charset="-120"/>
              </a:rPr>
              <a:t>HKDSE ICT 2025</a:t>
            </a:r>
            <a:endParaRPr lang="en-US" sz="4000" dirty="0"/>
          </a:p>
        </p:txBody>
      </p:sp>
      <p:sp>
        <p:nvSpPr>
          <p:cNvPr id="7" name="Text 5"/>
          <p:cNvSpPr/>
          <p:nvPr/>
        </p:nvSpPr>
        <p:spPr>
          <a:xfrm>
            <a:off x="1005840" y="1691640"/>
            <a:ext cx="7315200" cy="685800"/>
          </a:xfrm>
          <a:prstGeom prst="rect">
            <a:avLst/>
          </a:prstGeom>
          <a:noFill/>
          <a:ln/>
        </p:spPr>
        <p:txBody>
          <a:bodyPr wrap="square" lIns="0" tIns="0" rIns="0" bIns="0" rtlCol="0" anchor="t"/>
          <a:lstStyle/>
          <a:p>
            <a:pPr indent="0" marL="0">
              <a:buNone/>
            </a:pPr>
            <a:r>
              <a:rPr lang="en-US" sz="3200" dirty="0">
                <a:solidFill>
                  <a:srgbClr val="14B8A6"/>
                </a:solidFill>
                <a:latin typeface="Trebuchet MS" pitchFamily="34" charset="0"/>
                <a:ea typeface="Trebuchet MS" pitchFamily="34" charset="-122"/>
                <a:cs typeface="Trebuchet MS" pitchFamily="34" charset="-120"/>
              </a:rPr>
              <a:t>Exam Skills Masterclass</a:t>
            </a:r>
            <a:endParaRPr lang="en-US" sz="3200" dirty="0"/>
          </a:p>
        </p:txBody>
      </p:sp>
      <p:sp>
        <p:nvSpPr>
          <p:cNvPr id="8" name="Text 6"/>
          <p:cNvSpPr/>
          <p:nvPr/>
        </p:nvSpPr>
        <p:spPr>
          <a:xfrm>
            <a:off x="1005840" y="2743200"/>
            <a:ext cx="6858000" cy="457200"/>
          </a:xfrm>
          <a:prstGeom prst="rect">
            <a:avLst/>
          </a:prstGeom>
          <a:noFill/>
          <a:ln/>
        </p:spPr>
        <p:txBody>
          <a:bodyPr wrap="square" lIns="0" tIns="0" rIns="0" bIns="0" rtlCol="0" anchor="ctr"/>
          <a:lstStyle/>
          <a:p>
            <a:pPr indent="0" marL="0">
              <a:buNone/>
            </a:pPr>
            <a:r>
              <a:rPr lang="en-US" sz="1400" dirty="0">
                <a:solidFill>
                  <a:srgbClr val="B8D4E3"/>
                </a:solidFill>
                <a:latin typeface="Calibri" pitchFamily="34" charset="0"/>
                <a:ea typeface="Calibri" pitchFamily="34" charset="-122"/>
                <a:cs typeface="Calibri" pitchFamily="34" charset="-120"/>
              </a:rPr>
              <a:t>Senior Form ICT — 1.5 Hour Lesson Based on the 2025 Examination Report</a:t>
            </a:r>
            <a:endParaRPr lang="en-US" sz="1400" dirty="0"/>
          </a:p>
        </p:txBody>
      </p:sp>
      <p:sp>
        <p:nvSpPr>
          <p:cNvPr id="9" name="Shape 7"/>
          <p:cNvSpPr/>
          <p:nvPr/>
        </p:nvSpPr>
        <p:spPr>
          <a:xfrm>
            <a:off x="1005840" y="3383280"/>
            <a:ext cx="2286000" cy="36576"/>
          </a:xfrm>
          <a:prstGeom prst="rect">
            <a:avLst/>
          </a:prstGeom>
          <a:solidFill>
            <a:srgbClr val="06D6A0"/>
          </a:solidFill>
          <a:ln/>
        </p:spPr>
      </p:sp>
      <p:sp>
        <p:nvSpPr>
          <p:cNvPr id="10" name="Text 8"/>
          <p:cNvSpPr/>
          <p:nvPr/>
        </p:nvSpPr>
        <p:spPr>
          <a:xfrm>
            <a:off x="1005840" y="3749040"/>
            <a:ext cx="1188720" cy="292608"/>
          </a:xfrm>
          <a:prstGeom prst="roundRect">
            <a:avLst>
              <a:gd name="adj" fmla="val 25000"/>
            </a:avLst>
          </a:prstGeom>
          <a:solidFill>
            <a:srgbClr val="3B82F6">
              <a:alpha val="80000"/>
            </a:srgbClr>
          </a:solid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Paper 1A</a:t>
            </a:r>
            <a:endParaRPr lang="en-US" sz="1000" dirty="0"/>
          </a:p>
        </p:txBody>
      </p:sp>
      <p:sp>
        <p:nvSpPr>
          <p:cNvPr id="11" name="Text 9"/>
          <p:cNvSpPr/>
          <p:nvPr/>
        </p:nvSpPr>
        <p:spPr>
          <a:xfrm>
            <a:off x="2377440" y="3749040"/>
            <a:ext cx="1188720" cy="292608"/>
          </a:xfrm>
          <a:prstGeom prst="roundRect">
            <a:avLst>
              <a:gd name="adj" fmla="val 25000"/>
            </a:avLst>
          </a:prstGeom>
          <a:solidFill>
            <a:srgbClr val="8B5CF6">
              <a:alpha val="80000"/>
            </a:srgbClr>
          </a:solid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Paper 1B</a:t>
            </a:r>
            <a:endParaRPr lang="en-US" sz="1000" dirty="0"/>
          </a:p>
        </p:txBody>
      </p:sp>
      <p:sp>
        <p:nvSpPr>
          <p:cNvPr id="12" name="Text 10"/>
          <p:cNvSpPr/>
          <p:nvPr/>
        </p:nvSpPr>
        <p:spPr>
          <a:xfrm>
            <a:off x="3749040" y="3749040"/>
            <a:ext cx="1188720" cy="292608"/>
          </a:xfrm>
          <a:prstGeom prst="roundRect">
            <a:avLst>
              <a:gd name="adj" fmla="val 25000"/>
            </a:avLst>
          </a:prstGeom>
          <a:solidFill>
            <a:srgbClr val="F97316">
              <a:alpha val="80000"/>
            </a:srgbClr>
          </a:solid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Paper 2</a:t>
            </a:r>
            <a:endParaRPr lang="en-US" sz="1000" dirty="0"/>
          </a:p>
        </p:txBody>
      </p:sp>
      <p:sp>
        <p:nvSpPr>
          <p:cNvPr id="13" name="Shape 11"/>
          <p:cNvSpPr/>
          <p:nvPr/>
        </p:nvSpPr>
        <p:spPr>
          <a:xfrm>
            <a:off x="0" y="4800600"/>
            <a:ext cx="9144000" cy="342900"/>
          </a:xfrm>
          <a:prstGeom prst="rect">
            <a:avLst/>
          </a:prstGeom>
          <a:solidFill>
            <a:srgbClr val="071120"/>
          </a:solidFill>
          <a:ln/>
        </p:spPr>
      </p:sp>
      <p:sp>
        <p:nvSpPr>
          <p:cNvPr id="14" name="Text 12"/>
          <p:cNvSpPr/>
          <p:nvPr/>
        </p:nvSpPr>
        <p:spPr>
          <a:xfrm>
            <a:off x="457200" y="4818888"/>
            <a:ext cx="4572000" cy="274320"/>
          </a:xfrm>
          <a:prstGeom prst="rect">
            <a:avLst/>
          </a:prstGeom>
          <a:noFill/>
          <a:ln/>
        </p:spPr>
        <p:txBody>
          <a:bodyPr wrap="square" lIns="0" tIns="0" rIns="0" bIns="0" rtlCol="0" anchor="ctr"/>
          <a:lstStyle/>
          <a:p>
            <a:pPr indent="0" marL="0">
              <a:buNone/>
            </a:pPr>
            <a:r>
              <a:rPr lang="en-US" sz="700" dirty="0">
                <a:solidFill>
                  <a:srgbClr val="4A6A8A"/>
                </a:solidFill>
                <a:latin typeface="Calibri" pitchFamily="34" charset="0"/>
                <a:ea typeface="Calibri" pitchFamily="34" charset="-122"/>
                <a:cs typeface="Calibri" pitchFamily="34" charset="-120"/>
              </a:rPr>
              <a:t>HKDSE ICT 2025 Exam Skills Masterclass</a:t>
            </a:r>
            <a:endParaRPr lang="en-US" sz="700" dirty="0"/>
          </a:p>
        </p:txBody>
      </p:sp>
      <p:sp>
        <p:nvSpPr>
          <p:cNvPr id="25" name="Slide Number Placeholder 0"/>
          <p:cNvSpPr>
            <a:spLocks noGrp="1"/>
          </p:cNvSpPr>
          <p:nvPr>
            <p:ph type="sldNum" sz="quarter" idx="4294967295"/>
          </p:nvPr>
        </p:nvSpPr>
        <p:spPr>
          <a:xfrm>
            <a:off x="8503920" y="4886325"/>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6B8CAE"/>
                </a:solidFill>
                <a:latin typeface="Calibri"/>
                <a:ea typeface="Calibri"/>
                <a:cs typeface="Calibri"/>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7F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1628"/>
          </a:solidFill>
          <a:ln/>
        </p:spPr>
      </p:sp>
      <p:pic>
        <p:nvPicPr>
          <p:cNvPr id="3" name="Image 0" descr="icon_0.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57200" y="201168"/>
            <a:ext cx="365760" cy="365760"/>
          </a:xfrm>
          <a:prstGeom prst="rect">
            <a:avLst/>
          </a:prstGeom>
        </p:spPr>
      </p:pic>
      <p:sp>
        <p:nvSpPr>
          <p:cNvPr id="4" name="Text 1"/>
          <p:cNvSpPr/>
          <p:nvPr/>
        </p:nvSpPr>
        <p:spPr>
          <a:xfrm>
            <a:off x="960120" y="137160"/>
            <a:ext cx="7772400" cy="502920"/>
          </a:xfrm>
          <a:prstGeom prst="rect">
            <a:avLst/>
          </a:prstGeom>
          <a:noFill/>
          <a:ln/>
        </p:spPr>
        <p:txBody>
          <a:bodyPr wrap="square" lIns="0" tIns="0" rIns="0" bIns="0" rtlCol="0" anchor="ctr"/>
          <a:lstStyle/>
          <a:p>
            <a:pPr indent="0" marL="0">
              <a:buNone/>
            </a:pPr>
            <a:r>
              <a:rPr lang="en-US" sz="2200" dirty="0">
                <a:solidFill>
                  <a:srgbClr val="FFFFFF"/>
                </a:solidFill>
                <a:latin typeface="Trebuchet MS" pitchFamily="34" charset="0"/>
                <a:ea typeface="Trebuchet MS" pitchFamily="34" charset="-122"/>
                <a:cs typeface="Trebuchet MS" pitchFamily="34" charset="-120"/>
              </a:rPr>
              <a:t>Lesson Overview — 90 Minutes to Exam Readiness</a:t>
            </a:r>
            <a:endParaRPr lang="en-US" sz="2200" dirty="0"/>
          </a:p>
        </p:txBody>
      </p:sp>
      <p:sp>
        <p:nvSpPr>
          <p:cNvPr id="5" name="Text 2"/>
          <p:cNvSpPr/>
          <p:nvPr/>
        </p:nvSpPr>
        <p:spPr>
          <a:xfrm>
            <a:off x="960120" y="594360"/>
            <a:ext cx="7772400" cy="274320"/>
          </a:xfrm>
          <a:prstGeom prst="rect">
            <a:avLst/>
          </a:prstGeom>
          <a:noFill/>
          <a:ln/>
        </p:spPr>
        <p:txBody>
          <a:bodyPr wrap="square" lIns="0" tIns="0" rIns="0" bIns="0" rtlCol="0" anchor="ctr"/>
          <a:lstStyle/>
          <a:p>
            <a:pPr indent="0" marL="0">
              <a:buNone/>
            </a:pPr>
            <a:r>
              <a:rPr lang="en-US" sz="1200" dirty="0">
                <a:solidFill>
                  <a:srgbClr val="B8D4E3"/>
                </a:solidFill>
                <a:latin typeface="Calibri" pitchFamily="34" charset="0"/>
                <a:ea typeface="Calibri" pitchFamily="34" charset="-122"/>
                <a:cs typeface="Calibri" pitchFamily="34" charset="-120"/>
              </a:rPr>
              <a:t>What We Will Cover Today</a:t>
            </a:r>
            <a:endParaRPr lang="en-US" sz="1200" dirty="0"/>
          </a:p>
        </p:txBody>
      </p:sp>
      <p:sp>
        <p:nvSpPr>
          <p:cNvPr id="6" name="Shape 3"/>
          <p:cNvSpPr/>
          <p:nvPr/>
        </p:nvSpPr>
        <p:spPr>
          <a:xfrm>
            <a:off x="1280160" y="1828800"/>
            <a:ext cx="6583680" cy="0"/>
          </a:xfrm>
          <a:prstGeom prst="line">
            <a:avLst/>
          </a:prstGeom>
          <a:noFill/>
          <a:ln w="25400">
            <a:solidFill>
              <a:srgbClr val="14B8A6"/>
            </a:solidFill>
            <a:prstDash val="dash"/>
          </a:ln>
        </p:spPr>
      </p:sp>
      <p:sp>
        <p:nvSpPr>
          <p:cNvPr id="7" name="Text 4"/>
          <p:cNvSpPr/>
          <p:nvPr/>
        </p:nvSpPr>
        <p:spPr>
          <a:xfrm>
            <a:off x="1074420" y="1463040"/>
            <a:ext cx="411480" cy="411480"/>
          </a:xfrm>
          <a:prstGeom prst="ellipse">
            <a:avLst/>
          </a:prstGeom>
          <a:solidFill>
            <a:srgbClr val="0C7C9B"/>
          </a:solidFill>
          <a:ln/>
        </p:spPr>
        <p:txBody>
          <a:bodyPr wrap="square" lIns="0" tIns="0" rIns="0" bIns="0" rtlCol="0" anchor="ctr"/>
          <a:lstStyle/>
          <a:p>
            <a:pPr algn="ctr" indent="0" marL="0">
              <a:buNone/>
            </a:pPr>
            <a:r>
              <a:rPr lang="en-US" sz="1600" dirty="0">
                <a:solidFill>
                  <a:srgbClr val="FFFFFF"/>
                </a:solidFill>
                <a:latin typeface="Trebuchet MS" pitchFamily="34" charset="0"/>
                <a:ea typeface="Trebuchet MS" pitchFamily="34" charset="-122"/>
                <a:cs typeface="Trebuchet MS" pitchFamily="34" charset="-120"/>
              </a:rPr>
              <a:t>1</a:t>
            </a:r>
            <a:endParaRPr lang="en-US" sz="1600" dirty="0"/>
          </a:p>
        </p:txBody>
      </p:sp>
      <p:sp>
        <p:nvSpPr>
          <p:cNvPr id="8" name="Shape 5"/>
          <p:cNvSpPr/>
          <p:nvPr/>
        </p:nvSpPr>
        <p:spPr>
          <a:xfrm>
            <a:off x="548640" y="2011680"/>
            <a:ext cx="1463040" cy="2011680"/>
          </a:xfrm>
          <a:prstGeom prst="roundRect">
            <a:avLst>
              <a:gd name="adj" fmla="val 6250"/>
            </a:avLst>
          </a:prstGeom>
          <a:solidFill>
            <a:srgbClr val="FFFFFF"/>
          </a:solidFill>
          <a:ln/>
          <a:effectLst>
            <a:outerShdw sx="100000" sy="100000" kx="0" ky="0" algn="bl" rotWithShape="0" blurRad="101600" dist="25400" dir="8100000">
              <a:srgbClr val="000000">
                <a:alpha val="8000"/>
              </a:srgbClr>
            </a:outerShdw>
          </a:effectLst>
        </p:spPr>
      </p:sp>
      <p:pic>
        <p:nvPicPr>
          <p:cNvPr id="9" name="Image 1" descr="icon_1.sv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20140" y="2148840"/>
            <a:ext cx="320040" cy="320040"/>
          </a:xfrm>
          <a:prstGeom prst="rect">
            <a:avLst/>
          </a:prstGeom>
        </p:spPr>
      </p:pic>
      <p:sp>
        <p:nvSpPr>
          <p:cNvPr id="10" name="Text 6"/>
          <p:cNvSpPr/>
          <p:nvPr/>
        </p:nvSpPr>
        <p:spPr>
          <a:xfrm>
            <a:off x="621792" y="2560320"/>
            <a:ext cx="1316736" cy="777240"/>
          </a:xfrm>
          <a:prstGeom prst="rect">
            <a:avLst/>
          </a:prstGeom>
          <a:noFill/>
          <a:ln/>
        </p:spPr>
        <p:txBody>
          <a:bodyPr wrap="square" lIns="0" tIns="0" rIns="0" bIns="0" rtlCol="0" anchor="t"/>
          <a:lstStyle/>
          <a:p>
            <a:pPr algn="ctr" indent="0" marL="0">
              <a:lnSpc>
                <a:spcPts val="1300"/>
              </a:lnSpc>
              <a:buNone/>
            </a:pPr>
            <a:r>
              <a:rPr lang="en-US" sz="1000" dirty="0">
                <a:solidFill>
                  <a:srgbClr val="1E293B"/>
                </a:solidFill>
                <a:latin typeface="Calibri" pitchFamily="34" charset="0"/>
                <a:ea typeface="Calibri" pitchFamily="34" charset="-122"/>
                <a:cs typeface="Calibri" pitchFamily="34" charset="-120"/>
              </a:rPr>
              <a:t>Exam Structure &amp;</a:t>
            </a:r>
            <a:endParaRPr lang="en-US" sz="1000" dirty="0"/>
          </a:p>
          <a:p>
            <a:pPr algn="ctr" indent="0" marL="0">
              <a:lnSpc>
                <a:spcPts val="1300"/>
              </a:lnSpc>
              <a:buNone/>
            </a:pPr>
            <a:r>
              <a:rPr lang="en-US" sz="1000" dirty="0">
                <a:solidFill>
                  <a:srgbClr val="1E293B"/>
                </a:solidFill>
                <a:latin typeface="Calibri" pitchFamily="34" charset="0"/>
                <a:ea typeface="Calibri" pitchFamily="34" charset="-122"/>
                <a:cs typeface="Calibri" pitchFamily="34" charset="-120"/>
              </a:rPr>
              <a:t>What the DSE Expects</a:t>
            </a:r>
            <a:endParaRPr lang="en-US" sz="1000" dirty="0"/>
          </a:p>
        </p:txBody>
      </p:sp>
      <p:sp>
        <p:nvSpPr>
          <p:cNvPr id="11" name="Text 7"/>
          <p:cNvSpPr/>
          <p:nvPr/>
        </p:nvSpPr>
        <p:spPr>
          <a:xfrm>
            <a:off x="868680" y="3383280"/>
            <a:ext cx="822960" cy="237744"/>
          </a:xfrm>
          <a:prstGeom prst="roundRect">
            <a:avLst>
              <a:gd name="adj" fmla="val 23077"/>
            </a:avLst>
          </a:prstGeom>
          <a:solidFill>
            <a:srgbClr val="14B8A6">
              <a:alpha val="20000"/>
            </a:srgbClr>
          </a:solidFill>
          <a:ln/>
        </p:spPr>
        <p:txBody>
          <a:bodyPr wrap="square" lIns="0" tIns="0" rIns="0" bIns="0" rtlCol="0" anchor="ctr"/>
          <a:lstStyle/>
          <a:p>
            <a:pPr algn="ctr" indent="0" marL="0">
              <a:buNone/>
            </a:pPr>
            <a:r>
              <a:rPr lang="en-US" sz="900" dirty="0">
                <a:solidFill>
                  <a:srgbClr val="0C7C9B"/>
                </a:solidFill>
                <a:latin typeface="Calibri" pitchFamily="34" charset="0"/>
                <a:ea typeface="Calibri" pitchFamily="34" charset="-122"/>
                <a:cs typeface="Calibri" pitchFamily="34" charset="-120"/>
              </a:rPr>
              <a:t>10 min</a:t>
            </a:r>
            <a:endParaRPr lang="en-US" sz="900" dirty="0"/>
          </a:p>
        </p:txBody>
      </p:sp>
      <p:sp>
        <p:nvSpPr>
          <p:cNvPr id="12" name="Text 8"/>
          <p:cNvSpPr/>
          <p:nvPr/>
        </p:nvSpPr>
        <p:spPr>
          <a:xfrm>
            <a:off x="2720340" y="1463040"/>
            <a:ext cx="411480" cy="411480"/>
          </a:xfrm>
          <a:prstGeom prst="ellipse">
            <a:avLst/>
          </a:prstGeom>
          <a:solidFill>
            <a:srgbClr val="0C7C9B"/>
          </a:solidFill>
          <a:ln/>
        </p:spPr>
        <p:txBody>
          <a:bodyPr wrap="square" lIns="0" tIns="0" rIns="0" bIns="0" rtlCol="0" anchor="ctr"/>
          <a:lstStyle/>
          <a:p>
            <a:pPr algn="ctr" indent="0" marL="0">
              <a:buNone/>
            </a:pPr>
            <a:r>
              <a:rPr lang="en-US" sz="1600" dirty="0">
                <a:solidFill>
                  <a:srgbClr val="FFFFFF"/>
                </a:solidFill>
                <a:latin typeface="Trebuchet MS" pitchFamily="34" charset="0"/>
                <a:ea typeface="Trebuchet MS" pitchFamily="34" charset="-122"/>
                <a:cs typeface="Trebuchet MS" pitchFamily="34" charset="-120"/>
              </a:rPr>
              <a:t>2</a:t>
            </a:r>
            <a:endParaRPr lang="en-US" sz="1600" dirty="0"/>
          </a:p>
        </p:txBody>
      </p:sp>
      <p:sp>
        <p:nvSpPr>
          <p:cNvPr id="13" name="Shape 9"/>
          <p:cNvSpPr/>
          <p:nvPr/>
        </p:nvSpPr>
        <p:spPr>
          <a:xfrm>
            <a:off x="2194560" y="2011680"/>
            <a:ext cx="1463040" cy="2011680"/>
          </a:xfrm>
          <a:prstGeom prst="roundRect">
            <a:avLst>
              <a:gd name="adj" fmla="val 6250"/>
            </a:avLst>
          </a:prstGeom>
          <a:solidFill>
            <a:srgbClr val="FFFFFF"/>
          </a:solidFill>
          <a:ln/>
          <a:effectLst>
            <a:outerShdw sx="100000" sy="100000" kx="0" ky="0" algn="bl" rotWithShape="0" blurRad="101600" dist="25400" dir="8100000">
              <a:srgbClr val="000000">
                <a:alpha val="8000"/>
              </a:srgbClr>
            </a:outerShdw>
          </a:effectLst>
        </p:spPr>
      </p:sp>
      <p:pic>
        <p:nvPicPr>
          <p:cNvPr id="14" name="Image 2" descr="icon_2.sv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766060" y="2148840"/>
            <a:ext cx="320040" cy="320040"/>
          </a:xfrm>
          <a:prstGeom prst="rect">
            <a:avLst/>
          </a:prstGeom>
        </p:spPr>
      </p:pic>
      <p:sp>
        <p:nvSpPr>
          <p:cNvPr id="15" name="Text 10"/>
          <p:cNvSpPr/>
          <p:nvPr/>
        </p:nvSpPr>
        <p:spPr>
          <a:xfrm>
            <a:off x="2267712" y="2560320"/>
            <a:ext cx="1316736" cy="777240"/>
          </a:xfrm>
          <a:prstGeom prst="rect">
            <a:avLst/>
          </a:prstGeom>
          <a:noFill/>
          <a:ln/>
        </p:spPr>
        <p:txBody>
          <a:bodyPr wrap="square" lIns="0" tIns="0" rIns="0" bIns="0" rtlCol="0" anchor="t"/>
          <a:lstStyle/>
          <a:p>
            <a:pPr algn="ctr" indent="0" marL="0">
              <a:lnSpc>
                <a:spcPts val="1300"/>
              </a:lnSpc>
              <a:buNone/>
            </a:pPr>
            <a:r>
              <a:rPr lang="en-US" sz="1000" dirty="0">
                <a:solidFill>
                  <a:srgbClr val="1E293B"/>
                </a:solidFill>
                <a:latin typeface="Calibri" pitchFamily="34" charset="0"/>
                <a:ea typeface="Calibri" pitchFamily="34" charset="-122"/>
                <a:cs typeface="Calibri" pitchFamily="34" charset="-120"/>
              </a:rPr>
              <a:t>Paper 1A — MC</a:t>
            </a:r>
            <a:endParaRPr lang="en-US" sz="1000" dirty="0"/>
          </a:p>
          <a:p>
            <a:pPr algn="ctr" indent="0" marL="0">
              <a:lnSpc>
                <a:spcPts val="1300"/>
              </a:lnSpc>
              <a:buNone/>
            </a:pPr>
            <a:r>
              <a:rPr lang="en-US" sz="1000" dirty="0">
                <a:solidFill>
                  <a:srgbClr val="1E293B"/>
                </a:solidFill>
                <a:latin typeface="Calibri" pitchFamily="34" charset="0"/>
                <a:ea typeface="Calibri" pitchFamily="34" charset="-122"/>
                <a:cs typeface="Calibri" pitchFamily="34" charset="-120"/>
              </a:rPr>
              <a:t>Performance &amp; Traps</a:t>
            </a:r>
            <a:endParaRPr lang="en-US" sz="1000" dirty="0"/>
          </a:p>
        </p:txBody>
      </p:sp>
      <p:sp>
        <p:nvSpPr>
          <p:cNvPr id="16" name="Text 11"/>
          <p:cNvSpPr/>
          <p:nvPr/>
        </p:nvSpPr>
        <p:spPr>
          <a:xfrm>
            <a:off x="2514600" y="3383280"/>
            <a:ext cx="822960" cy="237744"/>
          </a:xfrm>
          <a:prstGeom prst="roundRect">
            <a:avLst>
              <a:gd name="adj" fmla="val 23077"/>
            </a:avLst>
          </a:prstGeom>
          <a:solidFill>
            <a:srgbClr val="14B8A6">
              <a:alpha val="20000"/>
            </a:srgbClr>
          </a:solidFill>
          <a:ln/>
        </p:spPr>
        <p:txBody>
          <a:bodyPr wrap="square" lIns="0" tIns="0" rIns="0" bIns="0" rtlCol="0" anchor="ctr"/>
          <a:lstStyle/>
          <a:p>
            <a:pPr algn="ctr" indent="0" marL="0">
              <a:buNone/>
            </a:pPr>
            <a:r>
              <a:rPr lang="en-US" sz="900" dirty="0">
                <a:solidFill>
                  <a:srgbClr val="0C7C9B"/>
                </a:solidFill>
                <a:latin typeface="Calibri" pitchFamily="34" charset="0"/>
                <a:ea typeface="Calibri" pitchFamily="34" charset="-122"/>
                <a:cs typeface="Calibri" pitchFamily="34" charset="-120"/>
              </a:rPr>
              <a:t>20 min</a:t>
            </a:r>
            <a:endParaRPr lang="en-US" sz="900" dirty="0"/>
          </a:p>
        </p:txBody>
      </p:sp>
      <p:sp>
        <p:nvSpPr>
          <p:cNvPr id="17" name="Text 12"/>
          <p:cNvSpPr/>
          <p:nvPr/>
        </p:nvSpPr>
        <p:spPr>
          <a:xfrm>
            <a:off x="4366260" y="1463040"/>
            <a:ext cx="411480" cy="411480"/>
          </a:xfrm>
          <a:prstGeom prst="ellipse">
            <a:avLst/>
          </a:prstGeom>
          <a:solidFill>
            <a:srgbClr val="0C7C9B"/>
          </a:solidFill>
          <a:ln/>
        </p:spPr>
        <p:txBody>
          <a:bodyPr wrap="square" lIns="0" tIns="0" rIns="0" bIns="0" rtlCol="0" anchor="ctr"/>
          <a:lstStyle/>
          <a:p>
            <a:pPr algn="ctr" indent="0" marL="0">
              <a:buNone/>
            </a:pPr>
            <a:r>
              <a:rPr lang="en-US" sz="1600" dirty="0">
                <a:solidFill>
                  <a:srgbClr val="FFFFFF"/>
                </a:solidFill>
                <a:latin typeface="Trebuchet MS" pitchFamily="34" charset="0"/>
                <a:ea typeface="Trebuchet MS" pitchFamily="34" charset="-122"/>
                <a:cs typeface="Trebuchet MS" pitchFamily="34" charset="-120"/>
              </a:rPr>
              <a:t>3</a:t>
            </a:r>
            <a:endParaRPr lang="en-US" sz="1600" dirty="0"/>
          </a:p>
        </p:txBody>
      </p:sp>
      <p:sp>
        <p:nvSpPr>
          <p:cNvPr id="18" name="Shape 13"/>
          <p:cNvSpPr/>
          <p:nvPr/>
        </p:nvSpPr>
        <p:spPr>
          <a:xfrm>
            <a:off x="3840480" y="2011680"/>
            <a:ext cx="1463040" cy="2011680"/>
          </a:xfrm>
          <a:prstGeom prst="roundRect">
            <a:avLst>
              <a:gd name="adj" fmla="val 6250"/>
            </a:avLst>
          </a:prstGeom>
          <a:solidFill>
            <a:srgbClr val="FFFFFF"/>
          </a:solidFill>
          <a:ln/>
          <a:effectLst>
            <a:outerShdw sx="100000" sy="100000" kx="0" ky="0" algn="bl" rotWithShape="0" blurRad="101600" dist="25400" dir="8100000">
              <a:srgbClr val="000000">
                <a:alpha val="8000"/>
              </a:srgbClr>
            </a:outerShdw>
          </a:effectLst>
        </p:spPr>
      </p:sp>
      <p:pic>
        <p:nvPicPr>
          <p:cNvPr id="19" name="Image 3" descr="icon_3.sv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411980" y="2148840"/>
            <a:ext cx="320040" cy="320040"/>
          </a:xfrm>
          <a:prstGeom prst="rect">
            <a:avLst/>
          </a:prstGeom>
        </p:spPr>
      </p:pic>
      <p:sp>
        <p:nvSpPr>
          <p:cNvPr id="20" name="Text 14"/>
          <p:cNvSpPr/>
          <p:nvPr/>
        </p:nvSpPr>
        <p:spPr>
          <a:xfrm>
            <a:off x="3913632" y="2560320"/>
            <a:ext cx="1316736" cy="777240"/>
          </a:xfrm>
          <a:prstGeom prst="rect">
            <a:avLst/>
          </a:prstGeom>
          <a:noFill/>
          <a:ln/>
        </p:spPr>
        <p:txBody>
          <a:bodyPr wrap="square" lIns="0" tIns="0" rIns="0" bIns="0" rtlCol="0" anchor="t"/>
          <a:lstStyle/>
          <a:p>
            <a:pPr algn="ctr" indent="0" marL="0">
              <a:lnSpc>
                <a:spcPts val="1300"/>
              </a:lnSpc>
              <a:buNone/>
            </a:pPr>
            <a:r>
              <a:rPr lang="en-US" sz="1000" dirty="0">
                <a:solidFill>
                  <a:srgbClr val="1E293B"/>
                </a:solidFill>
                <a:latin typeface="Calibri" pitchFamily="34" charset="0"/>
                <a:ea typeface="Calibri" pitchFamily="34" charset="-122"/>
                <a:cs typeface="Calibri" pitchFamily="34" charset="-120"/>
              </a:rPr>
              <a:t>Paper 1B — Structured</a:t>
            </a:r>
            <a:endParaRPr lang="en-US" sz="1000" dirty="0"/>
          </a:p>
          <a:p>
            <a:pPr algn="ctr" indent="0" marL="0">
              <a:lnSpc>
                <a:spcPts val="1300"/>
              </a:lnSpc>
              <a:buNone/>
            </a:pPr>
            <a:r>
              <a:rPr lang="en-US" sz="1000" dirty="0">
                <a:solidFill>
                  <a:srgbClr val="1E293B"/>
                </a:solidFill>
                <a:latin typeface="Calibri" pitchFamily="34" charset="0"/>
                <a:ea typeface="Calibri" pitchFamily="34" charset="-122"/>
                <a:cs typeface="Calibri" pitchFamily="34" charset="-120"/>
              </a:rPr>
              <a:t>Question Skills</a:t>
            </a:r>
            <a:endParaRPr lang="en-US" sz="1000" dirty="0"/>
          </a:p>
        </p:txBody>
      </p:sp>
      <p:sp>
        <p:nvSpPr>
          <p:cNvPr id="21" name="Text 15"/>
          <p:cNvSpPr/>
          <p:nvPr/>
        </p:nvSpPr>
        <p:spPr>
          <a:xfrm>
            <a:off x="4160520" y="3383280"/>
            <a:ext cx="822960" cy="237744"/>
          </a:xfrm>
          <a:prstGeom prst="roundRect">
            <a:avLst>
              <a:gd name="adj" fmla="val 23077"/>
            </a:avLst>
          </a:prstGeom>
          <a:solidFill>
            <a:srgbClr val="14B8A6">
              <a:alpha val="20000"/>
            </a:srgbClr>
          </a:solidFill>
          <a:ln/>
        </p:spPr>
        <p:txBody>
          <a:bodyPr wrap="square" lIns="0" tIns="0" rIns="0" bIns="0" rtlCol="0" anchor="ctr"/>
          <a:lstStyle/>
          <a:p>
            <a:pPr algn="ctr" indent="0" marL="0">
              <a:buNone/>
            </a:pPr>
            <a:r>
              <a:rPr lang="en-US" sz="900" dirty="0">
                <a:solidFill>
                  <a:srgbClr val="0C7C9B"/>
                </a:solidFill>
                <a:latin typeface="Calibri" pitchFamily="34" charset="0"/>
                <a:ea typeface="Calibri" pitchFamily="34" charset="-122"/>
                <a:cs typeface="Calibri" pitchFamily="34" charset="-120"/>
              </a:rPr>
              <a:t>20 min</a:t>
            </a:r>
            <a:endParaRPr lang="en-US" sz="900" dirty="0"/>
          </a:p>
        </p:txBody>
      </p:sp>
      <p:sp>
        <p:nvSpPr>
          <p:cNvPr id="22" name="Text 16"/>
          <p:cNvSpPr/>
          <p:nvPr/>
        </p:nvSpPr>
        <p:spPr>
          <a:xfrm>
            <a:off x="6012180" y="1463040"/>
            <a:ext cx="411480" cy="411480"/>
          </a:xfrm>
          <a:prstGeom prst="ellipse">
            <a:avLst/>
          </a:prstGeom>
          <a:solidFill>
            <a:srgbClr val="0C7C9B"/>
          </a:solidFill>
          <a:ln/>
        </p:spPr>
        <p:txBody>
          <a:bodyPr wrap="square" lIns="0" tIns="0" rIns="0" bIns="0" rtlCol="0" anchor="ctr"/>
          <a:lstStyle/>
          <a:p>
            <a:pPr algn="ctr" indent="0" marL="0">
              <a:buNone/>
            </a:pPr>
            <a:r>
              <a:rPr lang="en-US" sz="1600" dirty="0">
                <a:solidFill>
                  <a:srgbClr val="FFFFFF"/>
                </a:solidFill>
                <a:latin typeface="Trebuchet MS" pitchFamily="34" charset="0"/>
                <a:ea typeface="Trebuchet MS" pitchFamily="34" charset="-122"/>
                <a:cs typeface="Trebuchet MS" pitchFamily="34" charset="-120"/>
              </a:rPr>
              <a:t>4</a:t>
            </a:r>
            <a:endParaRPr lang="en-US" sz="1600" dirty="0"/>
          </a:p>
        </p:txBody>
      </p:sp>
      <p:sp>
        <p:nvSpPr>
          <p:cNvPr id="23" name="Shape 17"/>
          <p:cNvSpPr/>
          <p:nvPr/>
        </p:nvSpPr>
        <p:spPr>
          <a:xfrm>
            <a:off x="5486400" y="2011680"/>
            <a:ext cx="1463040" cy="2011680"/>
          </a:xfrm>
          <a:prstGeom prst="roundRect">
            <a:avLst>
              <a:gd name="adj" fmla="val 6250"/>
            </a:avLst>
          </a:prstGeom>
          <a:solidFill>
            <a:srgbClr val="FFFFFF"/>
          </a:solidFill>
          <a:ln/>
          <a:effectLst>
            <a:outerShdw sx="100000" sy="100000" kx="0" ky="0" algn="bl" rotWithShape="0" blurRad="101600" dist="25400" dir="8100000">
              <a:srgbClr val="000000">
                <a:alpha val="8000"/>
              </a:srgbClr>
            </a:outerShdw>
          </a:effectLst>
        </p:spPr>
      </p:sp>
      <p:pic>
        <p:nvPicPr>
          <p:cNvPr id="24" name="Image 4" descr="icon_4.sv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057900" y="2148840"/>
            <a:ext cx="320040" cy="320040"/>
          </a:xfrm>
          <a:prstGeom prst="rect">
            <a:avLst/>
          </a:prstGeom>
        </p:spPr>
      </p:pic>
      <p:sp>
        <p:nvSpPr>
          <p:cNvPr id="25" name="Text 18"/>
          <p:cNvSpPr/>
          <p:nvPr/>
        </p:nvSpPr>
        <p:spPr>
          <a:xfrm>
            <a:off x="5559552" y="2560320"/>
            <a:ext cx="1316736" cy="777240"/>
          </a:xfrm>
          <a:prstGeom prst="rect">
            <a:avLst/>
          </a:prstGeom>
          <a:noFill/>
          <a:ln/>
        </p:spPr>
        <p:txBody>
          <a:bodyPr wrap="square" lIns="0" tIns="0" rIns="0" bIns="0" rtlCol="0" anchor="t"/>
          <a:lstStyle/>
          <a:p>
            <a:pPr algn="ctr" indent="0" marL="0">
              <a:lnSpc>
                <a:spcPts val="1300"/>
              </a:lnSpc>
              <a:buNone/>
            </a:pPr>
            <a:r>
              <a:rPr lang="en-US" sz="1000" dirty="0">
                <a:solidFill>
                  <a:srgbClr val="1E293B"/>
                </a:solidFill>
                <a:latin typeface="Calibri" pitchFamily="34" charset="0"/>
                <a:ea typeface="Calibri" pitchFamily="34" charset="-122"/>
                <a:cs typeface="Calibri" pitchFamily="34" charset="-120"/>
              </a:rPr>
              <a:t>Paper 2 — Database</a:t>
            </a:r>
            <a:endParaRPr lang="en-US" sz="1000" dirty="0"/>
          </a:p>
          <a:p>
            <a:pPr algn="ctr" indent="0" marL="0">
              <a:lnSpc>
                <a:spcPts val="1300"/>
              </a:lnSpc>
              <a:buNone/>
            </a:pPr>
            <a:r>
              <a:rPr lang="en-US" sz="1000" dirty="0">
                <a:solidFill>
                  <a:srgbClr val="1E293B"/>
                </a:solidFill>
                <a:latin typeface="Calibri" pitchFamily="34" charset="0"/>
                <a:ea typeface="Calibri" pitchFamily="34" charset="-122"/>
                <a:cs typeface="Calibri" pitchFamily="34" charset="-120"/>
              </a:rPr>
              <a:t>&amp; SQL Pitfalls</a:t>
            </a:r>
            <a:endParaRPr lang="en-US" sz="1000" dirty="0"/>
          </a:p>
        </p:txBody>
      </p:sp>
      <p:sp>
        <p:nvSpPr>
          <p:cNvPr id="26" name="Text 19"/>
          <p:cNvSpPr/>
          <p:nvPr/>
        </p:nvSpPr>
        <p:spPr>
          <a:xfrm>
            <a:off x="5806440" y="3383280"/>
            <a:ext cx="822960" cy="237744"/>
          </a:xfrm>
          <a:prstGeom prst="roundRect">
            <a:avLst>
              <a:gd name="adj" fmla="val 23077"/>
            </a:avLst>
          </a:prstGeom>
          <a:solidFill>
            <a:srgbClr val="14B8A6">
              <a:alpha val="20000"/>
            </a:srgbClr>
          </a:solidFill>
          <a:ln/>
        </p:spPr>
        <p:txBody>
          <a:bodyPr wrap="square" lIns="0" tIns="0" rIns="0" bIns="0" rtlCol="0" anchor="ctr"/>
          <a:lstStyle/>
          <a:p>
            <a:pPr algn="ctr" indent="0" marL="0">
              <a:buNone/>
            </a:pPr>
            <a:r>
              <a:rPr lang="en-US" sz="900" dirty="0">
                <a:solidFill>
                  <a:srgbClr val="0C7C9B"/>
                </a:solidFill>
                <a:latin typeface="Calibri" pitchFamily="34" charset="0"/>
                <a:ea typeface="Calibri" pitchFamily="34" charset="-122"/>
                <a:cs typeface="Calibri" pitchFamily="34" charset="-120"/>
              </a:rPr>
              <a:t>15 min</a:t>
            </a:r>
            <a:endParaRPr lang="en-US" sz="900" dirty="0"/>
          </a:p>
        </p:txBody>
      </p:sp>
      <p:sp>
        <p:nvSpPr>
          <p:cNvPr id="27" name="Text 20"/>
          <p:cNvSpPr/>
          <p:nvPr/>
        </p:nvSpPr>
        <p:spPr>
          <a:xfrm>
            <a:off x="7658100" y="1463040"/>
            <a:ext cx="411480" cy="411480"/>
          </a:xfrm>
          <a:prstGeom prst="ellipse">
            <a:avLst/>
          </a:prstGeom>
          <a:solidFill>
            <a:srgbClr val="0C7C9B"/>
          </a:solidFill>
          <a:ln/>
        </p:spPr>
        <p:txBody>
          <a:bodyPr wrap="square" lIns="0" tIns="0" rIns="0" bIns="0" rtlCol="0" anchor="ctr"/>
          <a:lstStyle/>
          <a:p>
            <a:pPr algn="ctr" indent="0" marL="0">
              <a:buNone/>
            </a:pPr>
            <a:r>
              <a:rPr lang="en-US" sz="1600" dirty="0">
                <a:solidFill>
                  <a:srgbClr val="FFFFFF"/>
                </a:solidFill>
                <a:latin typeface="Trebuchet MS" pitchFamily="34" charset="0"/>
                <a:ea typeface="Trebuchet MS" pitchFamily="34" charset="-122"/>
                <a:cs typeface="Trebuchet MS" pitchFamily="34" charset="-120"/>
              </a:rPr>
              <a:t>5</a:t>
            </a:r>
            <a:endParaRPr lang="en-US" sz="1600" dirty="0"/>
          </a:p>
        </p:txBody>
      </p:sp>
      <p:sp>
        <p:nvSpPr>
          <p:cNvPr id="28" name="Shape 21"/>
          <p:cNvSpPr/>
          <p:nvPr/>
        </p:nvSpPr>
        <p:spPr>
          <a:xfrm>
            <a:off x="7132320" y="2011680"/>
            <a:ext cx="1463040" cy="2011680"/>
          </a:xfrm>
          <a:prstGeom prst="roundRect">
            <a:avLst>
              <a:gd name="adj" fmla="val 6250"/>
            </a:avLst>
          </a:prstGeom>
          <a:solidFill>
            <a:srgbClr val="FFFFFF"/>
          </a:solidFill>
          <a:ln/>
          <a:effectLst>
            <a:outerShdw sx="100000" sy="100000" kx="0" ky="0" algn="bl" rotWithShape="0" blurRad="101600" dist="25400" dir="8100000">
              <a:srgbClr val="000000">
                <a:alpha val="8000"/>
              </a:srgbClr>
            </a:outerShdw>
          </a:effectLst>
        </p:spPr>
      </p:sp>
      <p:pic>
        <p:nvPicPr>
          <p:cNvPr id="29" name="Image 5" descr="icon_5.sv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703820" y="2148840"/>
            <a:ext cx="320040" cy="320040"/>
          </a:xfrm>
          <a:prstGeom prst="rect">
            <a:avLst/>
          </a:prstGeom>
        </p:spPr>
      </p:pic>
      <p:sp>
        <p:nvSpPr>
          <p:cNvPr id="30" name="Text 22"/>
          <p:cNvSpPr/>
          <p:nvPr/>
        </p:nvSpPr>
        <p:spPr>
          <a:xfrm>
            <a:off x="7205472" y="2560320"/>
            <a:ext cx="1316736" cy="777240"/>
          </a:xfrm>
          <a:prstGeom prst="rect">
            <a:avLst/>
          </a:prstGeom>
          <a:noFill/>
          <a:ln/>
        </p:spPr>
        <p:txBody>
          <a:bodyPr wrap="square" lIns="0" tIns="0" rIns="0" bIns="0" rtlCol="0" anchor="t"/>
          <a:lstStyle/>
          <a:p>
            <a:pPr algn="ctr" indent="0" marL="0">
              <a:lnSpc>
                <a:spcPts val="1300"/>
              </a:lnSpc>
              <a:buNone/>
            </a:pPr>
            <a:r>
              <a:rPr lang="en-US" sz="1000" dirty="0">
                <a:solidFill>
                  <a:srgbClr val="1E293B"/>
                </a:solidFill>
                <a:latin typeface="Calibri" pitchFamily="34" charset="0"/>
                <a:ea typeface="Calibri" pitchFamily="34" charset="-122"/>
                <a:cs typeface="Calibri" pitchFamily="34" charset="-120"/>
              </a:rPr>
              <a:t>Error Patterns,</a:t>
            </a:r>
            <a:endParaRPr lang="en-US" sz="1000" dirty="0"/>
          </a:p>
          <a:p>
            <a:pPr algn="ctr" indent="0" marL="0">
              <a:lnSpc>
                <a:spcPts val="1300"/>
              </a:lnSpc>
              <a:buNone/>
            </a:pPr>
            <a:r>
              <a:rPr lang="en-US" sz="1000" dirty="0">
                <a:solidFill>
                  <a:srgbClr val="1E293B"/>
                </a:solidFill>
                <a:latin typeface="Calibri" pitchFamily="34" charset="0"/>
                <a:ea typeface="Calibri" pitchFamily="34" charset="-122"/>
                <a:cs typeface="Calibri" pitchFamily="34" charset="-120"/>
              </a:rPr>
              <a:t>Strategies &amp; Checklist</a:t>
            </a:r>
            <a:endParaRPr lang="en-US" sz="1000" dirty="0"/>
          </a:p>
        </p:txBody>
      </p:sp>
      <p:sp>
        <p:nvSpPr>
          <p:cNvPr id="31" name="Text 23"/>
          <p:cNvSpPr/>
          <p:nvPr/>
        </p:nvSpPr>
        <p:spPr>
          <a:xfrm>
            <a:off x="7452360" y="3383280"/>
            <a:ext cx="822960" cy="237744"/>
          </a:xfrm>
          <a:prstGeom prst="roundRect">
            <a:avLst>
              <a:gd name="adj" fmla="val 23077"/>
            </a:avLst>
          </a:prstGeom>
          <a:solidFill>
            <a:srgbClr val="14B8A6">
              <a:alpha val="20000"/>
            </a:srgbClr>
          </a:solidFill>
          <a:ln/>
        </p:spPr>
        <p:txBody>
          <a:bodyPr wrap="square" lIns="0" tIns="0" rIns="0" bIns="0" rtlCol="0" anchor="ctr"/>
          <a:lstStyle/>
          <a:p>
            <a:pPr algn="ctr" indent="0" marL="0">
              <a:buNone/>
            </a:pPr>
            <a:r>
              <a:rPr lang="en-US" sz="900" dirty="0">
                <a:solidFill>
                  <a:srgbClr val="0C7C9B"/>
                </a:solidFill>
                <a:latin typeface="Calibri" pitchFamily="34" charset="0"/>
                <a:ea typeface="Calibri" pitchFamily="34" charset="-122"/>
                <a:cs typeface="Calibri" pitchFamily="34" charset="-120"/>
              </a:rPr>
              <a:t>25 min</a:t>
            </a:r>
            <a:endParaRPr lang="en-US" sz="900" dirty="0"/>
          </a:p>
        </p:txBody>
      </p:sp>
      <p:sp>
        <p:nvSpPr>
          <p:cNvPr id="32" name="Shape 24"/>
          <p:cNvSpPr/>
          <p:nvPr/>
        </p:nvSpPr>
        <p:spPr>
          <a:xfrm>
            <a:off x="0" y="4800600"/>
            <a:ext cx="9144000" cy="342900"/>
          </a:xfrm>
          <a:prstGeom prst="rect">
            <a:avLst/>
          </a:prstGeom>
          <a:solidFill>
            <a:srgbClr val="E2E8F0"/>
          </a:solidFill>
          <a:ln/>
        </p:spPr>
      </p:sp>
      <p:sp>
        <p:nvSpPr>
          <p:cNvPr id="33" name="Text 25"/>
          <p:cNvSpPr/>
          <p:nvPr/>
        </p:nvSpPr>
        <p:spPr>
          <a:xfrm>
            <a:off x="457200" y="4818888"/>
            <a:ext cx="4572000" cy="274320"/>
          </a:xfrm>
          <a:prstGeom prst="rect">
            <a:avLst/>
          </a:prstGeom>
          <a:noFill/>
          <a:ln/>
        </p:spPr>
        <p:txBody>
          <a:bodyPr wrap="square" lIns="0" tIns="0" rIns="0" bIns="0" rtlCol="0" anchor="ctr"/>
          <a:lstStyle/>
          <a:p>
            <a:pPr indent="0" marL="0">
              <a:buNone/>
            </a:pPr>
            <a:r>
              <a:rPr lang="en-US" sz="700" dirty="0">
                <a:solidFill>
                  <a:srgbClr val="94A3B8"/>
                </a:solidFill>
                <a:latin typeface="Calibri" pitchFamily="34" charset="0"/>
                <a:ea typeface="Calibri" pitchFamily="34" charset="-122"/>
                <a:cs typeface="Calibri" pitchFamily="34" charset="-120"/>
              </a:rPr>
              <a:t>HKDSE ICT 2025 Exam Skills Masterclass</a:t>
            </a:r>
            <a:endParaRPr lang="en-US" sz="700" dirty="0"/>
          </a:p>
        </p:txBody>
      </p:sp>
      <p:sp>
        <p:nvSpPr>
          <p:cNvPr id="25" name="Slide Number Placeholder 0"/>
          <p:cNvSpPr>
            <a:spLocks noGrp="1"/>
          </p:cNvSpPr>
          <p:nvPr>
            <p:ph type="sldNum" sz="quarter" idx="4294967295"/>
          </p:nvPr>
        </p:nvSpPr>
        <p:spPr>
          <a:xfrm>
            <a:off x="8503920" y="4886325"/>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7F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1628"/>
          </a:solidFill>
          <a:ln/>
        </p:spPr>
      </p:sp>
      <p:pic>
        <p:nvPicPr>
          <p:cNvPr id="3" name="Image 0" descr="icon_6.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57200" y="201168"/>
            <a:ext cx="365760" cy="365760"/>
          </a:xfrm>
          <a:prstGeom prst="rect">
            <a:avLst/>
          </a:prstGeom>
        </p:spPr>
      </p:pic>
      <p:sp>
        <p:nvSpPr>
          <p:cNvPr id="4" name="Text 1"/>
          <p:cNvSpPr/>
          <p:nvPr/>
        </p:nvSpPr>
        <p:spPr>
          <a:xfrm>
            <a:off x="960120" y="137160"/>
            <a:ext cx="7772400" cy="502920"/>
          </a:xfrm>
          <a:prstGeom prst="rect">
            <a:avLst/>
          </a:prstGeom>
          <a:noFill/>
          <a:ln/>
        </p:spPr>
        <p:txBody>
          <a:bodyPr wrap="square" lIns="0" tIns="0" rIns="0" bIns="0" rtlCol="0" anchor="ctr"/>
          <a:lstStyle/>
          <a:p>
            <a:pPr indent="0" marL="0">
              <a:buNone/>
            </a:pPr>
            <a:r>
              <a:rPr lang="en-US" sz="2200" dirty="0">
                <a:solidFill>
                  <a:srgbClr val="FFFFFF"/>
                </a:solidFill>
                <a:latin typeface="Trebuchet MS" pitchFamily="34" charset="0"/>
                <a:ea typeface="Trebuchet MS" pitchFamily="34" charset="-122"/>
                <a:cs typeface="Trebuchet MS" pitchFamily="34" charset="-120"/>
              </a:rPr>
              <a:t>2025 HKDSE ICT Exam Structure</a:t>
            </a:r>
            <a:endParaRPr lang="en-US" sz="2200" dirty="0"/>
          </a:p>
        </p:txBody>
      </p:sp>
      <p:sp>
        <p:nvSpPr>
          <p:cNvPr id="5" name="Text 2"/>
          <p:cNvSpPr/>
          <p:nvPr/>
        </p:nvSpPr>
        <p:spPr>
          <a:xfrm>
            <a:off x="960120" y="594360"/>
            <a:ext cx="7772400" cy="274320"/>
          </a:xfrm>
          <a:prstGeom prst="rect">
            <a:avLst/>
          </a:prstGeom>
          <a:noFill/>
          <a:ln/>
        </p:spPr>
        <p:txBody>
          <a:bodyPr wrap="square" lIns="0" tIns="0" rIns="0" bIns="0" rtlCol="0" anchor="ctr"/>
          <a:lstStyle/>
          <a:p>
            <a:pPr indent="0" marL="0">
              <a:buNone/>
            </a:pPr>
            <a:r>
              <a:rPr lang="en-US" sz="1200" dirty="0">
                <a:solidFill>
                  <a:srgbClr val="B8D4E3"/>
                </a:solidFill>
                <a:latin typeface="Calibri" pitchFamily="34" charset="0"/>
                <a:ea typeface="Calibri" pitchFamily="34" charset="-122"/>
                <a:cs typeface="Calibri" pitchFamily="34" charset="-120"/>
              </a:rPr>
              <a:t>Three Components, One Goal</a:t>
            </a:r>
            <a:endParaRPr lang="en-US" sz="1200" dirty="0"/>
          </a:p>
        </p:txBody>
      </p:sp>
      <p:sp>
        <p:nvSpPr>
          <p:cNvPr id="6" name="Shape 3"/>
          <p:cNvSpPr/>
          <p:nvPr/>
        </p:nvSpPr>
        <p:spPr>
          <a:xfrm>
            <a:off x="457200" y="1234440"/>
            <a:ext cx="5303520" cy="960120"/>
          </a:xfrm>
          <a:prstGeom prst="roundRect">
            <a:avLst>
              <a:gd name="adj" fmla="val 7619"/>
            </a:avLst>
          </a:prstGeom>
          <a:solidFill>
            <a:srgbClr val="FFFFFF"/>
          </a:solidFill>
          <a:ln/>
          <a:effectLst>
            <a:outerShdw sx="100000" sy="100000" kx="0" ky="0" algn="bl" rotWithShape="0" blurRad="101600" dist="25400" dir="8100000">
              <a:srgbClr val="000000">
                <a:alpha val="8000"/>
              </a:srgbClr>
            </a:outerShdw>
          </a:effectLst>
        </p:spPr>
      </p:sp>
      <p:sp>
        <p:nvSpPr>
          <p:cNvPr id="7" name="Shape 4"/>
          <p:cNvSpPr/>
          <p:nvPr/>
        </p:nvSpPr>
        <p:spPr>
          <a:xfrm>
            <a:off x="457200" y="1234440"/>
            <a:ext cx="64008" cy="960120"/>
          </a:xfrm>
          <a:prstGeom prst="rect">
            <a:avLst/>
          </a:prstGeom>
          <a:solidFill>
            <a:srgbClr val="3B82F6"/>
          </a:solidFill>
          <a:ln/>
        </p:spPr>
      </p:sp>
      <p:sp>
        <p:nvSpPr>
          <p:cNvPr id="8" name="Text 5"/>
          <p:cNvSpPr/>
          <p:nvPr/>
        </p:nvSpPr>
        <p:spPr>
          <a:xfrm>
            <a:off x="685800" y="1344168"/>
            <a:ext cx="640080" cy="320040"/>
          </a:xfrm>
          <a:prstGeom prst="roundRect">
            <a:avLst>
              <a:gd name="adj" fmla="val 17143"/>
            </a:avLst>
          </a:prstGeom>
          <a:solidFill>
            <a:srgbClr val="3B82F6"/>
          </a:solidFill>
          <a:ln/>
        </p:spPr>
        <p:txBody>
          <a:bodyPr wrap="square" lIns="0" tIns="0" rIns="0" bIns="0" rtlCol="0" anchor="ctr"/>
          <a:lstStyle/>
          <a:p>
            <a:pPr algn="ctr" indent="0" marL="0">
              <a:buNone/>
            </a:pPr>
            <a:r>
              <a:rPr lang="en-US" sz="1400" dirty="0">
                <a:solidFill>
                  <a:srgbClr val="FFFFFF"/>
                </a:solidFill>
                <a:latin typeface="Trebuchet MS" pitchFamily="34" charset="0"/>
                <a:ea typeface="Trebuchet MS" pitchFamily="34" charset="-122"/>
                <a:cs typeface="Trebuchet MS" pitchFamily="34" charset="-120"/>
              </a:rPr>
              <a:t>55%</a:t>
            </a:r>
            <a:endParaRPr lang="en-US" sz="1400" dirty="0"/>
          </a:p>
        </p:txBody>
      </p:sp>
      <p:sp>
        <p:nvSpPr>
          <p:cNvPr id="9" name="Text 6"/>
          <p:cNvSpPr/>
          <p:nvPr/>
        </p:nvSpPr>
        <p:spPr>
          <a:xfrm>
            <a:off x="1463040" y="1307592"/>
            <a:ext cx="2926080" cy="292608"/>
          </a:xfrm>
          <a:prstGeom prst="rect">
            <a:avLst/>
          </a:prstGeom>
          <a:noFill/>
          <a:ln/>
        </p:spPr>
        <p:txBody>
          <a:bodyPr wrap="square" lIns="0" tIns="0" rIns="0" bIns="0" rtlCol="0" anchor="ctr"/>
          <a:lstStyle/>
          <a:p>
            <a:pPr indent="0" marL="0">
              <a:buNone/>
            </a:pPr>
            <a:r>
              <a:rPr lang="en-US" sz="1300" dirty="0">
                <a:solidFill>
                  <a:srgbClr val="1E293B"/>
                </a:solidFill>
                <a:latin typeface="Trebuchet MS" pitchFamily="34" charset="0"/>
                <a:ea typeface="Trebuchet MS" pitchFamily="34" charset="-122"/>
                <a:cs typeface="Trebuchet MS" pitchFamily="34" charset="-120"/>
              </a:rPr>
              <a:t>Paper 1 (Compulsory)</a:t>
            </a:r>
            <a:endParaRPr lang="en-US" sz="1300" dirty="0"/>
          </a:p>
        </p:txBody>
      </p:sp>
      <p:sp>
        <p:nvSpPr>
          <p:cNvPr id="10" name="Text 7"/>
          <p:cNvSpPr/>
          <p:nvPr/>
        </p:nvSpPr>
        <p:spPr>
          <a:xfrm>
            <a:off x="4389120" y="1307592"/>
            <a:ext cx="1188720" cy="29260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2 hours</a:t>
            </a:r>
            <a:endParaRPr lang="en-US" sz="1000" dirty="0"/>
          </a:p>
        </p:txBody>
      </p:sp>
      <p:sp>
        <p:nvSpPr>
          <p:cNvPr id="11" name="Text 8"/>
          <p:cNvSpPr/>
          <p:nvPr/>
        </p:nvSpPr>
        <p:spPr>
          <a:xfrm>
            <a:off x="1463040" y="1645920"/>
            <a:ext cx="4114800" cy="41148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MC (Section A) + Structured Questions (Section B)</a:t>
            </a:r>
            <a:endParaRPr lang="en-US" sz="1000" dirty="0"/>
          </a:p>
        </p:txBody>
      </p:sp>
      <p:sp>
        <p:nvSpPr>
          <p:cNvPr id="12" name="Shape 9"/>
          <p:cNvSpPr/>
          <p:nvPr/>
        </p:nvSpPr>
        <p:spPr>
          <a:xfrm>
            <a:off x="457200" y="2331720"/>
            <a:ext cx="5303520" cy="960120"/>
          </a:xfrm>
          <a:prstGeom prst="roundRect">
            <a:avLst>
              <a:gd name="adj" fmla="val 7619"/>
            </a:avLst>
          </a:prstGeom>
          <a:solidFill>
            <a:srgbClr val="FFFFFF"/>
          </a:solidFill>
          <a:ln/>
          <a:effectLst>
            <a:outerShdw sx="100000" sy="100000" kx="0" ky="0" algn="bl" rotWithShape="0" blurRad="101600" dist="25400" dir="8100000">
              <a:srgbClr val="000000">
                <a:alpha val="8000"/>
              </a:srgbClr>
            </a:outerShdw>
          </a:effectLst>
        </p:spPr>
      </p:sp>
      <p:sp>
        <p:nvSpPr>
          <p:cNvPr id="13" name="Shape 10"/>
          <p:cNvSpPr/>
          <p:nvPr/>
        </p:nvSpPr>
        <p:spPr>
          <a:xfrm>
            <a:off x="457200" y="2331720"/>
            <a:ext cx="64008" cy="960120"/>
          </a:xfrm>
          <a:prstGeom prst="rect">
            <a:avLst/>
          </a:prstGeom>
          <a:solidFill>
            <a:srgbClr val="F97316"/>
          </a:solidFill>
          <a:ln/>
        </p:spPr>
      </p:sp>
      <p:sp>
        <p:nvSpPr>
          <p:cNvPr id="14" name="Text 11"/>
          <p:cNvSpPr/>
          <p:nvPr/>
        </p:nvSpPr>
        <p:spPr>
          <a:xfrm>
            <a:off x="685800" y="2441448"/>
            <a:ext cx="640080" cy="320040"/>
          </a:xfrm>
          <a:prstGeom prst="roundRect">
            <a:avLst>
              <a:gd name="adj" fmla="val 17143"/>
            </a:avLst>
          </a:prstGeom>
          <a:solidFill>
            <a:srgbClr val="F97316"/>
          </a:solidFill>
          <a:ln/>
        </p:spPr>
        <p:txBody>
          <a:bodyPr wrap="square" lIns="0" tIns="0" rIns="0" bIns="0" rtlCol="0" anchor="ctr"/>
          <a:lstStyle/>
          <a:p>
            <a:pPr algn="ctr" indent="0" marL="0">
              <a:buNone/>
            </a:pPr>
            <a:r>
              <a:rPr lang="en-US" sz="1400" dirty="0">
                <a:solidFill>
                  <a:srgbClr val="FFFFFF"/>
                </a:solidFill>
                <a:latin typeface="Trebuchet MS" pitchFamily="34" charset="0"/>
                <a:ea typeface="Trebuchet MS" pitchFamily="34" charset="-122"/>
                <a:cs typeface="Trebuchet MS" pitchFamily="34" charset="-120"/>
              </a:rPr>
              <a:t>25%</a:t>
            </a:r>
            <a:endParaRPr lang="en-US" sz="1400" dirty="0"/>
          </a:p>
        </p:txBody>
      </p:sp>
      <p:sp>
        <p:nvSpPr>
          <p:cNvPr id="15" name="Text 12"/>
          <p:cNvSpPr/>
          <p:nvPr/>
        </p:nvSpPr>
        <p:spPr>
          <a:xfrm>
            <a:off x="1463040" y="2404872"/>
            <a:ext cx="2926080" cy="292608"/>
          </a:xfrm>
          <a:prstGeom prst="rect">
            <a:avLst/>
          </a:prstGeom>
          <a:noFill/>
          <a:ln/>
        </p:spPr>
        <p:txBody>
          <a:bodyPr wrap="square" lIns="0" tIns="0" rIns="0" bIns="0" rtlCol="0" anchor="ctr"/>
          <a:lstStyle/>
          <a:p>
            <a:pPr indent="0" marL="0">
              <a:buNone/>
            </a:pPr>
            <a:r>
              <a:rPr lang="en-US" sz="1300" dirty="0">
                <a:solidFill>
                  <a:srgbClr val="1E293B"/>
                </a:solidFill>
                <a:latin typeface="Trebuchet MS" pitchFamily="34" charset="0"/>
                <a:ea typeface="Trebuchet MS" pitchFamily="34" charset="-122"/>
                <a:cs typeface="Trebuchet MS" pitchFamily="34" charset="-120"/>
              </a:rPr>
              <a:t>Paper 2 (Elective)</a:t>
            </a:r>
            <a:endParaRPr lang="en-US" sz="1300" dirty="0"/>
          </a:p>
        </p:txBody>
      </p:sp>
      <p:sp>
        <p:nvSpPr>
          <p:cNvPr id="16" name="Text 13"/>
          <p:cNvSpPr/>
          <p:nvPr/>
        </p:nvSpPr>
        <p:spPr>
          <a:xfrm>
            <a:off x="4389120" y="2404872"/>
            <a:ext cx="1188720" cy="29260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1.5 hours</a:t>
            </a:r>
            <a:endParaRPr lang="en-US" sz="1000" dirty="0"/>
          </a:p>
        </p:txBody>
      </p:sp>
      <p:sp>
        <p:nvSpPr>
          <p:cNvPr id="17" name="Text 14"/>
          <p:cNvSpPr/>
          <p:nvPr/>
        </p:nvSpPr>
        <p:spPr>
          <a:xfrm>
            <a:off x="1463040" y="2743200"/>
            <a:ext cx="4114800" cy="41148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Choose 2 of 3: Databases / Web Dev / Algorithm &amp; Programming</a:t>
            </a:r>
            <a:endParaRPr lang="en-US" sz="1000" dirty="0"/>
          </a:p>
        </p:txBody>
      </p:sp>
      <p:sp>
        <p:nvSpPr>
          <p:cNvPr id="18" name="Shape 15"/>
          <p:cNvSpPr/>
          <p:nvPr/>
        </p:nvSpPr>
        <p:spPr>
          <a:xfrm>
            <a:off x="457200" y="3429000"/>
            <a:ext cx="5303520" cy="960120"/>
          </a:xfrm>
          <a:prstGeom prst="roundRect">
            <a:avLst>
              <a:gd name="adj" fmla="val 7619"/>
            </a:avLst>
          </a:prstGeom>
          <a:solidFill>
            <a:srgbClr val="FFFFFF"/>
          </a:solidFill>
          <a:ln/>
          <a:effectLst>
            <a:outerShdw sx="100000" sy="100000" kx="0" ky="0" algn="bl" rotWithShape="0" blurRad="101600" dist="25400" dir="8100000">
              <a:srgbClr val="000000">
                <a:alpha val="8000"/>
              </a:srgbClr>
            </a:outerShdw>
          </a:effectLst>
        </p:spPr>
      </p:sp>
      <p:sp>
        <p:nvSpPr>
          <p:cNvPr id="19" name="Shape 16"/>
          <p:cNvSpPr/>
          <p:nvPr/>
        </p:nvSpPr>
        <p:spPr>
          <a:xfrm>
            <a:off x="457200" y="3429000"/>
            <a:ext cx="64008" cy="960120"/>
          </a:xfrm>
          <a:prstGeom prst="rect">
            <a:avLst/>
          </a:prstGeom>
          <a:solidFill>
            <a:srgbClr val="14B8A6"/>
          </a:solidFill>
          <a:ln/>
        </p:spPr>
      </p:sp>
      <p:sp>
        <p:nvSpPr>
          <p:cNvPr id="20" name="Text 17"/>
          <p:cNvSpPr/>
          <p:nvPr/>
        </p:nvSpPr>
        <p:spPr>
          <a:xfrm>
            <a:off x="685800" y="3538728"/>
            <a:ext cx="640080" cy="320040"/>
          </a:xfrm>
          <a:prstGeom prst="roundRect">
            <a:avLst>
              <a:gd name="adj" fmla="val 17143"/>
            </a:avLst>
          </a:prstGeom>
          <a:solidFill>
            <a:srgbClr val="14B8A6"/>
          </a:solidFill>
          <a:ln/>
        </p:spPr>
        <p:txBody>
          <a:bodyPr wrap="square" lIns="0" tIns="0" rIns="0" bIns="0" rtlCol="0" anchor="ctr"/>
          <a:lstStyle/>
          <a:p>
            <a:pPr algn="ctr" indent="0" marL="0">
              <a:buNone/>
            </a:pPr>
            <a:r>
              <a:rPr lang="en-US" sz="1400" dirty="0">
                <a:solidFill>
                  <a:srgbClr val="FFFFFF"/>
                </a:solidFill>
                <a:latin typeface="Trebuchet MS" pitchFamily="34" charset="0"/>
                <a:ea typeface="Trebuchet MS" pitchFamily="34" charset="-122"/>
                <a:cs typeface="Trebuchet MS" pitchFamily="34" charset="-120"/>
              </a:rPr>
              <a:t>20%</a:t>
            </a:r>
            <a:endParaRPr lang="en-US" sz="1400" dirty="0"/>
          </a:p>
        </p:txBody>
      </p:sp>
      <p:sp>
        <p:nvSpPr>
          <p:cNvPr id="21" name="Text 18"/>
          <p:cNvSpPr/>
          <p:nvPr/>
        </p:nvSpPr>
        <p:spPr>
          <a:xfrm>
            <a:off x="1463040" y="3502152"/>
            <a:ext cx="2926080" cy="292608"/>
          </a:xfrm>
          <a:prstGeom prst="rect">
            <a:avLst/>
          </a:prstGeom>
          <a:noFill/>
          <a:ln/>
        </p:spPr>
        <p:txBody>
          <a:bodyPr wrap="square" lIns="0" tIns="0" rIns="0" bIns="0" rtlCol="0" anchor="ctr"/>
          <a:lstStyle/>
          <a:p>
            <a:pPr indent="0" marL="0">
              <a:buNone/>
            </a:pPr>
            <a:r>
              <a:rPr lang="en-US" sz="1300" dirty="0">
                <a:solidFill>
                  <a:srgbClr val="1E293B"/>
                </a:solidFill>
                <a:latin typeface="Trebuchet MS" pitchFamily="34" charset="0"/>
                <a:ea typeface="Trebuchet MS" pitchFamily="34" charset="-122"/>
                <a:cs typeface="Trebuchet MS" pitchFamily="34" charset="-120"/>
              </a:rPr>
              <a:t>SBA</a:t>
            </a:r>
            <a:endParaRPr lang="en-US" sz="1300" dirty="0"/>
          </a:p>
        </p:txBody>
      </p:sp>
      <p:sp>
        <p:nvSpPr>
          <p:cNvPr id="22" name="Text 19"/>
          <p:cNvSpPr/>
          <p:nvPr/>
        </p:nvSpPr>
        <p:spPr>
          <a:xfrm>
            <a:off x="4389120" y="3502152"/>
            <a:ext cx="1188720" cy="29260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Ongoing</a:t>
            </a:r>
            <a:endParaRPr lang="en-US" sz="1000" dirty="0"/>
          </a:p>
        </p:txBody>
      </p:sp>
      <p:sp>
        <p:nvSpPr>
          <p:cNvPr id="23" name="Text 20"/>
          <p:cNvSpPr/>
          <p:nvPr/>
        </p:nvSpPr>
        <p:spPr>
          <a:xfrm>
            <a:off x="1463040" y="3840480"/>
            <a:ext cx="4114800" cy="41148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Design, Implementation, Testing &amp; Evaluation</a:t>
            </a:r>
            <a:endParaRPr lang="en-US" sz="1000" dirty="0"/>
          </a:p>
        </p:txBody>
      </p:sp>
      <p:sp>
        <p:nvSpPr>
          <p:cNvPr id="24" name="Shape 21"/>
          <p:cNvSpPr/>
          <p:nvPr/>
        </p:nvSpPr>
        <p:spPr>
          <a:xfrm>
            <a:off x="6035040" y="1234440"/>
            <a:ext cx="2743200" cy="1097280"/>
          </a:xfrm>
          <a:prstGeom prst="roundRect">
            <a:avLst>
              <a:gd name="adj" fmla="val 6667"/>
            </a:avLst>
          </a:prstGeom>
          <a:solidFill>
            <a:srgbClr val="FFFFFF"/>
          </a:solidFill>
          <a:ln/>
          <a:effectLst>
            <a:outerShdw sx="100000" sy="100000" kx="0" ky="0" algn="bl" rotWithShape="0" blurRad="101600" dist="25400" dir="8100000">
              <a:srgbClr val="000000">
                <a:alpha val="8000"/>
              </a:srgbClr>
            </a:outerShdw>
          </a:effectLst>
        </p:spPr>
      </p:sp>
      <p:pic>
        <p:nvPicPr>
          <p:cNvPr id="25" name="Image 1" descr="icon_7.sv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17920" y="1325880"/>
            <a:ext cx="274320" cy="274320"/>
          </a:xfrm>
          <a:prstGeom prst="rect">
            <a:avLst/>
          </a:prstGeom>
        </p:spPr>
      </p:pic>
      <p:sp>
        <p:nvSpPr>
          <p:cNvPr id="26" name="Text 22"/>
          <p:cNvSpPr/>
          <p:nvPr/>
        </p:nvSpPr>
        <p:spPr>
          <a:xfrm>
            <a:off x="6537960" y="1325880"/>
            <a:ext cx="2011680" cy="274320"/>
          </a:xfrm>
          <a:prstGeom prst="rect">
            <a:avLst/>
          </a:prstGeom>
          <a:noFill/>
          <a:ln/>
        </p:spPr>
        <p:txBody>
          <a:bodyPr wrap="square" lIns="0" tIns="0" rIns="0" bIns="0" rtlCol="0" anchor="ctr"/>
          <a:lstStyle/>
          <a:p>
            <a:pPr indent="0" marL="0">
              <a:buNone/>
            </a:pPr>
            <a:r>
              <a:rPr lang="en-US" sz="1100" dirty="0">
                <a:solidFill>
                  <a:srgbClr val="1E293B"/>
                </a:solidFill>
                <a:latin typeface="Trebuchet MS" pitchFamily="34" charset="0"/>
                <a:ea typeface="Trebuchet MS" pitchFamily="34" charset="-122"/>
                <a:cs typeface="Trebuchet MS" pitchFamily="34" charset="-120"/>
              </a:rPr>
              <a:t>Grading System</a:t>
            </a:r>
            <a:endParaRPr lang="en-US" sz="1100" dirty="0"/>
          </a:p>
        </p:txBody>
      </p:sp>
      <p:sp>
        <p:nvSpPr>
          <p:cNvPr id="27" name="Text 23"/>
          <p:cNvSpPr/>
          <p:nvPr/>
        </p:nvSpPr>
        <p:spPr>
          <a:xfrm>
            <a:off x="6217920" y="1664208"/>
            <a:ext cx="2377440" cy="548640"/>
          </a:xfrm>
          <a:prstGeom prst="rect">
            <a:avLst/>
          </a:prstGeom>
          <a:noFill/>
          <a:ln/>
        </p:spPr>
        <p:txBody>
          <a:bodyPr wrap="square" lIns="0" tIns="0" rIns="0" bIns="0" rtlCol="0" anchor="ctr"/>
          <a:lstStyle/>
          <a:p>
            <a:pPr indent="0" marL="0">
              <a:lnSpc>
                <a:spcPts val="1300"/>
              </a:lnSpc>
              <a:buNone/>
            </a:pPr>
            <a:r>
              <a:rPr lang="en-US" sz="900" dirty="0">
                <a:solidFill>
                  <a:srgbClr val="64748B"/>
                </a:solidFill>
                <a:latin typeface="Calibri" pitchFamily="34" charset="0"/>
                <a:ea typeface="Calibri" pitchFamily="34" charset="-122"/>
                <a:cs typeface="Calibri" pitchFamily="34" charset="-120"/>
              </a:rPr>
              <a:t>Levels 1–5 (with 5** and 5* for top performers)</a:t>
            </a:r>
            <a:endParaRPr lang="en-US" sz="900" dirty="0"/>
          </a:p>
          <a:p>
            <a:pPr indent="0" marL="0">
              <a:lnSpc>
                <a:spcPts val="1300"/>
              </a:lnSpc>
              <a:buNone/>
            </a:pPr>
            <a:r>
              <a:rPr lang="en-US" sz="900" dirty="0">
                <a:solidFill>
                  <a:srgbClr val="64748B"/>
                </a:solidFill>
                <a:latin typeface="Calibri" pitchFamily="34" charset="0"/>
                <a:ea typeface="Calibri" pitchFamily="34" charset="-122"/>
                <a:cs typeface="Calibri" pitchFamily="34" charset="-120"/>
              </a:rPr>
              <a:t>Below Level 1 = Unclassified</a:t>
            </a:r>
            <a:endParaRPr lang="en-US" sz="900" dirty="0"/>
          </a:p>
        </p:txBody>
      </p:sp>
      <p:sp>
        <p:nvSpPr>
          <p:cNvPr id="28" name="Shape 24"/>
          <p:cNvSpPr/>
          <p:nvPr/>
        </p:nvSpPr>
        <p:spPr>
          <a:xfrm>
            <a:off x="6035040" y="2468880"/>
            <a:ext cx="2743200" cy="1965960"/>
          </a:xfrm>
          <a:prstGeom prst="roundRect">
            <a:avLst>
              <a:gd name="adj" fmla="val 3721"/>
            </a:avLst>
          </a:prstGeom>
          <a:solidFill>
            <a:srgbClr val="FFFFFF"/>
          </a:solidFill>
          <a:ln/>
          <a:effectLst>
            <a:outerShdw sx="100000" sy="100000" kx="0" ky="0" algn="bl" rotWithShape="0" blurRad="101600" dist="25400" dir="8100000">
              <a:srgbClr val="000000">
                <a:alpha val="8000"/>
              </a:srgbClr>
            </a:outerShdw>
          </a:effectLst>
        </p:spPr>
      </p:sp>
      <p:sp>
        <p:nvSpPr>
          <p:cNvPr id="29" name="Text 25"/>
          <p:cNvSpPr/>
          <p:nvPr/>
        </p:nvSpPr>
        <p:spPr>
          <a:xfrm>
            <a:off x="6217920" y="2560320"/>
            <a:ext cx="2377440" cy="274320"/>
          </a:xfrm>
          <a:prstGeom prst="rect">
            <a:avLst/>
          </a:prstGeom>
          <a:noFill/>
          <a:ln/>
        </p:spPr>
        <p:txBody>
          <a:bodyPr wrap="square" lIns="0" tIns="0" rIns="0" bIns="0" rtlCol="0" anchor="ctr"/>
          <a:lstStyle/>
          <a:p>
            <a:pPr indent="0" marL="0">
              <a:buNone/>
            </a:pPr>
            <a:r>
              <a:rPr lang="en-US" sz="1100" dirty="0">
                <a:solidFill>
                  <a:srgbClr val="1E293B"/>
                </a:solidFill>
                <a:latin typeface="Trebuchet MS" pitchFamily="34" charset="0"/>
                <a:ea typeface="Trebuchet MS" pitchFamily="34" charset="-122"/>
                <a:cs typeface="Trebuchet MS" pitchFamily="34" charset="-120"/>
              </a:rPr>
              <a:t>Five Compulsory Modules</a:t>
            </a:r>
            <a:endParaRPr lang="en-US" sz="1100" dirty="0"/>
          </a:p>
        </p:txBody>
      </p:sp>
      <p:sp>
        <p:nvSpPr>
          <p:cNvPr id="30" name="Text 26"/>
          <p:cNvSpPr/>
          <p:nvPr/>
        </p:nvSpPr>
        <p:spPr>
          <a:xfrm>
            <a:off x="6217920" y="2880360"/>
            <a:ext cx="2377440" cy="256032"/>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  Information Processing</a:t>
            </a:r>
            <a:endParaRPr lang="en-US" sz="900" dirty="0"/>
          </a:p>
        </p:txBody>
      </p:sp>
      <p:sp>
        <p:nvSpPr>
          <p:cNvPr id="31" name="Text 27"/>
          <p:cNvSpPr/>
          <p:nvPr/>
        </p:nvSpPr>
        <p:spPr>
          <a:xfrm>
            <a:off x="6217920" y="3154680"/>
            <a:ext cx="2377440" cy="256032"/>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  Computer Systems</a:t>
            </a:r>
            <a:endParaRPr lang="en-US" sz="900" dirty="0"/>
          </a:p>
        </p:txBody>
      </p:sp>
      <p:sp>
        <p:nvSpPr>
          <p:cNvPr id="32" name="Text 28"/>
          <p:cNvSpPr/>
          <p:nvPr/>
        </p:nvSpPr>
        <p:spPr>
          <a:xfrm>
            <a:off x="6217920" y="3429000"/>
            <a:ext cx="2377440" cy="256032"/>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  Internet &amp; Apps</a:t>
            </a:r>
            <a:endParaRPr lang="en-US" sz="900" dirty="0"/>
          </a:p>
        </p:txBody>
      </p:sp>
      <p:sp>
        <p:nvSpPr>
          <p:cNvPr id="33" name="Text 29"/>
          <p:cNvSpPr/>
          <p:nvPr/>
        </p:nvSpPr>
        <p:spPr>
          <a:xfrm>
            <a:off x="6217920" y="3703320"/>
            <a:ext cx="2377440" cy="256032"/>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  Computational Thinking</a:t>
            </a:r>
            <a:endParaRPr lang="en-US" sz="900" dirty="0"/>
          </a:p>
        </p:txBody>
      </p:sp>
      <p:sp>
        <p:nvSpPr>
          <p:cNvPr id="34" name="Text 30"/>
          <p:cNvSpPr/>
          <p:nvPr/>
        </p:nvSpPr>
        <p:spPr>
          <a:xfrm>
            <a:off x="6217920" y="3977640"/>
            <a:ext cx="2377440" cy="256032"/>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  Social Implications</a:t>
            </a:r>
            <a:endParaRPr lang="en-US" sz="900" dirty="0"/>
          </a:p>
        </p:txBody>
      </p:sp>
      <p:sp>
        <p:nvSpPr>
          <p:cNvPr id="35" name="Shape 31"/>
          <p:cNvSpPr/>
          <p:nvPr/>
        </p:nvSpPr>
        <p:spPr>
          <a:xfrm>
            <a:off x="0" y="4800600"/>
            <a:ext cx="9144000" cy="342900"/>
          </a:xfrm>
          <a:prstGeom prst="rect">
            <a:avLst/>
          </a:prstGeom>
          <a:solidFill>
            <a:srgbClr val="E2E8F0"/>
          </a:solidFill>
          <a:ln/>
        </p:spPr>
      </p:sp>
      <p:sp>
        <p:nvSpPr>
          <p:cNvPr id="36" name="Text 32"/>
          <p:cNvSpPr/>
          <p:nvPr/>
        </p:nvSpPr>
        <p:spPr>
          <a:xfrm>
            <a:off x="457200" y="4818888"/>
            <a:ext cx="4572000" cy="274320"/>
          </a:xfrm>
          <a:prstGeom prst="rect">
            <a:avLst/>
          </a:prstGeom>
          <a:noFill/>
          <a:ln/>
        </p:spPr>
        <p:txBody>
          <a:bodyPr wrap="square" lIns="0" tIns="0" rIns="0" bIns="0" rtlCol="0" anchor="ctr"/>
          <a:lstStyle/>
          <a:p>
            <a:pPr indent="0" marL="0">
              <a:buNone/>
            </a:pPr>
            <a:r>
              <a:rPr lang="en-US" sz="700" dirty="0">
                <a:solidFill>
                  <a:srgbClr val="94A3B8"/>
                </a:solidFill>
                <a:latin typeface="Calibri" pitchFamily="34" charset="0"/>
                <a:ea typeface="Calibri" pitchFamily="34" charset="-122"/>
                <a:cs typeface="Calibri" pitchFamily="34" charset="-120"/>
              </a:rPr>
              <a:t>HKDSE ICT 2025 Exam Skills Masterclass</a:t>
            </a:r>
            <a:endParaRPr lang="en-US" sz="700" dirty="0"/>
          </a:p>
        </p:txBody>
      </p:sp>
      <p:sp>
        <p:nvSpPr>
          <p:cNvPr id="25" name="Slide Number Placeholder 0"/>
          <p:cNvSpPr>
            <a:spLocks noGrp="1"/>
          </p:cNvSpPr>
          <p:nvPr>
            <p:ph type="sldNum" sz="quarter" idx="4294967295"/>
          </p:nvPr>
        </p:nvSpPr>
        <p:spPr>
          <a:xfrm>
            <a:off x="8503920" y="4886325"/>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7F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1628"/>
          </a:solidFill>
          <a:ln/>
        </p:spPr>
      </p:sp>
      <p:pic>
        <p:nvPicPr>
          <p:cNvPr id="3" name="Image 0" descr="icon_16.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57200" y="201168"/>
            <a:ext cx="365760" cy="365760"/>
          </a:xfrm>
          <a:prstGeom prst="rect">
            <a:avLst/>
          </a:prstGeom>
        </p:spPr>
      </p:pic>
      <p:sp>
        <p:nvSpPr>
          <p:cNvPr id="4" name="Text 1"/>
          <p:cNvSpPr/>
          <p:nvPr/>
        </p:nvSpPr>
        <p:spPr>
          <a:xfrm>
            <a:off x="960120" y="137160"/>
            <a:ext cx="7772400" cy="502920"/>
          </a:xfrm>
          <a:prstGeom prst="rect">
            <a:avLst/>
          </a:prstGeom>
          <a:noFill/>
          <a:ln/>
        </p:spPr>
        <p:txBody>
          <a:bodyPr wrap="square" lIns="0" tIns="0" rIns="0" bIns="0" rtlCol="0" anchor="ctr"/>
          <a:lstStyle/>
          <a:p>
            <a:pPr indent="0" marL="0">
              <a:buNone/>
            </a:pPr>
            <a:r>
              <a:rPr lang="en-US" sz="2200" dirty="0">
                <a:solidFill>
                  <a:srgbClr val="FFFFFF"/>
                </a:solidFill>
                <a:latin typeface="Trebuchet MS" pitchFamily="34" charset="0"/>
                <a:ea typeface="Trebuchet MS" pitchFamily="34" charset="-122"/>
                <a:cs typeface="Trebuchet MS" pitchFamily="34" charset="-120"/>
              </a:rPr>
              <a:t>The Six Assessment Objectives</a:t>
            </a:r>
            <a:endParaRPr lang="en-US" sz="2200" dirty="0"/>
          </a:p>
        </p:txBody>
      </p:sp>
      <p:sp>
        <p:nvSpPr>
          <p:cNvPr id="5" name="Text 2"/>
          <p:cNvSpPr/>
          <p:nvPr/>
        </p:nvSpPr>
        <p:spPr>
          <a:xfrm>
            <a:off x="960120" y="594360"/>
            <a:ext cx="7772400" cy="274320"/>
          </a:xfrm>
          <a:prstGeom prst="rect">
            <a:avLst/>
          </a:prstGeom>
          <a:noFill/>
          <a:ln/>
        </p:spPr>
        <p:txBody>
          <a:bodyPr wrap="square" lIns="0" tIns="0" rIns="0" bIns="0" rtlCol="0" anchor="ctr"/>
          <a:lstStyle/>
          <a:p>
            <a:pPr indent="0" marL="0">
              <a:buNone/>
            </a:pPr>
            <a:r>
              <a:rPr lang="en-US" sz="1200" dirty="0">
                <a:solidFill>
                  <a:srgbClr val="B8D4E3"/>
                </a:solidFill>
                <a:latin typeface="Calibri" pitchFamily="34" charset="0"/>
                <a:ea typeface="Calibri" pitchFamily="34" charset="-122"/>
                <a:cs typeface="Calibri" pitchFamily="34" charset="-120"/>
              </a:rPr>
              <a:t>What the DSE ICT Exam Is Really Testing</a:t>
            </a:r>
            <a:endParaRPr lang="en-US" sz="1200" dirty="0"/>
          </a:p>
        </p:txBody>
      </p:sp>
      <p:sp>
        <p:nvSpPr>
          <p:cNvPr id="6" name="Shape 3"/>
          <p:cNvSpPr/>
          <p:nvPr/>
        </p:nvSpPr>
        <p:spPr>
          <a:xfrm>
            <a:off x="457200" y="1234440"/>
            <a:ext cx="2560320" cy="2011680"/>
          </a:xfrm>
          <a:prstGeom prst="roundRect">
            <a:avLst>
              <a:gd name="adj" fmla="val 3636"/>
            </a:avLst>
          </a:prstGeom>
          <a:solidFill>
            <a:srgbClr val="FFFFFF"/>
          </a:solidFill>
          <a:ln/>
          <a:effectLst>
            <a:outerShdw sx="100000" sy="100000" kx="0" ky="0" algn="bl" rotWithShape="0" blurRad="101600" dist="25400" dir="8100000">
              <a:srgbClr val="000000">
                <a:alpha val="8000"/>
              </a:srgbClr>
            </a:outerShdw>
          </a:effectLst>
        </p:spPr>
      </p:sp>
      <p:sp>
        <p:nvSpPr>
          <p:cNvPr id="7" name="Shape 4"/>
          <p:cNvSpPr/>
          <p:nvPr/>
        </p:nvSpPr>
        <p:spPr>
          <a:xfrm>
            <a:off x="457200" y="1234440"/>
            <a:ext cx="2560320" cy="365760"/>
          </a:xfrm>
          <a:prstGeom prst="rect">
            <a:avLst/>
          </a:prstGeom>
          <a:solidFill>
            <a:srgbClr val="3B82F6"/>
          </a:solidFill>
          <a:ln/>
        </p:spPr>
      </p:sp>
      <p:sp>
        <p:nvSpPr>
          <p:cNvPr id="8" name="Text 5"/>
          <p:cNvSpPr/>
          <p:nvPr/>
        </p:nvSpPr>
        <p:spPr>
          <a:xfrm>
            <a:off x="548640" y="1234440"/>
            <a:ext cx="2377440" cy="365760"/>
          </a:xfrm>
          <a:prstGeom prst="rect">
            <a:avLst/>
          </a:prstGeom>
          <a:noFill/>
          <a:ln/>
        </p:spPr>
        <p:txBody>
          <a:bodyPr wrap="square" lIns="0" tIns="0" rIns="0" bIns="0" rtlCol="0" anchor="ctr"/>
          <a:lstStyle/>
          <a:p>
            <a:pPr indent="0" marL="0">
              <a:buNone/>
            </a:pPr>
            <a:r>
              <a:rPr lang="en-US" sz="1000" dirty="0">
                <a:solidFill>
                  <a:srgbClr val="FFFFFF"/>
                </a:solidFill>
                <a:latin typeface="Trebuchet MS" pitchFamily="34" charset="0"/>
                <a:ea typeface="Trebuchet MS" pitchFamily="34" charset="-122"/>
                <a:cs typeface="Trebuchet MS" pitchFamily="34" charset="-120"/>
              </a:rPr>
              <a:t>Knowledge &amp; Understanding</a:t>
            </a:r>
            <a:endParaRPr lang="en-US" sz="1000" dirty="0"/>
          </a:p>
        </p:txBody>
      </p:sp>
      <p:sp>
        <p:nvSpPr>
          <p:cNvPr id="9" name="Text 6"/>
          <p:cNvSpPr/>
          <p:nvPr/>
        </p:nvSpPr>
        <p:spPr>
          <a:xfrm>
            <a:off x="594360" y="1737360"/>
            <a:ext cx="2286000" cy="594360"/>
          </a:xfrm>
          <a:prstGeom prst="rect">
            <a:avLst/>
          </a:prstGeom>
          <a:noFill/>
          <a:ln/>
        </p:spPr>
        <p:txBody>
          <a:bodyPr wrap="square" lIns="0" tIns="0" rIns="0" bIns="0" rtlCol="0" anchor="t"/>
          <a:lstStyle/>
          <a:p>
            <a:pPr indent="0" marL="0">
              <a:lnSpc>
                <a:spcPts val="1200"/>
              </a:lnSpc>
              <a:buNone/>
            </a:pPr>
            <a:r>
              <a:rPr lang="en-US" sz="900" dirty="0">
                <a:solidFill>
                  <a:srgbClr val="1E293B"/>
                </a:solidFill>
                <a:latin typeface="Calibri" pitchFamily="34" charset="0"/>
                <a:ea typeface="Calibri" pitchFamily="34" charset="-122"/>
                <a:cs typeface="Calibri" pitchFamily="34" charset="-120"/>
              </a:rPr>
              <a:t>(1) Computer systems, hardware-software-data relationships</a:t>
            </a:r>
            <a:endParaRPr lang="en-US" sz="900" dirty="0"/>
          </a:p>
        </p:txBody>
      </p:sp>
      <p:sp>
        <p:nvSpPr>
          <p:cNvPr id="10" name="Text 7"/>
          <p:cNvSpPr/>
          <p:nvPr/>
        </p:nvSpPr>
        <p:spPr>
          <a:xfrm>
            <a:off x="594360" y="2377440"/>
            <a:ext cx="2286000" cy="594360"/>
          </a:xfrm>
          <a:prstGeom prst="rect">
            <a:avLst/>
          </a:prstGeom>
          <a:noFill/>
          <a:ln/>
        </p:spPr>
        <p:txBody>
          <a:bodyPr wrap="square" lIns="0" tIns="0" rIns="0" bIns="0" rtlCol="0" anchor="t"/>
          <a:lstStyle/>
          <a:p>
            <a:pPr indent="0" marL="0">
              <a:lnSpc>
                <a:spcPts val="1200"/>
              </a:lnSpc>
              <a:buNone/>
            </a:pPr>
            <a:r>
              <a:rPr lang="en-US" sz="900" dirty="0">
                <a:solidFill>
                  <a:srgbClr val="1E293B"/>
                </a:solidFill>
                <a:latin typeface="Calibri" pitchFamily="34" charset="0"/>
                <a:ea typeface="Calibri" pitchFamily="34" charset="-122"/>
                <a:cs typeface="Calibri" pitchFamily="34" charset="-120"/>
              </a:rPr>
              <a:t>(2) Social, ethical &amp; legal issues</a:t>
            </a:r>
            <a:endParaRPr lang="en-US" sz="900" dirty="0"/>
          </a:p>
        </p:txBody>
      </p:sp>
      <p:sp>
        <p:nvSpPr>
          <p:cNvPr id="11" name="Shape 8"/>
          <p:cNvSpPr/>
          <p:nvPr/>
        </p:nvSpPr>
        <p:spPr>
          <a:xfrm>
            <a:off x="3200400" y="1234440"/>
            <a:ext cx="2560320" cy="2011680"/>
          </a:xfrm>
          <a:prstGeom prst="roundRect">
            <a:avLst>
              <a:gd name="adj" fmla="val 3636"/>
            </a:avLst>
          </a:prstGeom>
          <a:solidFill>
            <a:srgbClr val="FFFFFF"/>
          </a:solidFill>
          <a:ln/>
          <a:effectLst>
            <a:outerShdw sx="100000" sy="100000" kx="0" ky="0" algn="bl" rotWithShape="0" blurRad="101600" dist="25400" dir="8100000">
              <a:srgbClr val="000000">
                <a:alpha val="8000"/>
              </a:srgbClr>
            </a:outerShdw>
          </a:effectLst>
        </p:spPr>
      </p:sp>
      <p:sp>
        <p:nvSpPr>
          <p:cNvPr id="12" name="Shape 9"/>
          <p:cNvSpPr/>
          <p:nvPr/>
        </p:nvSpPr>
        <p:spPr>
          <a:xfrm>
            <a:off x="3200400" y="1234440"/>
            <a:ext cx="2560320" cy="365760"/>
          </a:xfrm>
          <a:prstGeom prst="rect">
            <a:avLst/>
          </a:prstGeom>
          <a:solidFill>
            <a:srgbClr val="14B8A6"/>
          </a:solidFill>
          <a:ln/>
        </p:spPr>
      </p:sp>
      <p:sp>
        <p:nvSpPr>
          <p:cNvPr id="13" name="Text 10"/>
          <p:cNvSpPr/>
          <p:nvPr/>
        </p:nvSpPr>
        <p:spPr>
          <a:xfrm>
            <a:off x="3291840" y="1234440"/>
            <a:ext cx="2377440" cy="365760"/>
          </a:xfrm>
          <a:prstGeom prst="rect">
            <a:avLst/>
          </a:prstGeom>
          <a:noFill/>
          <a:ln/>
        </p:spPr>
        <p:txBody>
          <a:bodyPr wrap="square" lIns="0" tIns="0" rIns="0" bIns="0" rtlCol="0" anchor="ctr"/>
          <a:lstStyle/>
          <a:p>
            <a:pPr indent="0" marL="0">
              <a:buNone/>
            </a:pPr>
            <a:r>
              <a:rPr lang="en-US" sz="1000" dirty="0">
                <a:solidFill>
                  <a:srgbClr val="FFFFFF"/>
                </a:solidFill>
                <a:latin typeface="Trebuchet MS" pitchFamily="34" charset="0"/>
                <a:ea typeface="Trebuchet MS" pitchFamily="34" charset="-122"/>
                <a:cs typeface="Trebuchet MS" pitchFamily="34" charset="-120"/>
              </a:rPr>
              <a:t>Skills</a:t>
            </a:r>
            <a:endParaRPr lang="en-US" sz="1000" dirty="0"/>
          </a:p>
        </p:txBody>
      </p:sp>
      <p:sp>
        <p:nvSpPr>
          <p:cNvPr id="14" name="Text 11"/>
          <p:cNvSpPr/>
          <p:nvPr/>
        </p:nvSpPr>
        <p:spPr>
          <a:xfrm>
            <a:off x="3337560" y="1737360"/>
            <a:ext cx="2286000" cy="594360"/>
          </a:xfrm>
          <a:prstGeom prst="rect">
            <a:avLst/>
          </a:prstGeom>
          <a:noFill/>
          <a:ln/>
        </p:spPr>
        <p:txBody>
          <a:bodyPr wrap="square" lIns="0" tIns="0" rIns="0" bIns="0" rtlCol="0" anchor="t"/>
          <a:lstStyle/>
          <a:p>
            <a:pPr indent="0" marL="0">
              <a:lnSpc>
                <a:spcPts val="1200"/>
              </a:lnSpc>
              <a:buNone/>
            </a:pPr>
            <a:r>
              <a:rPr lang="en-US" sz="900" dirty="0">
                <a:solidFill>
                  <a:srgbClr val="1E293B"/>
                </a:solidFill>
                <a:latin typeface="Calibri" pitchFamily="34" charset="0"/>
                <a:ea typeface="Calibri" pitchFamily="34" charset="-122"/>
                <a:cs typeface="Calibri" pitchFamily="34" charset="-120"/>
              </a:rPr>
              <a:t>(3) Use application software effectively for problem-solving</a:t>
            </a:r>
            <a:endParaRPr lang="en-US" sz="900" dirty="0"/>
          </a:p>
        </p:txBody>
      </p:sp>
      <p:sp>
        <p:nvSpPr>
          <p:cNvPr id="15" name="Text 12"/>
          <p:cNvSpPr/>
          <p:nvPr/>
        </p:nvSpPr>
        <p:spPr>
          <a:xfrm>
            <a:off x="3337560" y="2377440"/>
            <a:ext cx="2286000" cy="594360"/>
          </a:xfrm>
          <a:prstGeom prst="rect">
            <a:avLst/>
          </a:prstGeom>
          <a:noFill/>
          <a:ln/>
        </p:spPr>
        <p:txBody>
          <a:bodyPr wrap="square" lIns="0" tIns="0" rIns="0" bIns="0" rtlCol="0" anchor="t"/>
          <a:lstStyle/>
          <a:p>
            <a:pPr indent="0" marL="0">
              <a:lnSpc>
                <a:spcPts val="1200"/>
              </a:lnSpc>
              <a:buNone/>
            </a:pPr>
            <a:r>
              <a:rPr lang="en-US" sz="900" dirty="0">
                <a:solidFill>
                  <a:srgbClr val="1E293B"/>
                </a:solidFill>
                <a:latin typeface="Calibri" pitchFamily="34" charset="0"/>
                <a:ea typeface="Calibri" pitchFamily="34" charset="-122"/>
                <a:cs typeface="Calibri" pitchFamily="34" charset="-120"/>
              </a:rPr>
              <a:t>(4) Analyse problems, plan &amp; implement ICT solutions</a:t>
            </a:r>
            <a:endParaRPr lang="en-US" sz="900" dirty="0"/>
          </a:p>
        </p:txBody>
      </p:sp>
      <p:sp>
        <p:nvSpPr>
          <p:cNvPr id="16" name="Shape 13"/>
          <p:cNvSpPr/>
          <p:nvPr/>
        </p:nvSpPr>
        <p:spPr>
          <a:xfrm>
            <a:off x="5943600" y="1234440"/>
            <a:ext cx="2560320" cy="2011680"/>
          </a:xfrm>
          <a:prstGeom prst="roundRect">
            <a:avLst>
              <a:gd name="adj" fmla="val 3636"/>
            </a:avLst>
          </a:prstGeom>
          <a:solidFill>
            <a:srgbClr val="FFFFFF"/>
          </a:solidFill>
          <a:ln/>
          <a:effectLst>
            <a:outerShdw sx="100000" sy="100000" kx="0" ky="0" algn="bl" rotWithShape="0" blurRad="101600" dist="25400" dir="8100000">
              <a:srgbClr val="000000">
                <a:alpha val="8000"/>
              </a:srgbClr>
            </a:outerShdw>
          </a:effectLst>
        </p:spPr>
      </p:sp>
      <p:sp>
        <p:nvSpPr>
          <p:cNvPr id="17" name="Shape 14"/>
          <p:cNvSpPr/>
          <p:nvPr/>
        </p:nvSpPr>
        <p:spPr>
          <a:xfrm>
            <a:off x="5943600" y="1234440"/>
            <a:ext cx="2560320" cy="365760"/>
          </a:xfrm>
          <a:prstGeom prst="rect">
            <a:avLst/>
          </a:prstGeom>
          <a:solidFill>
            <a:srgbClr val="F97316"/>
          </a:solidFill>
          <a:ln/>
        </p:spPr>
      </p:sp>
      <p:sp>
        <p:nvSpPr>
          <p:cNvPr id="18" name="Text 15"/>
          <p:cNvSpPr/>
          <p:nvPr/>
        </p:nvSpPr>
        <p:spPr>
          <a:xfrm>
            <a:off x="6035040" y="1234440"/>
            <a:ext cx="2377440" cy="365760"/>
          </a:xfrm>
          <a:prstGeom prst="rect">
            <a:avLst/>
          </a:prstGeom>
          <a:noFill/>
          <a:ln/>
        </p:spPr>
        <p:txBody>
          <a:bodyPr wrap="square" lIns="0" tIns="0" rIns="0" bIns="0" rtlCol="0" anchor="ctr"/>
          <a:lstStyle/>
          <a:p>
            <a:pPr indent="0" marL="0">
              <a:buNone/>
            </a:pPr>
            <a:r>
              <a:rPr lang="en-US" sz="1000" dirty="0">
                <a:solidFill>
                  <a:srgbClr val="FFFFFF"/>
                </a:solidFill>
                <a:latin typeface="Trebuchet MS" pitchFamily="34" charset="0"/>
                <a:ea typeface="Trebuchet MS" pitchFamily="34" charset="-122"/>
                <a:cs typeface="Trebuchet MS" pitchFamily="34" charset="-120"/>
              </a:rPr>
              <a:t>Values &amp; Attitudes</a:t>
            </a:r>
            <a:endParaRPr lang="en-US" sz="1000" dirty="0"/>
          </a:p>
        </p:txBody>
      </p:sp>
      <p:sp>
        <p:nvSpPr>
          <p:cNvPr id="19" name="Text 16"/>
          <p:cNvSpPr/>
          <p:nvPr/>
        </p:nvSpPr>
        <p:spPr>
          <a:xfrm>
            <a:off x="6080760" y="1737360"/>
            <a:ext cx="2286000" cy="594360"/>
          </a:xfrm>
          <a:prstGeom prst="rect">
            <a:avLst/>
          </a:prstGeom>
          <a:noFill/>
          <a:ln/>
        </p:spPr>
        <p:txBody>
          <a:bodyPr wrap="square" lIns="0" tIns="0" rIns="0" bIns="0" rtlCol="0" anchor="t"/>
          <a:lstStyle/>
          <a:p>
            <a:pPr indent="0" marL="0">
              <a:lnSpc>
                <a:spcPts val="1200"/>
              </a:lnSpc>
              <a:buNone/>
            </a:pPr>
            <a:r>
              <a:rPr lang="en-US" sz="900" dirty="0">
                <a:solidFill>
                  <a:srgbClr val="1E293B"/>
                </a:solidFill>
                <a:latin typeface="Calibri" pitchFamily="34" charset="0"/>
                <a:ea typeface="Calibri" pitchFamily="34" charset="-122"/>
                <a:cs typeface="Calibri" pitchFamily="34" charset="-120"/>
              </a:rPr>
              <a:t>(5) Information literacy &amp; knowledge sharing</a:t>
            </a:r>
            <a:endParaRPr lang="en-US" sz="900" dirty="0"/>
          </a:p>
        </p:txBody>
      </p:sp>
      <p:sp>
        <p:nvSpPr>
          <p:cNvPr id="20" name="Text 17"/>
          <p:cNvSpPr/>
          <p:nvPr/>
        </p:nvSpPr>
        <p:spPr>
          <a:xfrm>
            <a:off x="6080760" y="2377440"/>
            <a:ext cx="2286000" cy="594360"/>
          </a:xfrm>
          <a:prstGeom prst="rect">
            <a:avLst/>
          </a:prstGeom>
          <a:noFill/>
          <a:ln/>
        </p:spPr>
        <p:txBody>
          <a:bodyPr wrap="square" lIns="0" tIns="0" rIns="0" bIns="0" rtlCol="0" anchor="t"/>
          <a:lstStyle/>
          <a:p>
            <a:pPr indent="0" marL="0">
              <a:lnSpc>
                <a:spcPts val="1200"/>
              </a:lnSpc>
              <a:buNone/>
            </a:pPr>
            <a:r>
              <a:rPr lang="en-US" sz="900" dirty="0">
                <a:solidFill>
                  <a:srgbClr val="1E293B"/>
                </a:solidFill>
                <a:latin typeface="Calibri" pitchFamily="34" charset="0"/>
                <a:ea typeface="Calibri" pitchFamily="34" charset="-122"/>
                <a:cs typeface="Calibri" pitchFamily="34" charset="-120"/>
              </a:rPr>
              <a:t>(6) Responsible and positive ICT attitudes</a:t>
            </a:r>
            <a:endParaRPr lang="en-US" sz="900" dirty="0"/>
          </a:p>
        </p:txBody>
      </p:sp>
      <p:sp>
        <p:nvSpPr>
          <p:cNvPr id="21" name="Shape 18"/>
          <p:cNvSpPr/>
          <p:nvPr/>
        </p:nvSpPr>
        <p:spPr>
          <a:xfrm>
            <a:off x="457200" y="3429000"/>
            <a:ext cx="8229600" cy="822960"/>
          </a:xfrm>
          <a:prstGeom prst="roundRect">
            <a:avLst>
              <a:gd name="adj" fmla="val 8889"/>
            </a:avLst>
          </a:prstGeom>
          <a:solidFill>
            <a:srgbClr val="FFFFFF"/>
          </a:solidFill>
          <a:ln/>
          <a:effectLst>
            <a:outerShdw sx="100000" sy="100000" kx="0" ky="0" algn="bl" rotWithShape="0" blurRad="101600" dist="25400" dir="8100000">
              <a:srgbClr val="000000">
                <a:alpha val="8000"/>
              </a:srgbClr>
            </a:outerShdw>
          </a:effectLst>
        </p:spPr>
      </p:sp>
      <p:pic>
        <p:nvPicPr>
          <p:cNvPr id="22" name="Image 1" descr="icon_17.sv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40080" y="3611880"/>
            <a:ext cx="274320" cy="274320"/>
          </a:xfrm>
          <a:prstGeom prst="rect">
            <a:avLst/>
          </a:prstGeom>
        </p:spPr>
      </p:pic>
      <p:sp>
        <p:nvSpPr>
          <p:cNvPr id="23" name="Text 19"/>
          <p:cNvSpPr/>
          <p:nvPr/>
        </p:nvSpPr>
        <p:spPr>
          <a:xfrm>
            <a:off x="1005840" y="3474720"/>
            <a:ext cx="4114800" cy="320040"/>
          </a:xfrm>
          <a:prstGeom prst="rect">
            <a:avLst/>
          </a:prstGeom>
          <a:noFill/>
          <a:ln/>
        </p:spPr>
        <p:txBody>
          <a:bodyPr wrap="square" lIns="0" tIns="0" rIns="0" bIns="0" rtlCol="0" anchor="ctr"/>
          <a:lstStyle/>
          <a:p>
            <a:pPr indent="0" marL="0">
              <a:buNone/>
            </a:pPr>
            <a:r>
              <a:rPr lang="en-US" sz="1000" dirty="0">
                <a:solidFill>
                  <a:srgbClr val="1E293B"/>
                </a:solidFill>
                <a:latin typeface="Trebuchet MS" pitchFamily="34" charset="0"/>
                <a:ea typeface="Trebuchet MS" pitchFamily="34" charset="-122"/>
                <a:cs typeface="Trebuchet MS" pitchFamily="34" charset="-120"/>
              </a:rPr>
              <a:t>Key insight: The exam tests HOW you think, not just WHAT you know</a:t>
            </a:r>
            <a:endParaRPr lang="en-US" sz="1000" dirty="0"/>
          </a:p>
        </p:txBody>
      </p:sp>
      <p:sp>
        <p:nvSpPr>
          <p:cNvPr id="24" name="Text 20"/>
          <p:cNvSpPr/>
          <p:nvPr/>
        </p:nvSpPr>
        <p:spPr>
          <a:xfrm>
            <a:off x="1005840" y="3886200"/>
            <a:ext cx="2103120" cy="256032"/>
          </a:xfrm>
          <a:prstGeom prst="roundRect">
            <a:avLst>
              <a:gd name="adj" fmla="val 21429"/>
            </a:avLst>
          </a:prstGeom>
          <a:solidFill>
            <a:srgbClr val="3B82F6">
              <a:alpha val="85000"/>
            </a:srgbClr>
          </a:solid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Paper 1: Obj 1–5</a:t>
            </a:r>
            <a:endParaRPr lang="en-US" sz="900" dirty="0"/>
          </a:p>
        </p:txBody>
      </p:sp>
      <p:sp>
        <p:nvSpPr>
          <p:cNvPr id="25" name="Text 21"/>
          <p:cNvSpPr/>
          <p:nvPr/>
        </p:nvSpPr>
        <p:spPr>
          <a:xfrm>
            <a:off x="3383280" y="3886200"/>
            <a:ext cx="2103120" cy="256032"/>
          </a:xfrm>
          <a:prstGeom prst="roundRect">
            <a:avLst>
              <a:gd name="adj" fmla="val 21429"/>
            </a:avLst>
          </a:prstGeom>
          <a:solidFill>
            <a:srgbClr val="F97316">
              <a:alpha val="85000"/>
            </a:srgbClr>
          </a:solid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Paper 2: Obj 1–4</a:t>
            </a:r>
            <a:endParaRPr lang="en-US" sz="900" dirty="0"/>
          </a:p>
        </p:txBody>
      </p:sp>
      <p:sp>
        <p:nvSpPr>
          <p:cNvPr id="26" name="Text 22"/>
          <p:cNvSpPr/>
          <p:nvPr/>
        </p:nvSpPr>
        <p:spPr>
          <a:xfrm>
            <a:off x="5760720" y="3886200"/>
            <a:ext cx="2103120" cy="256032"/>
          </a:xfrm>
          <a:prstGeom prst="roundRect">
            <a:avLst>
              <a:gd name="adj" fmla="val 21429"/>
            </a:avLst>
          </a:prstGeom>
          <a:solidFill>
            <a:srgbClr val="14B8A6">
              <a:alpha val="85000"/>
            </a:srgbClr>
          </a:solid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SBA: Obj 4–6</a:t>
            </a:r>
            <a:endParaRPr lang="en-US" sz="900" dirty="0"/>
          </a:p>
        </p:txBody>
      </p:sp>
      <p:sp>
        <p:nvSpPr>
          <p:cNvPr id="27" name="Shape 23"/>
          <p:cNvSpPr/>
          <p:nvPr/>
        </p:nvSpPr>
        <p:spPr>
          <a:xfrm>
            <a:off x="0" y="4800600"/>
            <a:ext cx="9144000" cy="342900"/>
          </a:xfrm>
          <a:prstGeom prst="rect">
            <a:avLst/>
          </a:prstGeom>
          <a:solidFill>
            <a:srgbClr val="E2E8F0"/>
          </a:solidFill>
          <a:ln/>
        </p:spPr>
      </p:sp>
      <p:sp>
        <p:nvSpPr>
          <p:cNvPr id="28" name="Text 24"/>
          <p:cNvSpPr/>
          <p:nvPr/>
        </p:nvSpPr>
        <p:spPr>
          <a:xfrm>
            <a:off x="457200" y="4818888"/>
            <a:ext cx="4572000" cy="274320"/>
          </a:xfrm>
          <a:prstGeom prst="rect">
            <a:avLst/>
          </a:prstGeom>
          <a:noFill/>
          <a:ln/>
        </p:spPr>
        <p:txBody>
          <a:bodyPr wrap="square" lIns="0" tIns="0" rIns="0" bIns="0" rtlCol="0" anchor="ctr"/>
          <a:lstStyle/>
          <a:p>
            <a:pPr indent="0" marL="0">
              <a:buNone/>
            </a:pPr>
            <a:r>
              <a:rPr lang="en-US" sz="700" dirty="0">
                <a:solidFill>
                  <a:srgbClr val="94A3B8"/>
                </a:solidFill>
                <a:latin typeface="Calibri" pitchFamily="34" charset="0"/>
                <a:ea typeface="Calibri" pitchFamily="34" charset="-122"/>
                <a:cs typeface="Calibri" pitchFamily="34" charset="-120"/>
              </a:rPr>
              <a:t>HKDSE ICT 2025 Exam Skills Masterclass</a:t>
            </a:r>
            <a:endParaRPr lang="en-US" sz="700" dirty="0"/>
          </a:p>
        </p:txBody>
      </p:sp>
      <p:sp>
        <p:nvSpPr>
          <p:cNvPr id="25" name="Slide Number Placeholder 0"/>
          <p:cNvSpPr>
            <a:spLocks noGrp="1"/>
          </p:cNvSpPr>
          <p:nvPr>
            <p:ph type="sldNum" sz="quarter" idx="4294967295"/>
          </p:nvPr>
        </p:nvSpPr>
        <p:spPr>
          <a:xfrm>
            <a:off x="8503920" y="4886325"/>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7F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1628"/>
          </a:solidFill>
          <a:ln/>
        </p:spPr>
      </p:sp>
      <p:pic>
        <p:nvPicPr>
          <p:cNvPr id="3" name="Image 0" descr="icon_18.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57200" y="201168"/>
            <a:ext cx="365760" cy="365760"/>
          </a:xfrm>
          <a:prstGeom prst="rect">
            <a:avLst/>
          </a:prstGeom>
        </p:spPr>
      </p:pic>
      <p:sp>
        <p:nvSpPr>
          <p:cNvPr id="4" name="Text 1"/>
          <p:cNvSpPr/>
          <p:nvPr/>
        </p:nvSpPr>
        <p:spPr>
          <a:xfrm>
            <a:off x="960120" y="137160"/>
            <a:ext cx="7772400" cy="502920"/>
          </a:xfrm>
          <a:prstGeom prst="rect">
            <a:avLst/>
          </a:prstGeom>
          <a:noFill/>
          <a:ln/>
        </p:spPr>
        <p:txBody>
          <a:bodyPr wrap="square" lIns="0" tIns="0" rIns="0" bIns="0" rtlCol="0" anchor="ctr"/>
          <a:lstStyle/>
          <a:p>
            <a:pPr indent="0" marL="0">
              <a:buNone/>
            </a:pPr>
            <a:r>
              <a:rPr lang="en-US" sz="2000" dirty="0">
                <a:solidFill>
                  <a:srgbClr val="FFFFFF"/>
                </a:solidFill>
                <a:latin typeface="Trebuchet MS" pitchFamily="34" charset="0"/>
                <a:ea typeface="Trebuchet MS" pitchFamily="34" charset="-122"/>
                <a:cs typeface="Trebuchet MS" pitchFamily="34" charset="-120"/>
              </a:rPr>
              <a:t>Four Cognitive Levels — Decoding What Questions Ask</a:t>
            </a:r>
            <a:endParaRPr lang="en-US" sz="2000" dirty="0"/>
          </a:p>
        </p:txBody>
      </p:sp>
      <p:sp>
        <p:nvSpPr>
          <p:cNvPr id="5" name="Text 2"/>
          <p:cNvSpPr/>
          <p:nvPr/>
        </p:nvSpPr>
        <p:spPr>
          <a:xfrm>
            <a:off x="960120" y="594360"/>
            <a:ext cx="7772400" cy="274320"/>
          </a:xfrm>
          <a:prstGeom prst="rect">
            <a:avLst/>
          </a:prstGeom>
          <a:noFill/>
          <a:ln/>
        </p:spPr>
        <p:txBody>
          <a:bodyPr wrap="square" lIns="0" tIns="0" rIns="0" bIns="0" rtlCol="0" anchor="ctr"/>
          <a:lstStyle/>
          <a:p>
            <a:pPr indent="0" marL="0">
              <a:buNone/>
            </a:pPr>
            <a:r>
              <a:rPr lang="en-US" sz="1100" dirty="0">
                <a:solidFill>
                  <a:srgbClr val="B8D4E3"/>
                </a:solidFill>
                <a:latin typeface="Calibri" pitchFamily="34" charset="0"/>
                <a:ea typeface="Calibri" pitchFamily="34" charset="-122"/>
                <a:cs typeface="Calibri" pitchFamily="34" charset="-120"/>
              </a:rPr>
              <a:t>Recognise the Action Verbs to Know How Deep Your Answer Must Go</a:t>
            </a:r>
            <a:endParaRPr lang="en-US" sz="1100" dirty="0"/>
          </a:p>
        </p:txBody>
      </p:sp>
      <p:sp>
        <p:nvSpPr>
          <p:cNvPr id="6" name="Shape 3"/>
          <p:cNvSpPr/>
          <p:nvPr/>
        </p:nvSpPr>
        <p:spPr>
          <a:xfrm>
            <a:off x="868680" y="1234440"/>
            <a:ext cx="7406640" cy="749808"/>
          </a:xfrm>
          <a:prstGeom prst="roundRect">
            <a:avLst>
              <a:gd name="adj" fmla="val 7317"/>
            </a:avLst>
          </a:prstGeom>
          <a:solidFill>
            <a:srgbClr val="FFFFFF"/>
          </a:solidFill>
          <a:ln/>
          <a:effectLst>
            <a:outerShdw sx="100000" sy="100000" kx="0" ky="0" algn="bl" rotWithShape="0" blurRad="101600" dist="25400" dir="8100000">
              <a:srgbClr val="000000">
                <a:alpha val="8000"/>
              </a:srgbClr>
            </a:outerShdw>
          </a:effectLst>
        </p:spPr>
      </p:sp>
      <p:sp>
        <p:nvSpPr>
          <p:cNvPr id="7" name="Text 4"/>
          <p:cNvSpPr/>
          <p:nvPr/>
        </p:nvSpPr>
        <p:spPr>
          <a:xfrm>
            <a:off x="978408" y="1403604"/>
            <a:ext cx="411480" cy="411480"/>
          </a:xfrm>
          <a:prstGeom prst="ellipse">
            <a:avLst/>
          </a:prstGeom>
          <a:solidFill>
            <a:srgbClr val="7C3AED"/>
          </a:solidFill>
          <a:ln/>
        </p:spPr>
        <p:txBody>
          <a:bodyPr wrap="square" lIns="0" tIns="0" rIns="0" bIns="0" rtlCol="0" anchor="ctr"/>
          <a:lstStyle/>
          <a:p>
            <a:pPr algn="ctr" indent="0" marL="0">
              <a:buNone/>
            </a:pPr>
            <a:r>
              <a:rPr lang="en-US" sz="1600" dirty="0">
                <a:solidFill>
                  <a:srgbClr val="FFFFFF"/>
                </a:solidFill>
                <a:latin typeface="Trebuchet MS" pitchFamily="34" charset="0"/>
                <a:ea typeface="Trebuchet MS" pitchFamily="34" charset="-122"/>
                <a:cs typeface="Trebuchet MS" pitchFamily="34" charset="-120"/>
              </a:rPr>
              <a:t>4</a:t>
            </a:r>
            <a:endParaRPr lang="en-US" sz="1600" dirty="0"/>
          </a:p>
        </p:txBody>
      </p:sp>
      <p:sp>
        <p:nvSpPr>
          <p:cNvPr id="8" name="Text 5"/>
          <p:cNvSpPr/>
          <p:nvPr/>
        </p:nvSpPr>
        <p:spPr>
          <a:xfrm>
            <a:off x="1508760" y="1307592"/>
            <a:ext cx="2011680" cy="274320"/>
          </a:xfrm>
          <a:prstGeom prst="rect">
            <a:avLst/>
          </a:prstGeom>
          <a:noFill/>
          <a:ln/>
        </p:spPr>
        <p:txBody>
          <a:bodyPr wrap="square" lIns="0" tIns="0" rIns="0" bIns="0" rtlCol="0" anchor="ctr"/>
          <a:lstStyle/>
          <a:p>
            <a:pPr indent="0" marL="0">
              <a:buNone/>
            </a:pPr>
            <a:r>
              <a:rPr lang="en-US" sz="1200" dirty="0">
                <a:solidFill>
                  <a:srgbClr val="7C3AED"/>
                </a:solidFill>
                <a:latin typeface="Trebuchet MS" pitchFamily="34" charset="0"/>
                <a:ea typeface="Trebuchet MS" pitchFamily="34" charset="-122"/>
                <a:cs typeface="Trebuchet MS" pitchFamily="34" charset="-120"/>
              </a:rPr>
              <a:t>Synthesis</a:t>
            </a:r>
            <a:endParaRPr lang="en-US" sz="1200" dirty="0"/>
          </a:p>
        </p:txBody>
      </p:sp>
      <p:sp>
        <p:nvSpPr>
          <p:cNvPr id="9" name="Text 6"/>
          <p:cNvSpPr/>
          <p:nvPr/>
        </p:nvSpPr>
        <p:spPr>
          <a:xfrm>
            <a:off x="1508760" y="1600200"/>
            <a:ext cx="2560320" cy="27432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design, construct, implement, integrate</a:t>
            </a:r>
            <a:endParaRPr lang="en-US" sz="900" dirty="0"/>
          </a:p>
        </p:txBody>
      </p:sp>
      <p:sp>
        <p:nvSpPr>
          <p:cNvPr id="10" name="Text 7"/>
          <p:cNvSpPr/>
          <p:nvPr/>
        </p:nvSpPr>
        <p:spPr>
          <a:xfrm>
            <a:off x="4160520" y="1371600"/>
            <a:ext cx="365760" cy="457200"/>
          </a:xfrm>
          <a:prstGeom prst="rect">
            <a:avLst/>
          </a:prstGeom>
          <a:noFill/>
          <a:ln/>
        </p:spPr>
        <p:txBody>
          <a:bodyPr wrap="square" lIns="0" tIns="0" rIns="0" bIns="0" rtlCol="0" anchor="ctr"/>
          <a:lstStyle/>
          <a:p>
            <a:pPr algn="ctr" indent="0" marL="0">
              <a:buNone/>
            </a:pPr>
            <a:r>
              <a:rPr lang="en-US" sz="1600" dirty="0">
                <a:solidFill>
                  <a:srgbClr val="7C3AED"/>
                </a:solidFill>
              </a:rPr>
              <a:t>→</a:t>
            </a:r>
            <a:endParaRPr lang="en-US" sz="1600" dirty="0"/>
          </a:p>
        </p:txBody>
      </p:sp>
      <p:sp>
        <p:nvSpPr>
          <p:cNvPr id="11" name="Text 8"/>
          <p:cNvSpPr/>
          <p:nvPr/>
        </p:nvSpPr>
        <p:spPr>
          <a:xfrm>
            <a:off x="4617720" y="1371600"/>
            <a:ext cx="3383280" cy="45720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Paper 2 normalisation, SBA project tasks</a:t>
            </a:r>
            <a:endParaRPr lang="en-US" sz="1000" dirty="0"/>
          </a:p>
        </p:txBody>
      </p:sp>
      <p:sp>
        <p:nvSpPr>
          <p:cNvPr id="12" name="Shape 9"/>
          <p:cNvSpPr/>
          <p:nvPr/>
        </p:nvSpPr>
        <p:spPr>
          <a:xfrm>
            <a:off x="731520" y="2057400"/>
            <a:ext cx="7680960" cy="749808"/>
          </a:xfrm>
          <a:prstGeom prst="roundRect">
            <a:avLst>
              <a:gd name="adj" fmla="val 7317"/>
            </a:avLst>
          </a:prstGeom>
          <a:solidFill>
            <a:srgbClr val="FFFFFF"/>
          </a:solidFill>
          <a:ln/>
          <a:effectLst>
            <a:outerShdw sx="100000" sy="100000" kx="0" ky="0" algn="bl" rotWithShape="0" blurRad="101600" dist="25400" dir="8100000">
              <a:srgbClr val="000000">
                <a:alpha val="8000"/>
              </a:srgbClr>
            </a:outerShdw>
          </a:effectLst>
        </p:spPr>
      </p:sp>
      <p:sp>
        <p:nvSpPr>
          <p:cNvPr id="13" name="Text 10"/>
          <p:cNvSpPr/>
          <p:nvPr/>
        </p:nvSpPr>
        <p:spPr>
          <a:xfrm>
            <a:off x="841248" y="2226564"/>
            <a:ext cx="411480" cy="411480"/>
          </a:xfrm>
          <a:prstGeom prst="ellipse">
            <a:avLst/>
          </a:prstGeom>
          <a:solidFill>
            <a:srgbClr val="8B5CF6"/>
          </a:solidFill>
          <a:ln/>
        </p:spPr>
        <p:txBody>
          <a:bodyPr wrap="square" lIns="0" tIns="0" rIns="0" bIns="0" rtlCol="0" anchor="ctr"/>
          <a:lstStyle/>
          <a:p>
            <a:pPr algn="ctr" indent="0" marL="0">
              <a:buNone/>
            </a:pPr>
            <a:r>
              <a:rPr lang="en-US" sz="1600" dirty="0">
                <a:solidFill>
                  <a:srgbClr val="FFFFFF"/>
                </a:solidFill>
                <a:latin typeface="Trebuchet MS" pitchFamily="34" charset="0"/>
                <a:ea typeface="Trebuchet MS" pitchFamily="34" charset="-122"/>
                <a:cs typeface="Trebuchet MS" pitchFamily="34" charset="-120"/>
              </a:rPr>
              <a:t>3</a:t>
            </a:r>
            <a:endParaRPr lang="en-US" sz="1600" dirty="0"/>
          </a:p>
        </p:txBody>
      </p:sp>
      <p:sp>
        <p:nvSpPr>
          <p:cNvPr id="14" name="Text 11"/>
          <p:cNvSpPr/>
          <p:nvPr/>
        </p:nvSpPr>
        <p:spPr>
          <a:xfrm>
            <a:off x="1371600" y="2130552"/>
            <a:ext cx="2011680" cy="274320"/>
          </a:xfrm>
          <a:prstGeom prst="rect">
            <a:avLst/>
          </a:prstGeom>
          <a:noFill/>
          <a:ln/>
        </p:spPr>
        <p:txBody>
          <a:bodyPr wrap="square" lIns="0" tIns="0" rIns="0" bIns="0" rtlCol="0" anchor="ctr"/>
          <a:lstStyle/>
          <a:p>
            <a:pPr indent="0" marL="0">
              <a:buNone/>
            </a:pPr>
            <a:r>
              <a:rPr lang="en-US" sz="1200" dirty="0">
                <a:solidFill>
                  <a:srgbClr val="8B5CF6"/>
                </a:solidFill>
                <a:latin typeface="Trebuchet MS" pitchFamily="34" charset="0"/>
                <a:ea typeface="Trebuchet MS" pitchFamily="34" charset="-122"/>
                <a:cs typeface="Trebuchet MS" pitchFamily="34" charset="-120"/>
              </a:rPr>
              <a:t>Analysis</a:t>
            </a:r>
            <a:endParaRPr lang="en-US" sz="1200" dirty="0"/>
          </a:p>
        </p:txBody>
      </p:sp>
      <p:sp>
        <p:nvSpPr>
          <p:cNvPr id="15" name="Text 12"/>
          <p:cNvSpPr/>
          <p:nvPr/>
        </p:nvSpPr>
        <p:spPr>
          <a:xfrm>
            <a:off x="1371600" y="2423160"/>
            <a:ext cx="2560320" cy="27432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distinguish, compare, evaluate, analyse</a:t>
            </a:r>
            <a:endParaRPr lang="en-US" sz="900" dirty="0"/>
          </a:p>
        </p:txBody>
      </p:sp>
      <p:sp>
        <p:nvSpPr>
          <p:cNvPr id="16" name="Text 13"/>
          <p:cNvSpPr/>
          <p:nvPr/>
        </p:nvSpPr>
        <p:spPr>
          <a:xfrm>
            <a:off x="4023360" y="2194560"/>
            <a:ext cx="365760" cy="457200"/>
          </a:xfrm>
          <a:prstGeom prst="rect">
            <a:avLst/>
          </a:prstGeom>
          <a:noFill/>
          <a:ln/>
        </p:spPr>
        <p:txBody>
          <a:bodyPr wrap="square" lIns="0" tIns="0" rIns="0" bIns="0" rtlCol="0" anchor="ctr"/>
          <a:lstStyle/>
          <a:p>
            <a:pPr algn="ctr" indent="0" marL="0">
              <a:buNone/>
            </a:pPr>
            <a:r>
              <a:rPr lang="en-US" sz="1600" dirty="0">
                <a:solidFill>
                  <a:srgbClr val="8B5CF6"/>
                </a:solidFill>
              </a:rPr>
              <a:t>→</a:t>
            </a:r>
            <a:endParaRPr lang="en-US" sz="1600" dirty="0"/>
          </a:p>
        </p:txBody>
      </p:sp>
      <p:sp>
        <p:nvSpPr>
          <p:cNvPr id="17" name="Text 14"/>
          <p:cNvSpPr/>
          <p:nvPr/>
        </p:nvSpPr>
        <p:spPr>
          <a:xfrm>
            <a:off x="4480560" y="2194560"/>
            <a:ext cx="3657600" cy="45720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Paper 1B structured, Paper 2 integrity</a:t>
            </a:r>
            <a:endParaRPr lang="en-US" sz="1000" dirty="0"/>
          </a:p>
        </p:txBody>
      </p:sp>
      <p:sp>
        <p:nvSpPr>
          <p:cNvPr id="18" name="Shape 15"/>
          <p:cNvSpPr/>
          <p:nvPr/>
        </p:nvSpPr>
        <p:spPr>
          <a:xfrm>
            <a:off x="594360" y="2880360"/>
            <a:ext cx="7955280" cy="749808"/>
          </a:xfrm>
          <a:prstGeom prst="roundRect">
            <a:avLst>
              <a:gd name="adj" fmla="val 7317"/>
            </a:avLst>
          </a:prstGeom>
          <a:solidFill>
            <a:srgbClr val="FFFFFF"/>
          </a:solidFill>
          <a:ln/>
          <a:effectLst>
            <a:outerShdw sx="100000" sy="100000" kx="0" ky="0" algn="bl" rotWithShape="0" blurRad="101600" dist="25400" dir="8100000">
              <a:srgbClr val="000000">
                <a:alpha val="8000"/>
              </a:srgbClr>
            </a:outerShdw>
          </a:effectLst>
        </p:spPr>
      </p:sp>
      <p:sp>
        <p:nvSpPr>
          <p:cNvPr id="19" name="Text 16"/>
          <p:cNvSpPr/>
          <p:nvPr/>
        </p:nvSpPr>
        <p:spPr>
          <a:xfrm>
            <a:off x="704088" y="3049524"/>
            <a:ext cx="411480" cy="411480"/>
          </a:xfrm>
          <a:prstGeom prst="ellipse">
            <a:avLst/>
          </a:prstGeom>
          <a:solidFill>
            <a:srgbClr val="0C7C9B"/>
          </a:solidFill>
          <a:ln/>
        </p:spPr>
        <p:txBody>
          <a:bodyPr wrap="square" lIns="0" tIns="0" rIns="0" bIns="0" rtlCol="0" anchor="ctr"/>
          <a:lstStyle/>
          <a:p>
            <a:pPr algn="ctr" indent="0" marL="0">
              <a:buNone/>
            </a:pPr>
            <a:r>
              <a:rPr lang="en-US" sz="1600" dirty="0">
                <a:solidFill>
                  <a:srgbClr val="FFFFFF"/>
                </a:solidFill>
                <a:latin typeface="Trebuchet MS" pitchFamily="34" charset="0"/>
                <a:ea typeface="Trebuchet MS" pitchFamily="34" charset="-122"/>
                <a:cs typeface="Trebuchet MS" pitchFamily="34" charset="-120"/>
              </a:rPr>
              <a:t>2</a:t>
            </a:r>
            <a:endParaRPr lang="en-US" sz="1600" dirty="0"/>
          </a:p>
        </p:txBody>
      </p:sp>
      <p:sp>
        <p:nvSpPr>
          <p:cNvPr id="20" name="Text 17"/>
          <p:cNvSpPr/>
          <p:nvPr/>
        </p:nvSpPr>
        <p:spPr>
          <a:xfrm>
            <a:off x="1234440" y="2953512"/>
            <a:ext cx="2011680" cy="274320"/>
          </a:xfrm>
          <a:prstGeom prst="rect">
            <a:avLst/>
          </a:prstGeom>
          <a:noFill/>
          <a:ln/>
        </p:spPr>
        <p:txBody>
          <a:bodyPr wrap="square" lIns="0" tIns="0" rIns="0" bIns="0" rtlCol="0" anchor="ctr"/>
          <a:lstStyle/>
          <a:p>
            <a:pPr indent="0" marL="0">
              <a:buNone/>
            </a:pPr>
            <a:r>
              <a:rPr lang="en-US" sz="1200" dirty="0">
                <a:solidFill>
                  <a:srgbClr val="0C7C9B"/>
                </a:solidFill>
                <a:latin typeface="Trebuchet MS" pitchFamily="34" charset="0"/>
                <a:ea typeface="Trebuchet MS" pitchFamily="34" charset="-122"/>
                <a:cs typeface="Trebuchet MS" pitchFamily="34" charset="-120"/>
              </a:rPr>
              <a:t>Application</a:t>
            </a:r>
            <a:endParaRPr lang="en-US" sz="1200" dirty="0"/>
          </a:p>
        </p:txBody>
      </p:sp>
      <p:sp>
        <p:nvSpPr>
          <p:cNvPr id="21" name="Text 18"/>
          <p:cNvSpPr/>
          <p:nvPr/>
        </p:nvSpPr>
        <p:spPr>
          <a:xfrm>
            <a:off x="1234440" y="3246120"/>
            <a:ext cx="2560320" cy="27432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describe, explain, apply, convert</a:t>
            </a:r>
            <a:endParaRPr lang="en-US" sz="900" dirty="0"/>
          </a:p>
        </p:txBody>
      </p:sp>
      <p:sp>
        <p:nvSpPr>
          <p:cNvPr id="22" name="Text 19"/>
          <p:cNvSpPr/>
          <p:nvPr/>
        </p:nvSpPr>
        <p:spPr>
          <a:xfrm>
            <a:off x="3886200" y="3017520"/>
            <a:ext cx="365760" cy="457200"/>
          </a:xfrm>
          <a:prstGeom prst="rect">
            <a:avLst/>
          </a:prstGeom>
          <a:noFill/>
          <a:ln/>
        </p:spPr>
        <p:txBody>
          <a:bodyPr wrap="square" lIns="0" tIns="0" rIns="0" bIns="0" rtlCol="0" anchor="ctr"/>
          <a:lstStyle/>
          <a:p>
            <a:pPr algn="ctr" indent="0" marL="0">
              <a:buNone/>
            </a:pPr>
            <a:r>
              <a:rPr lang="en-US" sz="1600" dirty="0">
                <a:solidFill>
                  <a:srgbClr val="0C7C9B"/>
                </a:solidFill>
              </a:rPr>
              <a:t>→</a:t>
            </a:r>
            <a:endParaRPr lang="en-US" sz="1600" dirty="0"/>
          </a:p>
        </p:txBody>
      </p:sp>
      <p:sp>
        <p:nvSpPr>
          <p:cNvPr id="23" name="Text 20"/>
          <p:cNvSpPr/>
          <p:nvPr/>
        </p:nvSpPr>
        <p:spPr>
          <a:xfrm>
            <a:off x="4343400" y="3017520"/>
            <a:ext cx="3931920" cy="45720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Paper 1A algorithm tracing, Paper 1B formulas</a:t>
            </a:r>
            <a:endParaRPr lang="en-US" sz="1000" dirty="0"/>
          </a:p>
        </p:txBody>
      </p:sp>
      <p:sp>
        <p:nvSpPr>
          <p:cNvPr id="24" name="Shape 21"/>
          <p:cNvSpPr/>
          <p:nvPr/>
        </p:nvSpPr>
        <p:spPr>
          <a:xfrm>
            <a:off x="457200" y="3703320"/>
            <a:ext cx="8229600" cy="749808"/>
          </a:xfrm>
          <a:prstGeom prst="roundRect">
            <a:avLst>
              <a:gd name="adj" fmla="val 7317"/>
            </a:avLst>
          </a:prstGeom>
          <a:solidFill>
            <a:srgbClr val="FFFFFF"/>
          </a:solidFill>
          <a:ln/>
          <a:effectLst>
            <a:outerShdw sx="100000" sy="100000" kx="0" ky="0" algn="bl" rotWithShape="0" blurRad="101600" dist="25400" dir="8100000">
              <a:srgbClr val="000000">
                <a:alpha val="8000"/>
              </a:srgbClr>
            </a:outerShdw>
          </a:effectLst>
        </p:spPr>
      </p:sp>
      <p:sp>
        <p:nvSpPr>
          <p:cNvPr id="25" name="Text 22"/>
          <p:cNvSpPr/>
          <p:nvPr/>
        </p:nvSpPr>
        <p:spPr>
          <a:xfrm>
            <a:off x="566928" y="3872484"/>
            <a:ext cx="411480" cy="411480"/>
          </a:xfrm>
          <a:prstGeom prst="ellipse">
            <a:avLst/>
          </a:prstGeom>
          <a:solidFill>
            <a:srgbClr val="3B82F6"/>
          </a:solidFill>
          <a:ln/>
        </p:spPr>
        <p:txBody>
          <a:bodyPr wrap="square" lIns="0" tIns="0" rIns="0" bIns="0" rtlCol="0" anchor="ctr"/>
          <a:lstStyle/>
          <a:p>
            <a:pPr algn="ctr" indent="0" marL="0">
              <a:buNone/>
            </a:pPr>
            <a:r>
              <a:rPr lang="en-US" sz="1600" dirty="0">
                <a:solidFill>
                  <a:srgbClr val="FFFFFF"/>
                </a:solidFill>
                <a:latin typeface="Trebuchet MS" pitchFamily="34" charset="0"/>
                <a:ea typeface="Trebuchet MS" pitchFamily="34" charset="-122"/>
                <a:cs typeface="Trebuchet MS" pitchFamily="34" charset="-120"/>
              </a:rPr>
              <a:t>1</a:t>
            </a:r>
            <a:endParaRPr lang="en-US" sz="1600" dirty="0"/>
          </a:p>
        </p:txBody>
      </p:sp>
      <p:sp>
        <p:nvSpPr>
          <p:cNvPr id="26" name="Text 23"/>
          <p:cNvSpPr/>
          <p:nvPr/>
        </p:nvSpPr>
        <p:spPr>
          <a:xfrm>
            <a:off x="1097280" y="3776472"/>
            <a:ext cx="2011680" cy="274320"/>
          </a:xfrm>
          <a:prstGeom prst="rect">
            <a:avLst/>
          </a:prstGeom>
          <a:noFill/>
          <a:ln/>
        </p:spPr>
        <p:txBody>
          <a:bodyPr wrap="square" lIns="0" tIns="0" rIns="0" bIns="0" rtlCol="0" anchor="ctr"/>
          <a:lstStyle/>
          <a:p>
            <a:pPr indent="0" marL="0">
              <a:buNone/>
            </a:pPr>
            <a:r>
              <a:rPr lang="en-US" sz="1200" dirty="0">
                <a:solidFill>
                  <a:srgbClr val="3B82F6"/>
                </a:solidFill>
                <a:latin typeface="Trebuchet MS" pitchFamily="34" charset="0"/>
                <a:ea typeface="Trebuchet MS" pitchFamily="34" charset="-122"/>
                <a:cs typeface="Trebuchet MS" pitchFamily="34" charset="-120"/>
              </a:rPr>
              <a:t>Recall &amp; Understanding</a:t>
            </a:r>
            <a:endParaRPr lang="en-US" sz="1200" dirty="0"/>
          </a:p>
        </p:txBody>
      </p:sp>
      <p:sp>
        <p:nvSpPr>
          <p:cNvPr id="27" name="Text 24"/>
          <p:cNvSpPr/>
          <p:nvPr/>
        </p:nvSpPr>
        <p:spPr>
          <a:xfrm>
            <a:off x="1097280" y="4069080"/>
            <a:ext cx="2560320" cy="27432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define, list, state, recognise</a:t>
            </a:r>
            <a:endParaRPr lang="en-US" sz="900" dirty="0"/>
          </a:p>
        </p:txBody>
      </p:sp>
      <p:sp>
        <p:nvSpPr>
          <p:cNvPr id="28" name="Text 25"/>
          <p:cNvSpPr/>
          <p:nvPr/>
        </p:nvSpPr>
        <p:spPr>
          <a:xfrm>
            <a:off x="3749040" y="3840480"/>
            <a:ext cx="365760" cy="457200"/>
          </a:xfrm>
          <a:prstGeom prst="rect">
            <a:avLst/>
          </a:prstGeom>
          <a:noFill/>
          <a:ln/>
        </p:spPr>
        <p:txBody>
          <a:bodyPr wrap="square" lIns="0" tIns="0" rIns="0" bIns="0" rtlCol="0" anchor="ctr"/>
          <a:lstStyle/>
          <a:p>
            <a:pPr algn="ctr" indent="0" marL="0">
              <a:buNone/>
            </a:pPr>
            <a:r>
              <a:rPr lang="en-US" sz="1600" dirty="0">
                <a:solidFill>
                  <a:srgbClr val="3B82F6"/>
                </a:solidFill>
              </a:rPr>
              <a:t>→</a:t>
            </a:r>
            <a:endParaRPr lang="en-US" sz="1600" dirty="0"/>
          </a:p>
        </p:txBody>
      </p:sp>
      <p:sp>
        <p:nvSpPr>
          <p:cNvPr id="29" name="Text 26"/>
          <p:cNvSpPr/>
          <p:nvPr/>
        </p:nvSpPr>
        <p:spPr>
          <a:xfrm>
            <a:off x="4206240" y="3840480"/>
            <a:ext cx="4206240" cy="45720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Paper 1A MC questions</a:t>
            </a:r>
            <a:endParaRPr lang="en-US" sz="1000" dirty="0"/>
          </a:p>
        </p:txBody>
      </p:sp>
      <p:sp>
        <p:nvSpPr>
          <p:cNvPr id="30" name="Shape 27"/>
          <p:cNvSpPr/>
          <p:nvPr/>
        </p:nvSpPr>
        <p:spPr>
          <a:xfrm>
            <a:off x="457200" y="4343400"/>
            <a:ext cx="8229600" cy="365760"/>
          </a:xfrm>
          <a:prstGeom prst="roundRect">
            <a:avLst>
              <a:gd name="adj" fmla="val 15000"/>
            </a:avLst>
          </a:prstGeom>
          <a:solidFill>
            <a:srgbClr val="F59E0B">
              <a:alpha val="15000"/>
            </a:srgbClr>
          </a:solidFill>
          <a:ln/>
        </p:spPr>
      </p:sp>
      <p:pic>
        <p:nvPicPr>
          <p:cNvPr id="31" name="Image 1" descr="icon_19.sv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94360" y="4389120"/>
            <a:ext cx="228600" cy="228600"/>
          </a:xfrm>
          <a:prstGeom prst="rect">
            <a:avLst/>
          </a:prstGeom>
        </p:spPr>
      </p:pic>
      <p:sp>
        <p:nvSpPr>
          <p:cNvPr id="32" name="Text 28"/>
          <p:cNvSpPr/>
          <p:nvPr/>
        </p:nvSpPr>
        <p:spPr>
          <a:xfrm>
            <a:off x="914400" y="4343400"/>
            <a:ext cx="7498080" cy="36576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Exam tip: Higher-level verbs demand elaboration and justification — one-word answers lose marks</a:t>
            </a:r>
            <a:endParaRPr lang="en-US" sz="1000" dirty="0"/>
          </a:p>
        </p:txBody>
      </p:sp>
      <p:sp>
        <p:nvSpPr>
          <p:cNvPr id="33" name="Shape 29"/>
          <p:cNvSpPr/>
          <p:nvPr/>
        </p:nvSpPr>
        <p:spPr>
          <a:xfrm>
            <a:off x="0" y="4800600"/>
            <a:ext cx="9144000" cy="342900"/>
          </a:xfrm>
          <a:prstGeom prst="rect">
            <a:avLst/>
          </a:prstGeom>
          <a:solidFill>
            <a:srgbClr val="E2E8F0"/>
          </a:solidFill>
          <a:ln/>
        </p:spPr>
      </p:sp>
      <p:sp>
        <p:nvSpPr>
          <p:cNvPr id="34" name="Text 30"/>
          <p:cNvSpPr/>
          <p:nvPr/>
        </p:nvSpPr>
        <p:spPr>
          <a:xfrm>
            <a:off x="457200" y="4818888"/>
            <a:ext cx="4572000" cy="274320"/>
          </a:xfrm>
          <a:prstGeom prst="rect">
            <a:avLst/>
          </a:prstGeom>
          <a:noFill/>
          <a:ln/>
        </p:spPr>
        <p:txBody>
          <a:bodyPr wrap="square" lIns="0" tIns="0" rIns="0" bIns="0" rtlCol="0" anchor="ctr"/>
          <a:lstStyle/>
          <a:p>
            <a:pPr indent="0" marL="0">
              <a:buNone/>
            </a:pPr>
            <a:r>
              <a:rPr lang="en-US" sz="700" dirty="0">
                <a:solidFill>
                  <a:srgbClr val="94A3B8"/>
                </a:solidFill>
                <a:latin typeface="Calibri" pitchFamily="34" charset="0"/>
                <a:ea typeface="Calibri" pitchFamily="34" charset="-122"/>
                <a:cs typeface="Calibri" pitchFamily="34" charset="-120"/>
              </a:rPr>
              <a:t>HKDSE ICT 2025 Exam Skills Masterclass</a:t>
            </a:r>
            <a:endParaRPr lang="en-US" sz="700" dirty="0"/>
          </a:p>
        </p:txBody>
      </p:sp>
      <p:sp>
        <p:nvSpPr>
          <p:cNvPr id="25" name="Slide Number Placeholder 0"/>
          <p:cNvSpPr>
            <a:spLocks noGrp="1"/>
          </p:cNvSpPr>
          <p:nvPr>
            <p:ph type="sldNum" sz="quarter" idx="4294967295"/>
          </p:nvPr>
        </p:nvSpPr>
        <p:spPr>
          <a:xfrm>
            <a:off x="8503920" y="4886325"/>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7F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1628"/>
          </a:solidFill>
          <a:ln/>
        </p:spPr>
      </p:sp>
      <p:sp>
        <p:nvSpPr>
          <p:cNvPr id="3" name="Shape 1"/>
          <p:cNvSpPr/>
          <p:nvPr/>
        </p:nvSpPr>
        <p:spPr>
          <a:xfrm>
            <a:off x="457200" y="18288"/>
            <a:ext cx="777240" cy="256032"/>
          </a:xfrm>
          <a:prstGeom prst="roundRect">
            <a:avLst>
              <a:gd name="adj" fmla="val 14286"/>
            </a:avLst>
          </a:prstGeom>
          <a:solidFill>
            <a:srgbClr val="3B82F6"/>
          </a:solidFill>
          <a:ln/>
        </p:spPr>
      </p:sp>
      <p:sp>
        <p:nvSpPr>
          <p:cNvPr id="4" name="Text 2"/>
          <p:cNvSpPr/>
          <p:nvPr/>
        </p:nvSpPr>
        <p:spPr>
          <a:xfrm>
            <a:off x="548640" y="18288"/>
            <a:ext cx="594360" cy="256032"/>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PAPER 1A</a:t>
            </a:r>
            <a:endParaRPr lang="en-US" sz="900" dirty="0"/>
          </a:p>
        </p:txBody>
      </p:sp>
      <p:sp>
        <p:nvSpPr>
          <p:cNvPr id="5" name="Text 3"/>
          <p:cNvSpPr/>
          <p:nvPr/>
        </p:nvSpPr>
        <p:spPr>
          <a:xfrm>
            <a:off x="457200" y="182880"/>
            <a:ext cx="8229600" cy="502920"/>
          </a:xfrm>
          <a:prstGeom prst="rect">
            <a:avLst/>
          </a:prstGeom>
          <a:noFill/>
          <a:ln/>
        </p:spPr>
        <p:txBody>
          <a:bodyPr wrap="square" lIns="0" tIns="0" rIns="0" bIns="0" rtlCol="0" anchor="ctr"/>
          <a:lstStyle/>
          <a:p>
            <a:pPr indent="0" marL="0">
              <a:buNone/>
            </a:pPr>
            <a:r>
              <a:rPr lang="en-US" sz="2100" dirty="0">
                <a:solidFill>
                  <a:srgbClr val="FFFFFF"/>
                </a:solidFill>
                <a:latin typeface="Trebuchet MS" pitchFamily="34" charset="0"/>
                <a:ea typeface="Trebuchet MS" pitchFamily="34" charset="-122"/>
                <a:cs typeface="Trebuchet MS" pitchFamily="34" charset="-120"/>
              </a:rPr>
              <a:t>Paper 1A: Multiple Choice Performance Summary</a:t>
            </a:r>
            <a:endParaRPr lang="en-US" sz="2100" dirty="0"/>
          </a:p>
        </p:txBody>
      </p:sp>
      <p:sp>
        <p:nvSpPr>
          <p:cNvPr id="6" name="Text 4"/>
          <p:cNvSpPr/>
          <p:nvPr/>
        </p:nvSpPr>
        <p:spPr>
          <a:xfrm>
            <a:off x="457200" y="594360"/>
            <a:ext cx="8229600" cy="274320"/>
          </a:xfrm>
          <a:prstGeom prst="rect">
            <a:avLst/>
          </a:prstGeom>
          <a:noFill/>
          <a:ln/>
        </p:spPr>
        <p:txBody>
          <a:bodyPr wrap="square" lIns="0" tIns="0" rIns="0" bIns="0" rtlCol="0" anchor="ctr"/>
          <a:lstStyle/>
          <a:p>
            <a:pPr indent="0" marL="0">
              <a:buNone/>
            </a:pPr>
            <a:r>
              <a:rPr lang="en-US" sz="1200" dirty="0">
                <a:solidFill>
                  <a:srgbClr val="B8D4E3"/>
                </a:solidFill>
                <a:latin typeface="Calibri" pitchFamily="34" charset="0"/>
                <a:ea typeface="Calibri" pitchFamily="34" charset="-122"/>
                <a:cs typeface="Calibri" pitchFamily="34" charset="-120"/>
              </a:rPr>
              <a:t>Average 28/40 Correct (70%) — But Danger Zones Exist</a:t>
            </a:r>
            <a:endParaRPr lang="en-US" sz="1200" dirty="0"/>
          </a:p>
        </p:txBody>
      </p:sp>
      <p:sp>
        <p:nvSpPr>
          <p:cNvPr id="7" name="Shape 5"/>
          <p:cNvSpPr/>
          <p:nvPr/>
        </p:nvSpPr>
        <p:spPr>
          <a:xfrm>
            <a:off x="457200" y="1234440"/>
            <a:ext cx="2286000" cy="1828800"/>
          </a:xfrm>
          <a:prstGeom prst="roundRect">
            <a:avLst>
              <a:gd name="adj" fmla="val 5000"/>
            </a:avLst>
          </a:prstGeom>
          <a:solidFill>
            <a:srgbClr val="FFFFFF"/>
          </a:solidFill>
          <a:ln/>
          <a:effectLst>
            <a:outerShdw sx="100000" sy="100000" kx="0" ky="0" algn="bl" rotWithShape="0" blurRad="101600" dist="25400" dir="8100000">
              <a:srgbClr val="000000">
                <a:alpha val="8000"/>
              </a:srgbClr>
            </a:outerShdw>
          </a:effectLst>
        </p:spPr>
      </p:sp>
      <p:sp>
        <p:nvSpPr>
          <p:cNvPr id="8" name="Text 6"/>
          <p:cNvSpPr/>
          <p:nvPr/>
        </p:nvSpPr>
        <p:spPr>
          <a:xfrm>
            <a:off x="457200" y="1325880"/>
            <a:ext cx="2286000" cy="914400"/>
          </a:xfrm>
          <a:prstGeom prst="rect">
            <a:avLst/>
          </a:prstGeom>
          <a:noFill/>
          <a:ln/>
        </p:spPr>
        <p:txBody>
          <a:bodyPr wrap="square" lIns="0" tIns="0" rIns="0" bIns="0" rtlCol="0" anchor="ctr"/>
          <a:lstStyle/>
          <a:p>
            <a:pPr algn="ctr" indent="0" marL="0">
              <a:buNone/>
            </a:pPr>
            <a:r>
              <a:rPr lang="en-US" sz="4200" dirty="0">
                <a:solidFill>
                  <a:srgbClr val="0C7C9B"/>
                </a:solidFill>
                <a:latin typeface="Trebuchet MS" pitchFamily="34" charset="0"/>
                <a:ea typeface="Trebuchet MS" pitchFamily="34" charset="-122"/>
                <a:cs typeface="Trebuchet MS" pitchFamily="34" charset="-120"/>
              </a:rPr>
              <a:t>28/40</a:t>
            </a:r>
            <a:endParaRPr lang="en-US" sz="4200" dirty="0"/>
          </a:p>
        </p:txBody>
      </p:sp>
      <p:sp>
        <p:nvSpPr>
          <p:cNvPr id="9" name="Text 7"/>
          <p:cNvSpPr/>
          <p:nvPr/>
        </p:nvSpPr>
        <p:spPr>
          <a:xfrm>
            <a:off x="457200" y="2240280"/>
            <a:ext cx="2286000" cy="640080"/>
          </a:xfrm>
          <a:prstGeom prst="rect">
            <a:avLst/>
          </a:prstGeom>
          <a:noFill/>
          <a:ln/>
        </p:spPr>
        <p:txBody>
          <a:bodyPr wrap="square" lIns="0" tIns="0" rIns="0" bIns="0" rtlCol="0" anchor="t"/>
          <a:lstStyle/>
          <a:p>
            <a:pPr algn="ctr" indent="0" marL="0">
              <a:lnSpc>
                <a:spcPts val="1400"/>
              </a:lnSpc>
              <a:buNone/>
            </a:pPr>
            <a:r>
              <a:rPr lang="en-US" sz="1000" dirty="0">
                <a:solidFill>
                  <a:srgbClr val="64748B"/>
                </a:solidFill>
                <a:latin typeface="Calibri" pitchFamily="34" charset="0"/>
                <a:ea typeface="Calibri" pitchFamily="34" charset="-122"/>
                <a:cs typeface="Calibri" pitchFamily="34" charset="-120"/>
              </a:rPr>
              <a:t>Average Correct</a:t>
            </a:r>
            <a:endParaRPr lang="en-US" sz="1000" dirty="0"/>
          </a:p>
          <a:p>
            <a:pPr algn="ctr" indent="0" marL="0">
              <a:lnSpc>
                <a:spcPts val="1400"/>
              </a:lnSpc>
              <a:buNone/>
            </a:pPr>
            <a:r>
              <a:rPr lang="en-US" sz="1000" dirty="0">
                <a:solidFill>
                  <a:srgbClr val="64748B"/>
                </a:solidFill>
                <a:latin typeface="Calibri" pitchFamily="34" charset="0"/>
                <a:ea typeface="Calibri" pitchFamily="34" charset="-122"/>
                <a:cs typeface="Calibri" pitchFamily="34" charset="-120"/>
              </a:rPr>
              <a:t>70% Facility Rate</a:t>
            </a:r>
            <a:endParaRPr lang="en-US" sz="1000" dirty="0"/>
          </a:p>
        </p:txBody>
      </p:sp>
      <p:graphicFrame>
        <p:nvGraphicFramePr>
          <p:cNvPr id="10" name="Chart 0" descr=""/>
          <p:cNvGraphicFramePr/>
          <p:nvPr/>
        </p:nvGraphicFramePr>
        <p:xfrm>
          <a:off x="3017520" y="1234440"/>
          <a:ext cx="5760720" cy="2286000"/>
        </p:xfrm>
        <a:graphic xmlns:a="http://schemas.openxmlformats.org/drawingml/2006/main">
          <a:graphicData uri="http://schemas.openxmlformats.org/drawingml/2006/chart">
            <c:chart xmlns:c="http://schemas.openxmlformats.org/drawingml/2006/chart" r:id="rId1"/>
          </a:graphicData>
        </a:graphic>
      </p:graphicFrame>
      <p:sp>
        <p:nvSpPr>
          <p:cNvPr id="11" name="Shape 8"/>
          <p:cNvSpPr/>
          <p:nvPr/>
        </p:nvSpPr>
        <p:spPr>
          <a:xfrm>
            <a:off x="457200" y="3703320"/>
            <a:ext cx="2651760" cy="640080"/>
          </a:xfrm>
          <a:prstGeom prst="roundRect">
            <a:avLst>
              <a:gd name="adj" fmla="val 8571"/>
            </a:avLst>
          </a:prstGeom>
          <a:solidFill>
            <a:srgbClr val="D1FAE5"/>
          </a:solidFill>
          <a:ln/>
        </p:spPr>
      </p:sp>
      <p:sp>
        <p:nvSpPr>
          <p:cNvPr id="12" name="Text 9"/>
          <p:cNvSpPr/>
          <p:nvPr/>
        </p:nvSpPr>
        <p:spPr>
          <a:xfrm>
            <a:off x="566928" y="3758184"/>
            <a:ext cx="2423160" cy="228600"/>
          </a:xfrm>
          <a:prstGeom prst="rect">
            <a:avLst/>
          </a:prstGeom>
          <a:noFill/>
          <a:ln/>
        </p:spPr>
        <p:txBody>
          <a:bodyPr wrap="square" lIns="0" tIns="0" rIns="0" bIns="0" rtlCol="0" anchor="ctr"/>
          <a:lstStyle/>
          <a:p>
            <a:pPr indent="0" marL="0">
              <a:buNone/>
            </a:pPr>
            <a:r>
              <a:rPr lang="en-US" sz="1000" dirty="0">
                <a:solidFill>
                  <a:srgbClr val="10B981"/>
                </a:solidFill>
                <a:latin typeface="Trebuchet MS" pitchFamily="34" charset="0"/>
                <a:ea typeface="Trebuchet MS" pitchFamily="34" charset="-122"/>
                <a:cs typeface="Trebuchet MS" pitchFamily="34" charset="-120"/>
              </a:rPr>
              <a:t>Strongest</a:t>
            </a:r>
            <a:endParaRPr lang="en-US" sz="1000" dirty="0"/>
          </a:p>
        </p:txBody>
      </p:sp>
      <p:sp>
        <p:nvSpPr>
          <p:cNvPr id="13" name="Text 10"/>
          <p:cNvSpPr/>
          <p:nvPr/>
        </p:nvSpPr>
        <p:spPr>
          <a:xfrm>
            <a:off x="566928" y="3995928"/>
            <a:ext cx="2423160" cy="274320"/>
          </a:xfrm>
          <a:prstGeom prst="rect">
            <a:avLst/>
          </a:prstGeom>
          <a:noFill/>
          <a:ln/>
        </p:spPr>
        <p:txBody>
          <a:bodyPr wrap="square" lIns="0" tIns="0" rIns="0" bIns="0" rtlCol="0" anchor="ctr"/>
          <a:lstStyle/>
          <a:p>
            <a:pPr indent="0" marL="0">
              <a:buNone/>
            </a:pPr>
            <a:r>
              <a:rPr lang="en-US" sz="850" dirty="0">
                <a:solidFill>
                  <a:srgbClr val="1E293B"/>
                </a:solidFill>
                <a:latin typeface="Calibri" pitchFamily="34" charset="0"/>
                <a:ea typeface="Calibri" pitchFamily="34" charset="-122"/>
                <a:cs typeface="Calibri" pitchFamily="34" charset="-120"/>
              </a:rPr>
              <a:t>Computational Thinking — Q38 at 65%</a:t>
            </a:r>
            <a:endParaRPr lang="en-US" sz="850" dirty="0"/>
          </a:p>
        </p:txBody>
      </p:sp>
      <p:sp>
        <p:nvSpPr>
          <p:cNvPr id="14" name="Shape 11"/>
          <p:cNvSpPr/>
          <p:nvPr/>
        </p:nvSpPr>
        <p:spPr>
          <a:xfrm>
            <a:off x="3291840" y="3703320"/>
            <a:ext cx="2651760" cy="640080"/>
          </a:xfrm>
          <a:prstGeom prst="roundRect">
            <a:avLst>
              <a:gd name="adj" fmla="val 8571"/>
            </a:avLst>
          </a:prstGeom>
          <a:solidFill>
            <a:srgbClr val="FEE2E2"/>
          </a:solidFill>
          <a:ln/>
        </p:spPr>
      </p:sp>
      <p:sp>
        <p:nvSpPr>
          <p:cNvPr id="15" name="Text 12"/>
          <p:cNvSpPr/>
          <p:nvPr/>
        </p:nvSpPr>
        <p:spPr>
          <a:xfrm>
            <a:off x="3401568" y="3758184"/>
            <a:ext cx="2423160" cy="228600"/>
          </a:xfrm>
          <a:prstGeom prst="rect">
            <a:avLst/>
          </a:prstGeom>
          <a:noFill/>
          <a:ln/>
        </p:spPr>
        <p:txBody>
          <a:bodyPr wrap="square" lIns="0" tIns="0" rIns="0" bIns="0" rtlCol="0" anchor="ctr"/>
          <a:lstStyle/>
          <a:p>
            <a:pPr indent="0" marL="0">
              <a:buNone/>
            </a:pPr>
            <a:r>
              <a:rPr lang="en-US" sz="1000" dirty="0">
                <a:solidFill>
                  <a:srgbClr val="EF4444"/>
                </a:solidFill>
                <a:latin typeface="Trebuchet MS" pitchFamily="34" charset="0"/>
                <a:ea typeface="Trebuchet MS" pitchFamily="34" charset="-122"/>
                <a:cs typeface="Trebuchet MS" pitchFamily="34" charset="-120"/>
              </a:rPr>
              <a:t>Weakest</a:t>
            </a:r>
            <a:endParaRPr lang="en-US" sz="1000" dirty="0"/>
          </a:p>
        </p:txBody>
      </p:sp>
      <p:sp>
        <p:nvSpPr>
          <p:cNvPr id="16" name="Text 13"/>
          <p:cNvSpPr/>
          <p:nvPr/>
        </p:nvSpPr>
        <p:spPr>
          <a:xfrm>
            <a:off x="3401568" y="3995928"/>
            <a:ext cx="2423160" cy="274320"/>
          </a:xfrm>
          <a:prstGeom prst="rect">
            <a:avLst/>
          </a:prstGeom>
          <a:noFill/>
          <a:ln/>
        </p:spPr>
        <p:txBody>
          <a:bodyPr wrap="square" lIns="0" tIns="0" rIns="0" bIns="0" rtlCol="0" anchor="ctr"/>
          <a:lstStyle/>
          <a:p>
            <a:pPr indent="0" marL="0">
              <a:buNone/>
            </a:pPr>
            <a:r>
              <a:rPr lang="en-US" sz="850" dirty="0">
                <a:solidFill>
                  <a:srgbClr val="1E293B"/>
                </a:solidFill>
                <a:latin typeface="Calibri" pitchFamily="34" charset="0"/>
                <a:ea typeface="Calibri" pitchFamily="34" charset="-122"/>
                <a:cs typeface="Calibri" pitchFamily="34" charset="-120"/>
              </a:rPr>
              <a:t>Internet &amp; Apps — Q18 at 44%, Q24 at 49%</a:t>
            </a:r>
            <a:endParaRPr lang="en-US" sz="850" dirty="0"/>
          </a:p>
        </p:txBody>
      </p:sp>
      <p:sp>
        <p:nvSpPr>
          <p:cNvPr id="17" name="Shape 14"/>
          <p:cNvSpPr/>
          <p:nvPr/>
        </p:nvSpPr>
        <p:spPr>
          <a:xfrm>
            <a:off x="6126480" y="3703320"/>
            <a:ext cx="2651760" cy="640080"/>
          </a:xfrm>
          <a:prstGeom prst="roundRect">
            <a:avLst>
              <a:gd name="adj" fmla="val 8571"/>
            </a:avLst>
          </a:prstGeom>
          <a:solidFill>
            <a:srgbClr val="FEF3C7"/>
          </a:solidFill>
          <a:ln/>
        </p:spPr>
      </p:sp>
      <p:sp>
        <p:nvSpPr>
          <p:cNvPr id="18" name="Text 15"/>
          <p:cNvSpPr/>
          <p:nvPr/>
        </p:nvSpPr>
        <p:spPr>
          <a:xfrm>
            <a:off x="6236208" y="3758184"/>
            <a:ext cx="2423160" cy="228600"/>
          </a:xfrm>
          <a:prstGeom prst="rect">
            <a:avLst/>
          </a:prstGeom>
          <a:noFill/>
          <a:ln/>
        </p:spPr>
        <p:txBody>
          <a:bodyPr wrap="square" lIns="0" tIns="0" rIns="0" bIns="0" rtlCol="0" anchor="ctr"/>
          <a:lstStyle/>
          <a:p>
            <a:pPr indent="0" marL="0">
              <a:buNone/>
            </a:pPr>
            <a:r>
              <a:rPr lang="en-US" sz="1000" dirty="0">
                <a:solidFill>
                  <a:srgbClr val="F59E0B"/>
                </a:solidFill>
                <a:latin typeface="Trebuchet MS" pitchFamily="34" charset="0"/>
                <a:ea typeface="Trebuchet MS" pitchFamily="34" charset="-122"/>
                <a:cs typeface="Trebuchet MS" pitchFamily="34" charset="-120"/>
              </a:rPr>
              <a:t>6 Flagged Qs</a:t>
            </a:r>
            <a:endParaRPr lang="en-US" sz="1000" dirty="0"/>
          </a:p>
        </p:txBody>
      </p:sp>
      <p:sp>
        <p:nvSpPr>
          <p:cNvPr id="19" name="Text 16"/>
          <p:cNvSpPr/>
          <p:nvPr/>
        </p:nvSpPr>
        <p:spPr>
          <a:xfrm>
            <a:off x="6236208" y="3995928"/>
            <a:ext cx="2423160" cy="274320"/>
          </a:xfrm>
          <a:prstGeom prst="rect">
            <a:avLst/>
          </a:prstGeom>
          <a:noFill/>
          <a:ln/>
        </p:spPr>
        <p:txBody>
          <a:bodyPr wrap="square" lIns="0" tIns="0" rIns="0" bIns="0" rtlCol="0" anchor="ctr"/>
          <a:lstStyle/>
          <a:p>
            <a:pPr indent="0" marL="0">
              <a:buNone/>
            </a:pPr>
            <a:r>
              <a:rPr lang="en-US" sz="850" dirty="0">
                <a:solidFill>
                  <a:srgbClr val="1E293B"/>
                </a:solidFill>
                <a:latin typeface="Calibri" pitchFamily="34" charset="0"/>
                <a:ea typeface="Calibri" pitchFamily="34" charset="-122"/>
                <a:cs typeface="Calibri" pitchFamily="34" charset="-120"/>
              </a:rPr>
              <a:t>Averaged ~51% vs 70% paper average</a:t>
            </a:r>
            <a:endParaRPr lang="en-US" sz="850" dirty="0"/>
          </a:p>
        </p:txBody>
      </p:sp>
      <p:sp>
        <p:nvSpPr>
          <p:cNvPr id="20" name="Shape 17"/>
          <p:cNvSpPr/>
          <p:nvPr/>
        </p:nvSpPr>
        <p:spPr>
          <a:xfrm>
            <a:off x="0" y="4800600"/>
            <a:ext cx="9144000" cy="342900"/>
          </a:xfrm>
          <a:prstGeom prst="rect">
            <a:avLst/>
          </a:prstGeom>
          <a:solidFill>
            <a:srgbClr val="E2E8F0"/>
          </a:solidFill>
          <a:ln/>
        </p:spPr>
      </p:sp>
      <p:sp>
        <p:nvSpPr>
          <p:cNvPr id="21" name="Text 18"/>
          <p:cNvSpPr/>
          <p:nvPr/>
        </p:nvSpPr>
        <p:spPr>
          <a:xfrm>
            <a:off x="457200" y="4818888"/>
            <a:ext cx="4572000" cy="274320"/>
          </a:xfrm>
          <a:prstGeom prst="rect">
            <a:avLst/>
          </a:prstGeom>
          <a:noFill/>
          <a:ln/>
        </p:spPr>
        <p:txBody>
          <a:bodyPr wrap="square" lIns="0" tIns="0" rIns="0" bIns="0" rtlCol="0" anchor="ctr"/>
          <a:lstStyle/>
          <a:p>
            <a:pPr indent="0" marL="0">
              <a:buNone/>
            </a:pPr>
            <a:r>
              <a:rPr lang="en-US" sz="700" dirty="0">
                <a:solidFill>
                  <a:srgbClr val="94A3B8"/>
                </a:solidFill>
                <a:latin typeface="Calibri" pitchFamily="34" charset="0"/>
                <a:ea typeface="Calibri" pitchFamily="34" charset="-122"/>
                <a:cs typeface="Calibri" pitchFamily="34" charset="-120"/>
              </a:rPr>
              <a:t>HKDSE ICT 2025 Exam Skills Masterclass</a:t>
            </a:r>
            <a:endParaRPr lang="en-US" sz="700" dirty="0"/>
          </a:p>
        </p:txBody>
      </p:sp>
      <p:sp>
        <p:nvSpPr>
          <p:cNvPr id="25" name="Slide Number Placeholder 0"/>
          <p:cNvSpPr>
            <a:spLocks noGrp="1"/>
          </p:cNvSpPr>
          <p:nvPr>
            <p:ph type="sldNum" sz="quarter" idx="4294967295"/>
          </p:nvPr>
        </p:nvSpPr>
        <p:spPr>
          <a:xfrm>
            <a:off x="8503920" y="4886325"/>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7F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1628"/>
          </a:solidFill>
          <a:ln/>
        </p:spPr>
      </p:sp>
      <p:sp>
        <p:nvSpPr>
          <p:cNvPr id="3" name="Shape 1"/>
          <p:cNvSpPr/>
          <p:nvPr/>
        </p:nvSpPr>
        <p:spPr>
          <a:xfrm>
            <a:off x="457200" y="18288"/>
            <a:ext cx="777240" cy="256032"/>
          </a:xfrm>
          <a:prstGeom prst="roundRect">
            <a:avLst>
              <a:gd name="adj" fmla="val 14286"/>
            </a:avLst>
          </a:prstGeom>
          <a:solidFill>
            <a:srgbClr val="3B82F6"/>
          </a:solidFill>
          <a:ln/>
        </p:spPr>
      </p:sp>
      <p:sp>
        <p:nvSpPr>
          <p:cNvPr id="4" name="Text 2"/>
          <p:cNvSpPr/>
          <p:nvPr/>
        </p:nvSpPr>
        <p:spPr>
          <a:xfrm>
            <a:off x="548640" y="18288"/>
            <a:ext cx="594360" cy="256032"/>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PAPER 1A</a:t>
            </a:r>
            <a:endParaRPr lang="en-US" sz="900" dirty="0"/>
          </a:p>
        </p:txBody>
      </p:sp>
      <p:pic>
        <p:nvPicPr>
          <p:cNvPr id="5" name="Image 0" descr="icon_32.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321040" y="228600"/>
            <a:ext cx="320040" cy="320040"/>
          </a:xfrm>
          <a:prstGeom prst="rect">
            <a:avLst/>
          </a:prstGeom>
        </p:spPr>
      </p:pic>
      <p:sp>
        <p:nvSpPr>
          <p:cNvPr id="6" name="Text 3"/>
          <p:cNvSpPr/>
          <p:nvPr/>
        </p:nvSpPr>
        <p:spPr>
          <a:xfrm>
            <a:off x="457200" y="182880"/>
            <a:ext cx="7772400" cy="502920"/>
          </a:xfrm>
          <a:prstGeom prst="rect">
            <a:avLst/>
          </a:prstGeom>
          <a:noFill/>
          <a:ln/>
        </p:spPr>
        <p:txBody>
          <a:bodyPr wrap="square" lIns="0" tIns="0" rIns="0" bIns="0" rtlCol="0" anchor="ctr"/>
          <a:lstStyle/>
          <a:p>
            <a:pPr indent="0" marL="0">
              <a:buNone/>
            </a:pPr>
            <a:r>
              <a:rPr lang="en-US" sz="2200" dirty="0">
                <a:solidFill>
                  <a:srgbClr val="FFFFFF"/>
                </a:solidFill>
                <a:latin typeface="Trebuchet MS" pitchFamily="34" charset="0"/>
                <a:ea typeface="Trebuchet MS" pitchFamily="34" charset="-122"/>
                <a:cs typeface="Trebuchet MS" pitchFamily="34" charset="-120"/>
              </a:rPr>
              <a:t>Paper 1A: The Danger Zone Questions</a:t>
            </a:r>
            <a:endParaRPr lang="en-US" sz="2200" dirty="0"/>
          </a:p>
        </p:txBody>
      </p:sp>
      <p:sp>
        <p:nvSpPr>
          <p:cNvPr id="7" name="Text 4"/>
          <p:cNvSpPr/>
          <p:nvPr/>
        </p:nvSpPr>
        <p:spPr>
          <a:xfrm>
            <a:off x="457200" y="594360"/>
            <a:ext cx="8229600" cy="274320"/>
          </a:xfrm>
          <a:prstGeom prst="rect">
            <a:avLst/>
          </a:prstGeom>
          <a:noFill/>
          <a:ln/>
        </p:spPr>
        <p:txBody>
          <a:bodyPr wrap="square" lIns="0" tIns="0" rIns="0" bIns="0" rtlCol="0" anchor="ctr"/>
          <a:lstStyle/>
          <a:p>
            <a:pPr indent="0" marL="0">
              <a:buNone/>
            </a:pPr>
            <a:r>
              <a:rPr lang="en-US" sz="1200" dirty="0">
                <a:solidFill>
                  <a:srgbClr val="B8D4E3"/>
                </a:solidFill>
                <a:latin typeface="Calibri" pitchFamily="34" charset="0"/>
                <a:ea typeface="Calibri" pitchFamily="34" charset="-122"/>
                <a:cs typeface="Calibri" pitchFamily="34" charset="-120"/>
              </a:rPr>
              <a:t>Where More Than Half the Candidates Got It Wrong</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731520"/>
                <a:gridCol w="1371600"/>
                <a:gridCol w="914400"/>
                <a:gridCol w="5212080"/>
              </a:tblGrid>
              <a:tr h="320040">
                <a:tc>
                  <a:txBody>
                    <a:bodyPr/>
                    <a:lstStyle/>
                    <a:p>
                      <a:pPr algn="ctr" indent="0" marL="0">
                        <a:buNone/>
                      </a:pPr>
                      <a:r>
                        <a:rPr lang="en-US" sz="900" dirty="0">
                          <a:solidFill>
                            <a:srgbClr val="FFFFFF"/>
                          </a:solidFill>
                          <a:latin typeface="Trebuchet MS" pitchFamily="34" charset="0"/>
                          <a:ea typeface="Trebuchet MS" pitchFamily="34" charset="-122"/>
                          <a:cs typeface="Trebuchet MS" pitchFamily="34" charset="-120"/>
                        </a:rPr>
                        <a:t>Question</a:t>
                      </a:r>
                      <a:endParaRPr lang="en-US" sz="900" dirty="0">
                        <a:latin typeface="Trebuchet MS" charset="0"/>
                        <a:ea typeface="Trebuchet MS" charset="0"/>
                        <a:cs typeface="Trebuchet MS"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4444"/>
                    </a:solidFill>
                  </a:tcPr>
                </a:tc>
                <a:tc>
                  <a:txBody>
                    <a:bodyPr/>
                    <a:lstStyle/>
                    <a:p>
                      <a:pPr algn="ctr" indent="0" marL="0">
                        <a:buNone/>
                      </a:pPr>
                      <a:r>
                        <a:rPr lang="en-US" sz="900" dirty="0">
                          <a:solidFill>
                            <a:srgbClr val="FFFFFF"/>
                          </a:solidFill>
                          <a:latin typeface="Trebuchet MS" pitchFamily="34" charset="0"/>
                          <a:ea typeface="Trebuchet MS" pitchFamily="34" charset="-122"/>
                          <a:cs typeface="Trebuchet MS" pitchFamily="34" charset="-120"/>
                        </a:rPr>
                        <a:t>Topic</a:t>
                      </a:r>
                      <a:endParaRPr lang="en-US" sz="900" dirty="0">
                        <a:latin typeface="Trebuchet MS" charset="0"/>
                        <a:ea typeface="Trebuchet MS" charset="0"/>
                        <a:cs typeface="Trebuchet MS"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4444"/>
                    </a:solidFill>
                  </a:tcPr>
                </a:tc>
                <a:tc>
                  <a:txBody>
                    <a:bodyPr/>
                    <a:lstStyle/>
                    <a:p>
                      <a:pPr algn="ctr" indent="0" marL="0">
                        <a:buNone/>
                      </a:pPr>
                      <a:r>
                        <a:rPr lang="en-US" sz="900" dirty="0">
                          <a:solidFill>
                            <a:srgbClr val="FFFFFF"/>
                          </a:solidFill>
                          <a:latin typeface="Trebuchet MS" pitchFamily="34" charset="0"/>
                          <a:ea typeface="Trebuchet MS" pitchFamily="34" charset="-122"/>
                          <a:cs typeface="Trebuchet MS" pitchFamily="34" charset="-120"/>
                        </a:rPr>
                        <a:t>% Correct</a:t>
                      </a:r>
                      <a:endParaRPr lang="en-US" sz="900" dirty="0">
                        <a:latin typeface="Trebuchet MS" charset="0"/>
                        <a:ea typeface="Trebuchet MS" charset="0"/>
                        <a:cs typeface="Trebuchet MS"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4444"/>
                    </a:solidFill>
                  </a:tcPr>
                </a:tc>
                <a:tc>
                  <a:txBody>
                    <a:bodyPr/>
                    <a:lstStyle/>
                    <a:p>
                      <a:pPr algn="ctr" indent="0" marL="0">
                        <a:buNone/>
                      </a:pPr>
                      <a:r>
                        <a:rPr lang="en-US" sz="900" dirty="0">
                          <a:solidFill>
                            <a:srgbClr val="FFFFFF"/>
                          </a:solidFill>
                          <a:latin typeface="Trebuchet MS" pitchFamily="34" charset="0"/>
                          <a:ea typeface="Trebuchet MS" pitchFamily="34" charset="-122"/>
                          <a:cs typeface="Trebuchet MS" pitchFamily="34" charset="-120"/>
                        </a:rPr>
                        <a:t>Key Error</a:t>
                      </a:r>
                      <a:endParaRPr lang="en-US" sz="900" dirty="0">
                        <a:latin typeface="Trebuchet MS" charset="0"/>
                        <a:ea typeface="Trebuchet MS" charset="0"/>
                        <a:cs typeface="Trebuchet MS"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4444"/>
                    </a:solidFill>
                  </a:tcPr>
                </a:tc>
              </a:tr>
              <a:tr h="502920">
                <a:tc>
                  <a:txBody>
                    <a:bodyPr/>
                    <a:lstStyle/>
                    <a:p>
                      <a:pPr algn="ctr" indent="0" marL="0">
                        <a:buNone/>
                      </a:pPr>
                      <a:r>
                        <a:rPr lang="en-US" sz="900" dirty="0">
                          <a:solidFill>
                            <a:srgbClr val="1E293B"/>
                          </a:solidFill>
                          <a:latin typeface="Calibri" pitchFamily="34" charset="0"/>
                          <a:ea typeface="Calibri" pitchFamily="34" charset="-122"/>
                          <a:cs typeface="Calibri" pitchFamily="34" charset="-120"/>
                        </a:rPr>
                        <a:t>Q18</a:t>
                      </a:r>
                      <a:endParaRPr lang="en-US" sz="9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IPv4 Addresses</a:t>
                      </a:r>
                      <a:endParaRPr lang="en-US" sz="9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400" dirty="0">
                          <a:solidFill>
                            <a:srgbClr val="EF4444"/>
                          </a:solidFill>
                          <a:latin typeface="Trebuchet MS" pitchFamily="34" charset="0"/>
                          <a:ea typeface="Trebuchet MS" pitchFamily="34" charset="-122"/>
                          <a:cs typeface="Trebuchet MS" pitchFamily="34" charset="-120"/>
                        </a:rPr>
                        <a:t>44%</a:t>
                      </a:r>
                      <a:endParaRPr lang="en-US" sz="1400" dirty="0">
                        <a:latin typeface="Trebuchet MS" charset="0"/>
                        <a:ea typeface="Trebuchet MS" charset="0"/>
                        <a:cs typeface="Trebuchet MS"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50% accepted invalid addresses with values 256 or 512</a:t>
                      </a:r>
                      <a:endParaRPr lang="en-US" sz="9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502920">
                <a:tc>
                  <a:txBody>
                    <a:bodyPr/>
                    <a:lstStyle/>
                    <a:p>
                      <a:pPr algn="ctr" indent="0" marL="0">
                        <a:buNone/>
                      </a:pPr>
                      <a:r>
                        <a:rPr lang="en-US" sz="900" dirty="0">
                          <a:solidFill>
                            <a:srgbClr val="1E293B"/>
                          </a:solidFill>
                          <a:latin typeface="Calibri" pitchFamily="34" charset="0"/>
                          <a:ea typeface="Calibri" pitchFamily="34" charset="-122"/>
                          <a:cs typeface="Calibri" pitchFamily="34" charset="-120"/>
                        </a:rPr>
                        <a:t>Q12</a:t>
                      </a:r>
                      <a:endParaRPr lang="en-US" sz="9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DFA"/>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OS Functions</a:t>
                      </a:r>
                      <a:endParaRPr lang="en-US" sz="9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DFA"/>
                    </a:solidFill>
                  </a:tcPr>
                </a:tc>
                <a:tc>
                  <a:txBody>
                    <a:bodyPr/>
                    <a:lstStyle/>
                    <a:p>
                      <a:pPr algn="ctr" indent="0" marL="0">
                        <a:buNone/>
                      </a:pPr>
                      <a:r>
                        <a:rPr lang="en-US" sz="1400" dirty="0">
                          <a:solidFill>
                            <a:srgbClr val="EF4444"/>
                          </a:solidFill>
                          <a:latin typeface="Trebuchet MS" pitchFamily="34" charset="0"/>
                          <a:ea typeface="Trebuchet MS" pitchFamily="34" charset="-122"/>
                          <a:cs typeface="Trebuchet MS" pitchFamily="34" charset="-120"/>
                        </a:rPr>
                        <a:t>45%</a:t>
                      </a:r>
                      <a:endParaRPr lang="en-US" sz="1400" dirty="0">
                        <a:latin typeface="Trebuchet MS" charset="0"/>
                        <a:ea typeface="Trebuchet MS" charset="0"/>
                        <a:cs typeface="Trebuchet MS"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DFA"/>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36% excluded memory management as an OS function</a:t>
                      </a:r>
                      <a:endParaRPr lang="en-US" sz="9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DFA"/>
                    </a:solidFill>
                  </a:tcPr>
                </a:tc>
              </a:tr>
              <a:tr h="502920">
                <a:tc>
                  <a:txBody>
                    <a:bodyPr/>
                    <a:lstStyle/>
                    <a:p>
                      <a:pPr algn="ctr" indent="0" marL="0">
                        <a:buNone/>
                      </a:pPr>
                      <a:r>
                        <a:rPr lang="en-US" sz="900" dirty="0">
                          <a:solidFill>
                            <a:srgbClr val="1E293B"/>
                          </a:solidFill>
                          <a:latin typeface="Calibri" pitchFamily="34" charset="0"/>
                          <a:ea typeface="Calibri" pitchFamily="34" charset="-122"/>
                          <a:cs typeface="Calibri" pitchFamily="34" charset="-120"/>
                        </a:rPr>
                        <a:t>Q24</a:t>
                      </a:r>
                      <a:endParaRPr lang="en-US" sz="9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TCP/IP Routing</a:t>
                      </a:r>
                      <a:endParaRPr lang="en-US" sz="9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400" dirty="0">
                          <a:solidFill>
                            <a:srgbClr val="D97706"/>
                          </a:solidFill>
                          <a:latin typeface="Trebuchet MS" pitchFamily="34" charset="0"/>
                          <a:ea typeface="Trebuchet MS" pitchFamily="34" charset="-122"/>
                          <a:cs typeface="Trebuchet MS" pitchFamily="34" charset="-120"/>
                        </a:rPr>
                        <a:t>49%</a:t>
                      </a:r>
                      <a:endParaRPr lang="en-US" sz="1400" dirty="0">
                        <a:latin typeface="Trebuchet MS" charset="0"/>
                        <a:ea typeface="Trebuchet MS" charset="0"/>
                        <a:cs typeface="Trebuchet MS"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26% confused packet switching with circuit switching</a:t>
                      </a:r>
                      <a:endParaRPr lang="en-US" sz="9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502920">
                <a:tc>
                  <a:txBody>
                    <a:bodyPr/>
                    <a:lstStyle/>
                    <a:p>
                      <a:pPr algn="ctr" indent="0" marL="0">
                        <a:buNone/>
                      </a:pPr>
                      <a:r>
                        <a:rPr lang="en-US" sz="900" dirty="0">
                          <a:solidFill>
                            <a:srgbClr val="1E293B"/>
                          </a:solidFill>
                          <a:latin typeface="Calibri" pitchFamily="34" charset="0"/>
                          <a:ea typeface="Calibri" pitchFamily="34" charset="-122"/>
                          <a:cs typeface="Calibri" pitchFamily="34" charset="-120"/>
                        </a:rPr>
                        <a:t>Q13</a:t>
                      </a:r>
                      <a:endParaRPr lang="en-US" sz="9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DFA"/>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Virtualisation</a:t>
                      </a:r>
                      <a:endParaRPr lang="en-US" sz="9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DFA"/>
                    </a:solidFill>
                  </a:tcPr>
                </a:tc>
                <a:tc>
                  <a:txBody>
                    <a:bodyPr/>
                    <a:lstStyle/>
                    <a:p>
                      <a:pPr algn="ctr" indent="0" marL="0">
                        <a:buNone/>
                      </a:pPr>
                      <a:r>
                        <a:rPr lang="en-US" sz="1400" dirty="0">
                          <a:solidFill>
                            <a:srgbClr val="F59E0B"/>
                          </a:solidFill>
                          <a:latin typeface="Trebuchet MS" pitchFamily="34" charset="0"/>
                          <a:ea typeface="Trebuchet MS" pitchFamily="34" charset="-122"/>
                          <a:cs typeface="Trebuchet MS" pitchFamily="34" charset="-120"/>
                        </a:rPr>
                        <a:t>52%</a:t>
                      </a:r>
                      <a:endParaRPr lang="en-US" sz="1400" dirty="0">
                        <a:latin typeface="Trebuchet MS" charset="0"/>
                        <a:ea typeface="Trebuchet MS" charset="0"/>
                        <a:cs typeface="Trebuchet MS"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DFA"/>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24% confused virtualisation with RAID storage aggregation</a:t>
                      </a:r>
                      <a:endParaRPr lang="en-US" sz="9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DFA"/>
                    </a:solidFill>
                  </a:tcPr>
                </a:tc>
              </a:tr>
              <a:tr h="502920">
                <a:tc>
                  <a:txBody>
                    <a:bodyPr/>
                    <a:lstStyle/>
                    <a:p>
                      <a:pPr algn="ctr" indent="0" marL="0">
                        <a:buNone/>
                      </a:pPr>
                      <a:r>
                        <a:rPr lang="en-US" sz="900" dirty="0">
                          <a:solidFill>
                            <a:srgbClr val="1E293B"/>
                          </a:solidFill>
                          <a:latin typeface="Calibri" pitchFamily="34" charset="0"/>
                          <a:ea typeface="Calibri" pitchFamily="34" charset="-122"/>
                          <a:cs typeface="Calibri" pitchFamily="34" charset="-120"/>
                        </a:rPr>
                        <a:t>Q9</a:t>
                      </a:r>
                      <a:endParaRPr lang="en-US" sz="9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File Formats</a:t>
                      </a:r>
                      <a:endParaRPr lang="en-US" sz="9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400" dirty="0">
                          <a:solidFill>
                            <a:srgbClr val="F59E0B"/>
                          </a:solidFill>
                          <a:latin typeface="Trebuchet MS" pitchFamily="34" charset="0"/>
                          <a:ea typeface="Trebuchet MS" pitchFamily="34" charset="-122"/>
                          <a:cs typeface="Trebuchet MS" pitchFamily="34" charset="-120"/>
                        </a:rPr>
                        <a:t>52%</a:t>
                      </a:r>
                      <a:endParaRPr lang="en-US" sz="1400" dirty="0">
                        <a:latin typeface="Trebuchet MS" charset="0"/>
                        <a:ea typeface="Trebuchet MS" charset="0"/>
                        <a:cs typeface="Trebuchet MS"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20% thought PDF has smaller file size than HTML</a:t>
                      </a:r>
                      <a:endParaRPr lang="en-US" sz="9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bl>
          </a:graphicData>
        </a:graphic>
      </p:graphicFrame>
      <p:sp>
        <p:nvSpPr>
          <p:cNvPr id="9" name="Shape 5"/>
          <p:cNvSpPr/>
          <p:nvPr/>
        </p:nvSpPr>
        <p:spPr>
          <a:xfrm>
            <a:off x="0" y="4800600"/>
            <a:ext cx="9144000" cy="342900"/>
          </a:xfrm>
          <a:prstGeom prst="rect">
            <a:avLst/>
          </a:prstGeom>
          <a:solidFill>
            <a:srgbClr val="E2E8F0"/>
          </a:solidFill>
          <a:ln/>
        </p:spPr>
      </p:sp>
      <p:sp>
        <p:nvSpPr>
          <p:cNvPr id="10" name="Text 6"/>
          <p:cNvSpPr/>
          <p:nvPr/>
        </p:nvSpPr>
        <p:spPr>
          <a:xfrm>
            <a:off x="457200" y="4818888"/>
            <a:ext cx="4572000" cy="274320"/>
          </a:xfrm>
          <a:prstGeom prst="rect">
            <a:avLst/>
          </a:prstGeom>
          <a:noFill/>
          <a:ln/>
        </p:spPr>
        <p:txBody>
          <a:bodyPr wrap="square" lIns="0" tIns="0" rIns="0" bIns="0" rtlCol="0" anchor="ctr"/>
          <a:lstStyle/>
          <a:p>
            <a:pPr indent="0" marL="0">
              <a:buNone/>
            </a:pPr>
            <a:r>
              <a:rPr lang="en-US" sz="700" dirty="0">
                <a:solidFill>
                  <a:srgbClr val="94A3B8"/>
                </a:solidFill>
                <a:latin typeface="Calibri" pitchFamily="34" charset="0"/>
                <a:ea typeface="Calibri" pitchFamily="34" charset="-122"/>
                <a:cs typeface="Calibri" pitchFamily="34" charset="-120"/>
              </a:rPr>
              <a:t>HKDSE ICT 2025 Exam Skills Masterclass</a:t>
            </a:r>
            <a:endParaRPr lang="en-US" sz="700" dirty="0"/>
          </a:p>
        </p:txBody>
      </p:sp>
      <p:sp>
        <p:nvSpPr>
          <p:cNvPr id="25" name="Slide Number Placeholder 0"/>
          <p:cNvSpPr>
            <a:spLocks noGrp="1"/>
          </p:cNvSpPr>
          <p:nvPr>
            <p:ph type="sldNum" sz="quarter" idx="4294967295"/>
          </p:nvPr>
        </p:nvSpPr>
        <p:spPr>
          <a:xfrm>
            <a:off x="8503920" y="4886325"/>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7F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1628"/>
          </a:solidFill>
          <a:ln/>
        </p:spPr>
      </p:sp>
      <p:sp>
        <p:nvSpPr>
          <p:cNvPr id="3" name="Shape 1"/>
          <p:cNvSpPr/>
          <p:nvPr/>
        </p:nvSpPr>
        <p:spPr>
          <a:xfrm>
            <a:off x="457200" y="18288"/>
            <a:ext cx="777240" cy="256032"/>
          </a:xfrm>
          <a:prstGeom prst="roundRect">
            <a:avLst>
              <a:gd name="adj" fmla="val 14286"/>
            </a:avLst>
          </a:prstGeom>
          <a:solidFill>
            <a:srgbClr val="3B82F6"/>
          </a:solidFill>
          <a:ln/>
        </p:spPr>
      </p:sp>
      <p:sp>
        <p:nvSpPr>
          <p:cNvPr id="4" name="Text 2"/>
          <p:cNvSpPr/>
          <p:nvPr/>
        </p:nvSpPr>
        <p:spPr>
          <a:xfrm>
            <a:off x="548640" y="18288"/>
            <a:ext cx="594360" cy="256032"/>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PAPER 1A</a:t>
            </a:r>
            <a:endParaRPr lang="en-US" sz="900" dirty="0"/>
          </a:p>
        </p:txBody>
      </p:sp>
      <p:pic>
        <p:nvPicPr>
          <p:cNvPr id="5" name="Image 0" descr="icon_33.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321040" y="228600"/>
            <a:ext cx="320040" cy="320040"/>
          </a:xfrm>
          <a:prstGeom prst="rect">
            <a:avLst/>
          </a:prstGeom>
        </p:spPr>
      </p:pic>
      <p:sp>
        <p:nvSpPr>
          <p:cNvPr id="6" name="Text 3"/>
          <p:cNvSpPr/>
          <p:nvPr/>
        </p:nvSpPr>
        <p:spPr>
          <a:xfrm>
            <a:off x="457200" y="182880"/>
            <a:ext cx="7772400" cy="502920"/>
          </a:xfrm>
          <a:prstGeom prst="rect">
            <a:avLst/>
          </a:prstGeom>
          <a:noFill/>
          <a:ln/>
        </p:spPr>
        <p:txBody>
          <a:bodyPr wrap="square" lIns="0" tIns="0" rIns="0" bIns="0" rtlCol="0" anchor="ctr"/>
          <a:lstStyle/>
          <a:p>
            <a:pPr indent="0" marL="0">
              <a:buNone/>
            </a:pPr>
            <a:r>
              <a:rPr lang="en-US" sz="2200" dirty="0">
                <a:solidFill>
                  <a:srgbClr val="FFFFFF"/>
                </a:solidFill>
                <a:latin typeface="Trebuchet MS" pitchFamily="34" charset="0"/>
                <a:ea typeface="Trebuchet MS" pitchFamily="34" charset="-122"/>
                <a:cs typeface="Trebuchet MS" pitchFamily="34" charset="-120"/>
              </a:rPr>
              <a:t>Paper 1A: Five Misconceptions You Must Fix</a:t>
            </a:r>
            <a:endParaRPr lang="en-US" sz="2200" dirty="0"/>
          </a:p>
        </p:txBody>
      </p:sp>
      <p:sp>
        <p:nvSpPr>
          <p:cNvPr id="7" name="Text 4"/>
          <p:cNvSpPr/>
          <p:nvPr/>
        </p:nvSpPr>
        <p:spPr>
          <a:xfrm>
            <a:off x="457200" y="594360"/>
            <a:ext cx="8229600" cy="274320"/>
          </a:xfrm>
          <a:prstGeom prst="rect">
            <a:avLst/>
          </a:prstGeom>
          <a:noFill/>
          <a:ln/>
        </p:spPr>
        <p:txBody>
          <a:bodyPr wrap="square" lIns="0" tIns="0" rIns="0" bIns="0" rtlCol="0" anchor="ctr"/>
          <a:lstStyle/>
          <a:p>
            <a:pPr indent="0" marL="0">
              <a:buNone/>
            </a:pPr>
            <a:r>
              <a:rPr lang="en-US" sz="1200" dirty="0">
                <a:solidFill>
                  <a:srgbClr val="B8D4E3"/>
                </a:solidFill>
                <a:latin typeface="Calibri" pitchFamily="34" charset="0"/>
                <a:ea typeface="Calibri" pitchFamily="34" charset="-122"/>
                <a:cs typeface="Calibri" pitchFamily="34" charset="-120"/>
              </a:rPr>
              <a:t>The Conceptual Traps That Cost Marks Every Year</a:t>
            </a:r>
            <a:endParaRPr lang="en-US" sz="1200" dirty="0"/>
          </a:p>
        </p:txBody>
      </p:sp>
      <p:sp>
        <p:nvSpPr>
          <p:cNvPr id="8" name="Shape 5"/>
          <p:cNvSpPr/>
          <p:nvPr/>
        </p:nvSpPr>
        <p:spPr>
          <a:xfrm>
            <a:off x="457200" y="1188720"/>
            <a:ext cx="8229600" cy="566928"/>
          </a:xfrm>
          <a:prstGeom prst="roundRect">
            <a:avLst>
              <a:gd name="adj" fmla="val 9677"/>
            </a:avLst>
          </a:prstGeom>
          <a:solidFill>
            <a:srgbClr val="FFFFFF"/>
          </a:solidFill>
          <a:ln/>
          <a:effectLst>
            <a:outerShdw sx="100000" sy="100000" kx="0" ky="0" algn="bl" rotWithShape="0" blurRad="101600" dist="25400" dir="8100000">
              <a:srgbClr val="000000">
                <a:alpha val="8000"/>
              </a:srgbClr>
            </a:outerShdw>
          </a:effectLst>
        </p:spPr>
      </p:sp>
      <p:sp>
        <p:nvSpPr>
          <p:cNvPr id="9" name="Text 6"/>
          <p:cNvSpPr/>
          <p:nvPr/>
        </p:nvSpPr>
        <p:spPr>
          <a:xfrm>
            <a:off x="594360" y="1243584"/>
            <a:ext cx="1371600" cy="201168"/>
          </a:xfrm>
          <a:prstGeom prst="roundRect">
            <a:avLst>
              <a:gd name="adj" fmla="val 18182"/>
            </a:avLst>
          </a:prstGeom>
          <a:solidFill>
            <a:srgbClr val="0C7C9B"/>
          </a:solidFill>
          <a:ln/>
        </p:spPr>
        <p:txBody>
          <a:bodyPr wrap="square" lIns="0" tIns="0" rIns="0" bIns="0" rtlCol="0" anchor="ctr"/>
          <a:lstStyle/>
          <a:p>
            <a:pPr algn="ctr" indent="0" marL="0">
              <a:buNone/>
            </a:pPr>
            <a:r>
              <a:rPr lang="en-US" sz="800" dirty="0">
                <a:solidFill>
                  <a:srgbClr val="FFFFFF"/>
                </a:solidFill>
                <a:latin typeface="Trebuchet MS" pitchFamily="34" charset="0"/>
                <a:ea typeface="Trebuchet MS" pitchFamily="34" charset="-122"/>
                <a:cs typeface="Trebuchet MS" pitchFamily="34" charset="-120"/>
              </a:rPr>
              <a:t>PDF vs HTML</a:t>
            </a:r>
            <a:endParaRPr lang="en-US" sz="800" dirty="0"/>
          </a:p>
        </p:txBody>
      </p:sp>
      <p:pic>
        <p:nvPicPr>
          <p:cNvPr id="10" name="Image 1" descr="icon_34.sv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194560" y="1298448"/>
            <a:ext cx="201168" cy="201168"/>
          </a:xfrm>
          <a:prstGeom prst="rect">
            <a:avLst/>
          </a:prstGeom>
        </p:spPr>
      </p:pic>
      <p:sp>
        <p:nvSpPr>
          <p:cNvPr id="11" name="Text 7"/>
          <p:cNvSpPr/>
          <p:nvPr/>
        </p:nvSpPr>
        <p:spPr>
          <a:xfrm>
            <a:off x="2468880" y="1261872"/>
            <a:ext cx="2926080" cy="182880"/>
          </a:xfrm>
          <a:prstGeom prst="rect">
            <a:avLst/>
          </a:prstGeom>
          <a:noFill/>
          <a:ln/>
        </p:spPr>
        <p:txBody>
          <a:bodyPr wrap="square" lIns="0" tIns="0" rIns="0" bIns="0" rtlCol="0" anchor="ctr"/>
          <a:lstStyle/>
          <a:p>
            <a:pPr indent="0" marL="0">
              <a:buNone/>
            </a:pPr>
            <a:r>
              <a:rPr lang="en-US" sz="900" dirty="0">
                <a:solidFill>
                  <a:srgbClr val="EF4444"/>
                </a:solidFill>
                <a:latin typeface="Calibri" pitchFamily="34" charset="0"/>
                <a:ea typeface="Calibri" pitchFamily="34" charset="-122"/>
                <a:cs typeface="Calibri" pitchFamily="34" charset="-120"/>
              </a:rPr>
              <a:t>PDF has smaller file size or multimedia support</a:t>
            </a:r>
            <a:endParaRPr lang="en-US" sz="900" dirty="0"/>
          </a:p>
        </p:txBody>
      </p:sp>
      <p:pic>
        <p:nvPicPr>
          <p:cNvPr id="12" name="Image 2" descr="icon_35.sv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194560" y="1517904"/>
            <a:ext cx="201168" cy="201168"/>
          </a:xfrm>
          <a:prstGeom prst="rect">
            <a:avLst/>
          </a:prstGeom>
        </p:spPr>
      </p:pic>
      <p:sp>
        <p:nvSpPr>
          <p:cNvPr id="13" name="Text 8"/>
          <p:cNvSpPr/>
          <p:nvPr/>
        </p:nvSpPr>
        <p:spPr>
          <a:xfrm>
            <a:off x="2468880" y="1490472"/>
            <a:ext cx="5943600" cy="182880"/>
          </a:xfrm>
          <a:prstGeom prst="rect">
            <a:avLst/>
          </a:prstGeom>
          <a:noFill/>
          <a:ln/>
        </p:spPr>
        <p:txBody>
          <a:bodyPr wrap="square" lIns="0" tIns="0" rIns="0" bIns="0" rtlCol="0" anchor="ctr"/>
          <a:lstStyle/>
          <a:p>
            <a:pPr indent="0" marL="0">
              <a:buNone/>
            </a:pPr>
            <a:r>
              <a:rPr lang="en-US" sz="900" dirty="0">
                <a:solidFill>
                  <a:srgbClr val="10B981"/>
                </a:solidFill>
                <a:latin typeface="Calibri" pitchFamily="34" charset="0"/>
                <a:ea typeface="Calibri" pitchFamily="34" charset="-122"/>
                <a:cs typeface="Calibri" pitchFamily="34" charset="-120"/>
              </a:rPr>
              <a:t>PDF advantage is document protection</a:t>
            </a:r>
            <a:endParaRPr lang="en-US" sz="900" dirty="0"/>
          </a:p>
        </p:txBody>
      </p:sp>
      <p:sp>
        <p:nvSpPr>
          <p:cNvPr id="14" name="Shape 9"/>
          <p:cNvSpPr/>
          <p:nvPr/>
        </p:nvSpPr>
        <p:spPr>
          <a:xfrm>
            <a:off x="457200" y="1847088"/>
            <a:ext cx="8229600" cy="566928"/>
          </a:xfrm>
          <a:prstGeom prst="roundRect">
            <a:avLst>
              <a:gd name="adj" fmla="val 9677"/>
            </a:avLst>
          </a:prstGeom>
          <a:solidFill>
            <a:srgbClr val="FFFFFF"/>
          </a:solidFill>
          <a:ln/>
          <a:effectLst>
            <a:outerShdw sx="100000" sy="100000" kx="0" ky="0" algn="bl" rotWithShape="0" blurRad="101600" dist="25400" dir="8100000">
              <a:srgbClr val="000000">
                <a:alpha val="8000"/>
              </a:srgbClr>
            </a:outerShdw>
          </a:effectLst>
        </p:spPr>
      </p:sp>
      <p:sp>
        <p:nvSpPr>
          <p:cNvPr id="15" name="Text 10"/>
          <p:cNvSpPr/>
          <p:nvPr/>
        </p:nvSpPr>
        <p:spPr>
          <a:xfrm>
            <a:off x="594360" y="1901952"/>
            <a:ext cx="1371600" cy="201168"/>
          </a:xfrm>
          <a:prstGeom prst="roundRect">
            <a:avLst>
              <a:gd name="adj" fmla="val 18182"/>
            </a:avLst>
          </a:prstGeom>
          <a:solidFill>
            <a:srgbClr val="0C7C9B"/>
          </a:solidFill>
          <a:ln/>
        </p:spPr>
        <p:txBody>
          <a:bodyPr wrap="square" lIns="0" tIns="0" rIns="0" bIns="0" rtlCol="0" anchor="ctr"/>
          <a:lstStyle/>
          <a:p>
            <a:pPr algn="ctr" indent="0" marL="0">
              <a:buNone/>
            </a:pPr>
            <a:r>
              <a:rPr lang="en-US" sz="800" dirty="0">
                <a:solidFill>
                  <a:srgbClr val="FFFFFF"/>
                </a:solidFill>
                <a:latin typeface="Trebuchet MS" pitchFamily="34" charset="0"/>
                <a:ea typeface="Trebuchet MS" pitchFamily="34" charset="-122"/>
                <a:cs typeface="Trebuchet MS" pitchFamily="34" charset="-120"/>
              </a:rPr>
              <a:t>OS Functions</a:t>
            </a:r>
            <a:endParaRPr lang="en-US" sz="800" dirty="0"/>
          </a:p>
        </p:txBody>
      </p:sp>
      <p:pic>
        <p:nvPicPr>
          <p:cNvPr id="16" name="Image 3" descr="icon_36.sv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194560" y="1956816"/>
            <a:ext cx="201168" cy="201168"/>
          </a:xfrm>
          <a:prstGeom prst="rect">
            <a:avLst/>
          </a:prstGeom>
        </p:spPr>
      </p:pic>
      <p:sp>
        <p:nvSpPr>
          <p:cNvPr id="17" name="Text 11"/>
          <p:cNvSpPr/>
          <p:nvPr/>
        </p:nvSpPr>
        <p:spPr>
          <a:xfrm>
            <a:off x="2468880" y="1920240"/>
            <a:ext cx="2926080" cy="182880"/>
          </a:xfrm>
          <a:prstGeom prst="rect">
            <a:avLst/>
          </a:prstGeom>
          <a:noFill/>
          <a:ln/>
        </p:spPr>
        <p:txBody>
          <a:bodyPr wrap="square" lIns="0" tIns="0" rIns="0" bIns="0" rtlCol="0" anchor="ctr"/>
          <a:lstStyle/>
          <a:p>
            <a:pPr indent="0" marL="0">
              <a:buNone/>
            </a:pPr>
            <a:r>
              <a:rPr lang="en-US" sz="900" dirty="0">
                <a:solidFill>
                  <a:srgbClr val="EF4444"/>
                </a:solidFill>
                <a:latin typeface="Calibri" pitchFamily="34" charset="0"/>
                <a:ea typeface="Calibri" pitchFamily="34" charset="-122"/>
                <a:cs typeface="Calibri" pitchFamily="34" charset="-120"/>
              </a:rPr>
              <a:t>Memory management is NOT an OS function</a:t>
            </a:r>
            <a:endParaRPr lang="en-US" sz="900" dirty="0"/>
          </a:p>
        </p:txBody>
      </p:sp>
      <p:pic>
        <p:nvPicPr>
          <p:cNvPr id="18" name="Image 4" descr="icon_37.sv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194560" y="2176272"/>
            <a:ext cx="201168" cy="201168"/>
          </a:xfrm>
          <a:prstGeom prst="rect">
            <a:avLst/>
          </a:prstGeom>
        </p:spPr>
      </p:pic>
      <p:sp>
        <p:nvSpPr>
          <p:cNvPr id="19" name="Text 12"/>
          <p:cNvSpPr/>
          <p:nvPr/>
        </p:nvSpPr>
        <p:spPr>
          <a:xfrm>
            <a:off x="2468880" y="2148840"/>
            <a:ext cx="5943600" cy="182880"/>
          </a:xfrm>
          <a:prstGeom prst="rect">
            <a:avLst/>
          </a:prstGeom>
          <a:noFill/>
          <a:ln/>
        </p:spPr>
        <p:txBody>
          <a:bodyPr wrap="square" lIns="0" tIns="0" rIns="0" bIns="0" rtlCol="0" anchor="ctr"/>
          <a:lstStyle/>
          <a:p>
            <a:pPr indent="0" marL="0">
              <a:buNone/>
            </a:pPr>
            <a:r>
              <a:rPr lang="en-US" sz="900" dirty="0">
                <a:solidFill>
                  <a:srgbClr val="10B981"/>
                </a:solidFill>
                <a:latin typeface="Calibri" pitchFamily="34" charset="0"/>
                <a:ea typeface="Calibri" pitchFamily="34" charset="-122"/>
                <a:cs typeface="Calibri" pitchFamily="34" charset="-120"/>
              </a:rPr>
              <a:t>Memory mgmt, I/O mgmt AND security are ALL core OS functions</a:t>
            </a:r>
            <a:endParaRPr lang="en-US" sz="900" dirty="0"/>
          </a:p>
        </p:txBody>
      </p:sp>
      <p:sp>
        <p:nvSpPr>
          <p:cNvPr id="20" name="Shape 13"/>
          <p:cNvSpPr/>
          <p:nvPr/>
        </p:nvSpPr>
        <p:spPr>
          <a:xfrm>
            <a:off x="457200" y="2505456"/>
            <a:ext cx="8229600" cy="566928"/>
          </a:xfrm>
          <a:prstGeom prst="roundRect">
            <a:avLst>
              <a:gd name="adj" fmla="val 9677"/>
            </a:avLst>
          </a:prstGeom>
          <a:solidFill>
            <a:srgbClr val="FFFFFF"/>
          </a:solidFill>
          <a:ln/>
          <a:effectLst>
            <a:outerShdw sx="100000" sy="100000" kx="0" ky="0" algn="bl" rotWithShape="0" blurRad="101600" dist="25400" dir="8100000">
              <a:srgbClr val="000000">
                <a:alpha val="8000"/>
              </a:srgbClr>
            </a:outerShdw>
          </a:effectLst>
        </p:spPr>
      </p:sp>
      <p:sp>
        <p:nvSpPr>
          <p:cNvPr id="21" name="Text 14"/>
          <p:cNvSpPr/>
          <p:nvPr/>
        </p:nvSpPr>
        <p:spPr>
          <a:xfrm>
            <a:off x="594360" y="2560320"/>
            <a:ext cx="1371600" cy="201168"/>
          </a:xfrm>
          <a:prstGeom prst="roundRect">
            <a:avLst>
              <a:gd name="adj" fmla="val 18182"/>
            </a:avLst>
          </a:prstGeom>
          <a:solidFill>
            <a:srgbClr val="0C7C9B"/>
          </a:solidFill>
          <a:ln/>
        </p:spPr>
        <p:txBody>
          <a:bodyPr wrap="square" lIns="0" tIns="0" rIns="0" bIns="0" rtlCol="0" anchor="ctr"/>
          <a:lstStyle/>
          <a:p>
            <a:pPr algn="ctr" indent="0" marL="0">
              <a:buNone/>
            </a:pPr>
            <a:r>
              <a:rPr lang="en-US" sz="800" dirty="0">
                <a:solidFill>
                  <a:srgbClr val="FFFFFF"/>
                </a:solidFill>
                <a:latin typeface="Trebuchet MS" pitchFamily="34" charset="0"/>
                <a:ea typeface="Trebuchet MS" pitchFamily="34" charset="-122"/>
                <a:cs typeface="Trebuchet MS" pitchFamily="34" charset="-120"/>
              </a:rPr>
              <a:t>Virtualisation vs RAID</a:t>
            </a:r>
            <a:endParaRPr lang="en-US" sz="800" dirty="0"/>
          </a:p>
        </p:txBody>
      </p:sp>
      <p:pic>
        <p:nvPicPr>
          <p:cNvPr id="22" name="Image 5" descr="icon_38.sv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194560" y="2615184"/>
            <a:ext cx="201168" cy="201168"/>
          </a:xfrm>
          <a:prstGeom prst="rect">
            <a:avLst/>
          </a:prstGeom>
        </p:spPr>
      </p:pic>
      <p:sp>
        <p:nvSpPr>
          <p:cNvPr id="23" name="Text 15"/>
          <p:cNvSpPr/>
          <p:nvPr/>
        </p:nvSpPr>
        <p:spPr>
          <a:xfrm>
            <a:off x="2468880" y="2578608"/>
            <a:ext cx="2926080" cy="182880"/>
          </a:xfrm>
          <a:prstGeom prst="rect">
            <a:avLst/>
          </a:prstGeom>
          <a:noFill/>
          <a:ln/>
        </p:spPr>
        <p:txBody>
          <a:bodyPr wrap="square" lIns="0" tIns="0" rIns="0" bIns="0" rtlCol="0" anchor="ctr"/>
          <a:lstStyle/>
          <a:p>
            <a:pPr indent="0" marL="0">
              <a:buNone/>
            </a:pPr>
            <a:r>
              <a:rPr lang="en-US" sz="900" dirty="0">
                <a:solidFill>
                  <a:srgbClr val="EF4444"/>
                </a:solidFill>
                <a:latin typeface="Calibri" pitchFamily="34" charset="0"/>
                <a:ea typeface="Calibri" pitchFamily="34" charset="-122"/>
                <a:cs typeface="Calibri" pitchFamily="34" charset="-120"/>
              </a:rPr>
              <a:t>Virtual machines = combining physical disks</a:t>
            </a:r>
            <a:endParaRPr lang="en-US" sz="900" dirty="0"/>
          </a:p>
        </p:txBody>
      </p:sp>
      <p:pic>
        <p:nvPicPr>
          <p:cNvPr id="24" name="Image 6" descr="icon_39.sv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2194560" y="2834640"/>
            <a:ext cx="201168" cy="201168"/>
          </a:xfrm>
          <a:prstGeom prst="rect">
            <a:avLst/>
          </a:prstGeom>
        </p:spPr>
      </p:pic>
      <p:sp>
        <p:nvSpPr>
          <p:cNvPr id="25" name="Text 16"/>
          <p:cNvSpPr/>
          <p:nvPr/>
        </p:nvSpPr>
        <p:spPr>
          <a:xfrm>
            <a:off x="2468880" y="2807208"/>
            <a:ext cx="5943600" cy="182880"/>
          </a:xfrm>
          <a:prstGeom prst="rect">
            <a:avLst/>
          </a:prstGeom>
          <a:noFill/>
          <a:ln/>
        </p:spPr>
        <p:txBody>
          <a:bodyPr wrap="square" lIns="0" tIns="0" rIns="0" bIns="0" rtlCol="0" anchor="ctr"/>
          <a:lstStyle/>
          <a:p>
            <a:pPr indent="0" marL="0">
              <a:buNone/>
            </a:pPr>
            <a:r>
              <a:rPr lang="en-US" sz="900" dirty="0">
                <a:solidFill>
                  <a:srgbClr val="10B981"/>
                </a:solidFill>
                <a:latin typeface="Calibri" pitchFamily="34" charset="0"/>
                <a:ea typeface="Calibri" pitchFamily="34" charset="-122"/>
                <a:cs typeface="Calibri" pitchFamily="34" charset="-120"/>
              </a:rPr>
              <a:t>Combining disks = RAID, not virtualisation</a:t>
            </a:r>
            <a:endParaRPr lang="en-US" sz="900" dirty="0"/>
          </a:p>
        </p:txBody>
      </p:sp>
      <p:sp>
        <p:nvSpPr>
          <p:cNvPr id="26" name="Shape 17"/>
          <p:cNvSpPr/>
          <p:nvPr/>
        </p:nvSpPr>
        <p:spPr>
          <a:xfrm>
            <a:off x="457200" y="3163824"/>
            <a:ext cx="8229600" cy="566928"/>
          </a:xfrm>
          <a:prstGeom prst="roundRect">
            <a:avLst>
              <a:gd name="adj" fmla="val 9677"/>
            </a:avLst>
          </a:prstGeom>
          <a:solidFill>
            <a:srgbClr val="FFFFFF"/>
          </a:solidFill>
          <a:ln/>
          <a:effectLst>
            <a:outerShdw sx="100000" sy="100000" kx="0" ky="0" algn="bl" rotWithShape="0" blurRad="101600" dist="25400" dir="8100000">
              <a:srgbClr val="000000">
                <a:alpha val="8000"/>
              </a:srgbClr>
            </a:outerShdw>
          </a:effectLst>
        </p:spPr>
      </p:sp>
      <p:sp>
        <p:nvSpPr>
          <p:cNvPr id="27" name="Text 18"/>
          <p:cNvSpPr/>
          <p:nvPr/>
        </p:nvSpPr>
        <p:spPr>
          <a:xfrm>
            <a:off x="594360" y="3218688"/>
            <a:ext cx="1371600" cy="201168"/>
          </a:xfrm>
          <a:prstGeom prst="roundRect">
            <a:avLst>
              <a:gd name="adj" fmla="val 18182"/>
            </a:avLst>
          </a:prstGeom>
          <a:solidFill>
            <a:srgbClr val="0C7C9B"/>
          </a:solidFill>
          <a:ln/>
        </p:spPr>
        <p:txBody>
          <a:bodyPr wrap="square" lIns="0" tIns="0" rIns="0" bIns="0" rtlCol="0" anchor="ctr"/>
          <a:lstStyle/>
          <a:p>
            <a:pPr algn="ctr" indent="0" marL="0">
              <a:buNone/>
            </a:pPr>
            <a:r>
              <a:rPr lang="en-US" sz="800" dirty="0">
                <a:solidFill>
                  <a:srgbClr val="FFFFFF"/>
                </a:solidFill>
                <a:latin typeface="Trebuchet MS" pitchFamily="34" charset="0"/>
                <a:ea typeface="Trebuchet MS" pitchFamily="34" charset="-122"/>
                <a:cs typeface="Trebuchet MS" pitchFamily="34" charset="-120"/>
              </a:rPr>
              <a:t>IPv4 Addresses</a:t>
            </a:r>
            <a:endParaRPr lang="en-US" sz="800" dirty="0"/>
          </a:p>
        </p:txBody>
      </p:sp>
      <p:pic>
        <p:nvPicPr>
          <p:cNvPr id="28" name="Image 7" descr="icon_40.sv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2194560" y="3273552"/>
            <a:ext cx="201168" cy="201168"/>
          </a:xfrm>
          <a:prstGeom prst="rect">
            <a:avLst/>
          </a:prstGeom>
        </p:spPr>
      </p:pic>
      <p:sp>
        <p:nvSpPr>
          <p:cNvPr id="29" name="Text 19"/>
          <p:cNvSpPr/>
          <p:nvPr/>
        </p:nvSpPr>
        <p:spPr>
          <a:xfrm>
            <a:off x="2468880" y="3236976"/>
            <a:ext cx="2926080" cy="182880"/>
          </a:xfrm>
          <a:prstGeom prst="rect">
            <a:avLst/>
          </a:prstGeom>
          <a:noFill/>
          <a:ln/>
        </p:spPr>
        <p:txBody>
          <a:bodyPr wrap="square" lIns="0" tIns="0" rIns="0" bIns="0" rtlCol="0" anchor="ctr"/>
          <a:lstStyle/>
          <a:p>
            <a:pPr indent="0" marL="0">
              <a:buNone/>
            </a:pPr>
            <a:r>
              <a:rPr lang="en-US" sz="900" dirty="0">
                <a:solidFill>
                  <a:srgbClr val="EF4444"/>
                </a:solidFill>
                <a:latin typeface="Calibri" pitchFamily="34" charset="0"/>
                <a:ea typeface="Calibri" pitchFamily="34" charset="-122"/>
                <a:cs typeface="Calibri" pitchFamily="34" charset="-120"/>
              </a:rPr>
              <a:t>IPv4 octets can be 256 or 512</a:t>
            </a:r>
            <a:endParaRPr lang="en-US" sz="900" dirty="0"/>
          </a:p>
        </p:txBody>
      </p:sp>
      <p:pic>
        <p:nvPicPr>
          <p:cNvPr id="30" name="Image 8" descr="icon_41.svg">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2194560" y="3493008"/>
            <a:ext cx="201168" cy="201168"/>
          </a:xfrm>
          <a:prstGeom prst="rect">
            <a:avLst/>
          </a:prstGeom>
        </p:spPr>
      </p:pic>
      <p:sp>
        <p:nvSpPr>
          <p:cNvPr id="31" name="Text 20"/>
          <p:cNvSpPr/>
          <p:nvPr/>
        </p:nvSpPr>
        <p:spPr>
          <a:xfrm>
            <a:off x="2468880" y="3465576"/>
            <a:ext cx="5943600" cy="182880"/>
          </a:xfrm>
          <a:prstGeom prst="rect">
            <a:avLst/>
          </a:prstGeom>
          <a:noFill/>
          <a:ln/>
        </p:spPr>
        <p:txBody>
          <a:bodyPr wrap="square" lIns="0" tIns="0" rIns="0" bIns="0" rtlCol="0" anchor="ctr"/>
          <a:lstStyle/>
          <a:p>
            <a:pPr indent="0" marL="0">
              <a:buNone/>
            </a:pPr>
            <a:r>
              <a:rPr lang="en-US" sz="900" dirty="0">
                <a:solidFill>
                  <a:srgbClr val="10B981"/>
                </a:solidFill>
                <a:latin typeface="Calibri" pitchFamily="34" charset="0"/>
                <a:ea typeface="Calibri" pitchFamily="34" charset="-122"/>
                <a:cs typeface="Calibri" pitchFamily="34" charset="-120"/>
              </a:rPr>
              <a:t>Each octet must be 0–255</a:t>
            </a:r>
            <a:endParaRPr lang="en-US" sz="900" dirty="0"/>
          </a:p>
        </p:txBody>
      </p:sp>
      <p:sp>
        <p:nvSpPr>
          <p:cNvPr id="32" name="Shape 21"/>
          <p:cNvSpPr/>
          <p:nvPr/>
        </p:nvSpPr>
        <p:spPr>
          <a:xfrm>
            <a:off x="457200" y="3822192"/>
            <a:ext cx="8229600" cy="566928"/>
          </a:xfrm>
          <a:prstGeom prst="roundRect">
            <a:avLst>
              <a:gd name="adj" fmla="val 9677"/>
            </a:avLst>
          </a:prstGeom>
          <a:solidFill>
            <a:srgbClr val="FFFFFF"/>
          </a:solidFill>
          <a:ln/>
          <a:effectLst>
            <a:outerShdw sx="100000" sy="100000" kx="0" ky="0" algn="bl" rotWithShape="0" blurRad="101600" dist="25400" dir="8100000">
              <a:srgbClr val="000000">
                <a:alpha val="8000"/>
              </a:srgbClr>
            </a:outerShdw>
          </a:effectLst>
        </p:spPr>
      </p:sp>
      <p:sp>
        <p:nvSpPr>
          <p:cNvPr id="33" name="Text 22"/>
          <p:cNvSpPr/>
          <p:nvPr/>
        </p:nvSpPr>
        <p:spPr>
          <a:xfrm>
            <a:off x="594360" y="3877056"/>
            <a:ext cx="1371600" cy="201168"/>
          </a:xfrm>
          <a:prstGeom prst="roundRect">
            <a:avLst>
              <a:gd name="adj" fmla="val 18182"/>
            </a:avLst>
          </a:prstGeom>
          <a:solidFill>
            <a:srgbClr val="0C7C9B"/>
          </a:solidFill>
          <a:ln/>
        </p:spPr>
        <p:txBody>
          <a:bodyPr wrap="square" lIns="0" tIns="0" rIns="0" bIns="0" rtlCol="0" anchor="ctr"/>
          <a:lstStyle/>
          <a:p>
            <a:pPr algn="ctr" indent="0" marL="0">
              <a:buNone/>
            </a:pPr>
            <a:r>
              <a:rPr lang="en-US" sz="800" dirty="0">
                <a:solidFill>
                  <a:srgbClr val="FFFFFF"/>
                </a:solidFill>
                <a:latin typeface="Trebuchet MS" pitchFamily="34" charset="0"/>
                <a:ea typeface="Trebuchet MS" pitchFamily="34" charset="-122"/>
                <a:cs typeface="Trebuchet MS" pitchFamily="34" charset="-120"/>
              </a:rPr>
              <a:t>Packet vs Circuit</a:t>
            </a:r>
            <a:endParaRPr lang="en-US" sz="800" dirty="0"/>
          </a:p>
        </p:txBody>
      </p:sp>
      <p:pic>
        <p:nvPicPr>
          <p:cNvPr id="34" name="Image 9" descr="icon_42.svg">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2194560" y="3931920"/>
            <a:ext cx="201168" cy="201168"/>
          </a:xfrm>
          <a:prstGeom prst="rect">
            <a:avLst/>
          </a:prstGeom>
        </p:spPr>
      </p:pic>
      <p:sp>
        <p:nvSpPr>
          <p:cNvPr id="35" name="Text 23"/>
          <p:cNvSpPr/>
          <p:nvPr/>
        </p:nvSpPr>
        <p:spPr>
          <a:xfrm>
            <a:off x="2468880" y="3895344"/>
            <a:ext cx="2926080" cy="182880"/>
          </a:xfrm>
          <a:prstGeom prst="rect">
            <a:avLst/>
          </a:prstGeom>
          <a:noFill/>
          <a:ln/>
        </p:spPr>
        <p:txBody>
          <a:bodyPr wrap="square" lIns="0" tIns="0" rIns="0" bIns="0" rtlCol="0" anchor="ctr"/>
          <a:lstStyle/>
          <a:p>
            <a:pPr indent="0" marL="0">
              <a:buNone/>
            </a:pPr>
            <a:r>
              <a:rPr lang="en-US" sz="900" dirty="0">
                <a:solidFill>
                  <a:srgbClr val="EF4444"/>
                </a:solidFill>
                <a:latin typeface="Calibri" pitchFamily="34" charset="0"/>
                <a:ea typeface="Calibri" pitchFamily="34" charset="-122"/>
                <a:cs typeface="Calibri" pitchFamily="34" charset="-120"/>
              </a:rPr>
              <a:t>TCP/IP uses fixed paths</a:t>
            </a:r>
            <a:endParaRPr lang="en-US" sz="900" dirty="0"/>
          </a:p>
        </p:txBody>
      </p:sp>
      <p:pic>
        <p:nvPicPr>
          <p:cNvPr id="36" name="Image 10" descr="icon_43.svg">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2194560" y="4151376"/>
            <a:ext cx="201168" cy="201168"/>
          </a:xfrm>
          <a:prstGeom prst="rect">
            <a:avLst/>
          </a:prstGeom>
        </p:spPr>
      </p:pic>
      <p:sp>
        <p:nvSpPr>
          <p:cNvPr id="37" name="Text 24"/>
          <p:cNvSpPr/>
          <p:nvPr/>
        </p:nvSpPr>
        <p:spPr>
          <a:xfrm>
            <a:off x="2468880" y="4123944"/>
            <a:ext cx="5943600" cy="182880"/>
          </a:xfrm>
          <a:prstGeom prst="rect">
            <a:avLst/>
          </a:prstGeom>
          <a:noFill/>
          <a:ln/>
        </p:spPr>
        <p:txBody>
          <a:bodyPr wrap="square" lIns="0" tIns="0" rIns="0" bIns="0" rtlCol="0" anchor="ctr"/>
          <a:lstStyle/>
          <a:p>
            <a:pPr indent="0" marL="0">
              <a:buNone/>
            </a:pPr>
            <a:r>
              <a:rPr lang="en-US" sz="900" dirty="0">
                <a:solidFill>
                  <a:srgbClr val="10B981"/>
                </a:solidFill>
                <a:latin typeface="Calibri" pitchFamily="34" charset="0"/>
                <a:ea typeface="Calibri" pitchFamily="34" charset="-122"/>
                <a:cs typeface="Calibri" pitchFamily="34" charset="-120"/>
              </a:rPr>
              <a:t>TCP/IP uses packet switching (dynamic routing)</a:t>
            </a:r>
            <a:endParaRPr lang="en-US" sz="900" dirty="0"/>
          </a:p>
        </p:txBody>
      </p:sp>
      <p:sp>
        <p:nvSpPr>
          <p:cNvPr id="38" name="Shape 25"/>
          <p:cNvSpPr/>
          <p:nvPr/>
        </p:nvSpPr>
        <p:spPr>
          <a:xfrm>
            <a:off x="0" y="4800600"/>
            <a:ext cx="9144000" cy="342900"/>
          </a:xfrm>
          <a:prstGeom prst="rect">
            <a:avLst/>
          </a:prstGeom>
          <a:solidFill>
            <a:srgbClr val="E2E8F0"/>
          </a:solidFill>
          <a:ln/>
        </p:spPr>
      </p:sp>
      <p:sp>
        <p:nvSpPr>
          <p:cNvPr id="39" name="Text 26"/>
          <p:cNvSpPr/>
          <p:nvPr/>
        </p:nvSpPr>
        <p:spPr>
          <a:xfrm>
            <a:off x="457200" y="4818888"/>
            <a:ext cx="4572000" cy="274320"/>
          </a:xfrm>
          <a:prstGeom prst="rect">
            <a:avLst/>
          </a:prstGeom>
          <a:noFill/>
          <a:ln/>
        </p:spPr>
        <p:txBody>
          <a:bodyPr wrap="square" lIns="0" tIns="0" rIns="0" bIns="0" rtlCol="0" anchor="ctr"/>
          <a:lstStyle/>
          <a:p>
            <a:pPr indent="0" marL="0">
              <a:buNone/>
            </a:pPr>
            <a:r>
              <a:rPr lang="en-US" sz="700" dirty="0">
                <a:solidFill>
                  <a:srgbClr val="94A3B8"/>
                </a:solidFill>
                <a:latin typeface="Calibri" pitchFamily="34" charset="0"/>
                <a:ea typeface="Calibri" pitchFamily="34" charset="-122"/>
                <a:cs typeface="Calibri" pitchFamily="34" charset="-120"/>
              </a:rPr>
              <a:t>HKDSE ICT 2025 Exam Skills Masterclass</a:t>
            </a:r>
            <a:endParaRPr lang="en-US" sz="700" dirty="0"/>
          </a:p>
        </p:txBody>
      </p:sp>
      <p:sp>
        <p:nvSpPr>
          <p:cNvPr id="25" name="Slide Number Placeholder 0"/>
          <p:cNvSpPr>
            <a:spLocks noGrp="1"/>
          </p:cNvSpPr>
          <p:nvPr>
            <p:ph type="sldNum" sz="quarter" idx="4294967295"/>
          </p:nvPr>
        </p:nvSpPr>
        <p:spPr>
          <a:xfrm>
            <a:off x="8503920" y="4886325"/>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7F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1628"/>
          </a:solidFill>
          <a:ln/>
        </p:spPr>
      </p:sp>
      <p:sp>
        <p:nvSpPr>
          <p:cNvPr id="3" name="Shape 1"/>
          <p:cNvSpPr/>
          <p:nvPr/>
        </p:nvSpPr>
        <p:spPr>
          <a:xfrm>
            <a:off x="457200" y="18288"/>
            <a:ext cx="1005840" cy="256032"/>
          </a:xfrm>
          <a:prstGeom prst="roundRect">
            <a:avLst>
              <a:gd name="adj" fmla="val 14286"/>
            </a:avLst>
          </a:prstGeom>
          <a:solidFill>
            <a:srgbClr val="06D6A0"/>
          </a:solidFill>
          <a:ln/>
        </p:spPr>
      </p:sp>
      <p:sp>
        <p:nvSpPr>
          <p:cNvPr id="4" name="Text 2"/>
          <p:cNvSpPr/>
          <p:nvPr/>
        </p:nvSpPr>
        <p:spPr>
          <a:xfrm>
            <a:off x="548640" y="18288"/>
            <a:ext cx="822960" cy="256032"/>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EXAM SKILL</a:t>
            </a:r>
            <a:endParaRPr lang="en-US" sz="900" dirty="0"/>
          </a:p>
        </p:txBody>
      </p:sp>
      <p:pic>
        <p:nvPicPr>
          <p:cNvPr id="5" name="Image 0" descr="icon_44.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321040" y="228600"/>
            <a:ext cx="320040" cy="320040"/>
          </a:xfrm>
          <a:prstGeom prst="rect">
            <a:avLst/>
          </a:prstGeom>
        </p:spPr>
      </p:pic>
      <p:sp>
        <p:nvSpPr>
          <p:cNvPr id="6" name="Text 3"/>
          <p:cNvSpPr/>
          <p:nvPr/>
        </p:nvSpPr>
        <p:spPr>
          <a:xfrm>
            <a:off x="457200" y="182880"/>
            <a:ext cx="7772400" cy="502920"/>
          </a:xfrm>
          <a:prstGeom prst="rect">
            <a:avLst/>
          </a:prstGeom>
          <a:noFill/>
          <a:ln/>
        </p:spPr>
        <p:txBody>
          <a:bodyPr wrap="square" lIns="0" tIns="0" rIns="0" bIns="0" rtlCol="0" anchor="ctr"/>
          <a:lstStyle/>
          <a:p>
            <a:pPr indent="0" marL="0">
              <a:buNone/>
            </a:pPr>
            <a:r>
              <a:rPr lang="en-US" sz="2200" dirty="0">
                <a:solidFill>
                  <a:srgbClr val="FFFFFF"/>
                </a:solidFill>
                <a:latin typeface="Trebuchet MS" pitchFamily="34" charset="0"/>
                <a:ea typeface="Trebuchet MS" pitchFamily="34" charset="-122"/>
                <a:cs typeface="Trebuchet MS" pitchFamily="34" charset="-120"/>
              </a:rPr>
              <a:t>Exam Skill: MC Elimination Strategy</a:t>
            </a:r>
            <a:endParaRPr lang="en-US" sz="2200" dirty="0"/>
          </a:p>
        </p:txBody>
      </p:sp>
      <p:sp>
        <p:nvSpPr>
          <p:cNvPr id="7" name="Text 4"/>
          <p:cNvSpPr/>
          <p:nvPr/>
        </p:nvSpPr>
        <p:spPr>
          <a:xfrm>
            <a:off x="457200" y="594360"/>
            <a:ext cx="8229600" cy="274320"/>
          </a:xfrm>
          <a:prstGeom prst="rect">
            <a:avLst/>
          </a:prstGeom>
          <a:noFill/>
          <a:ln/>
        </p:spPr>
        <p:txBody>
          <a:bodyPr wrap="square" lIns="0" tIns="0" rIns="0" bIns="0" rtlCol="0" anchor="ctr"/>
          <a:lstStyle/>
          <a:p>
            <a:pPr indent="0" marL="0">
              <a:buNone/>
            </a:pPr>
            <a:r>
              <a:rPr lang="en-US" sz="1200" dirty="0">
                <a:solidFill>
                  <a:srgbClr val="B8D4E3"/>
                </a:solidFill>
                <a:latin typeface="Calibri" pitchFamily="34" charset="0"/>
                <a:ea typeface="Calibri" pitchFamily="34" charset="-122"/>
                <a:cs typeface="Calibri" pitchFamily="34" charset="-120"/>
              </a:rPr>
              <a:t>How to Use Option Analysis to Boost Your Paper 1A Score</a:t>
            </a:r>
            <a:endParaRPr lang="en-US" sz="1200" dirty="0"/>
          </a:p>
        </p:txBody>
      </p:sp>
      <p:sp>
        <p:nvSpPr>
          <p:cNvPr id="8" name="Shape 5"/>
          <p:cNvSpPr/>
          <p:nvPr/>
        </p:nvSpPr>
        <p:spPr>
          <a:xfrm>
            <a:off x="457200" y="1234440"/>
            <a:ext cx="5029200" cy="530352"/>
          </a:xfrm>
          <a:prstGeom prst="roundRect">
            <a:avLst>
              <a:gd name="adj" fmla="val 10345"/>
            </a:avLst>
          </a:prstGeom>
          <a:solidFill>
            <a:srgbClr val="FFFFFF"/>
          </a:solidFill>
          <a:ln/>
          <a:effectLst>
            <a:outerShdw sx="100000" sy="100000" kx="0" ky="0" algn="bl" rotWithShape="0" blurRad="101600" dist="25400" dir="8100000">
              <a:srgbClr val="000000">
                <a:alpha val="8000"/>
              </a:srgbClr>
            </a:outerShdw>
          </a:effectLst>
        </p:spPr>
      </p:sp>
      <p:sp>
        <p:nvSpPr>
          <p:cNvPr id="9" name="Text 6"/>
          <p:cNvSpPr/>
          <p:nvPr/>
        </p:nvSpPr>
        <p:spPr>
          <a:xfrm>
            <a:off x="594360" y="1325880"/>
            <a:ext cx="347472" cy="347472"/>
          </a:xfrm>
          <a:prstGeom prst="ellipse">
            <a:avLst/>
          </a:prstGeom>
          <a:solidFill>
            <a:srgbClr val="06D6A0"/>
          </a:solidFill>
          <a:ln/>
        </p:spPr>
        <p:txBody>
          <a:bodyPr wrap="square" lIns="0" tIns="0" rIns="0" bIns="0" rtlCol="0" anchor="ctr"/>
          <a:lstStyle/>
          <a:p>
            <a:pPr algn="ctr" indent="0" marL="0">
              <a:buNone/>
            </a:pPr>
            <a:r>
              <a:rPr lang="en-US" sz="1400" dirty="0">
                <a:solidFill>
                  <a:srgbClr val="0A1628"/>
                </a:solidFill>
                <a:latin typeface="Trebuchet MS" pitchFamily="34" charset="0"/>
                <a:ea typeface="Trebuchet MS" pitchFamily="34" charset="-122"/>
                <a:cs typeface="Trebuchet MS" pitchFamily="34" charset="-120"/>
              </a:rPr>
              <a:t>1</a:t>
            </a:r>
            <a:endParaRPr lang="en-US" sz="1400" dirty="0"/>
          </a:p>
        </p:txBody>
      </p:sp>
      <p:sp>
        <p:nvSpPr>
          <p:cNvPr id="10" name="Text 7"/>
          <p:cNvSpPr/>
          <p:nvPr/>
        </p:nvSpPr>
        <p:spPr>
          <a:xfrm>
            <a:off x="1097280" y="1289304"/>
            <a:ext cx="4206240" cy="420624"/>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Read ALL four options before answering — identify the trap option designed to mislead</a:t>
            </a:r>
            <a:endParaRPr lang="en-US" sz="1000" dirty="0"/>
          </a:p>
        </p:txBody>
      </p:sp>
      <p:sp>
        <p:nvSpPr>
          <p:cNvPr id="11" name="Shape 8"/>
          <p:cNvSpPr/>
          <p:nvPr/>
        </p:nvSpPr>
        <p:spPr>
          <a:xfrm>
            <a:off x="457200" y="1837944"/>
            <a:ext cx="5029200" cy="530352"/>
          </a:xfrm>
          <a:prstGeom prst="roundRect">
            <a:avLst>
              <a:gd name="adj" fmla="val 10345"/>
            </a:avLst>
          </a:prstGeom>
          <a:solidFill>
            <a:srgbClr val="FFFFFF"/>
          </a:solidFill>
          <a:ln/>
          <a:effectLst>
            <a:outerShdw sx="100000" sy="100000" kx="0" ky="0" algn="bl" rotWithShape="0" blurRad="101600" dist="25400" dir="8100000">
              <a:srgbClr val="000000">
                <a:alpha val="8000"/>
              </a:srgbClr>
            </a:outerShdw>
          </a:effectLst>
        </p:spPr>
      </p:sp>
      <p:sp>
        <p:nvSpPr>
          <p:cNvPr id="12" name="Text 9"/>
          <p:cNvSpPr/>
          <p:nvPr/>
        </p:nvSpPr>
        <p:spPr>
          <a:xfrm>
            <a:off x="594360" y="1929384"/>
            <a:ext cx="347472" cy="347472"/>
          </a:xfrm>
          <a:prstGeom prst="ellipse">
            <a:avLst/>
          </a:prstGeom>
          <a:solidFill>
            <a:srgbClr val="06D6A0"/>
          </a:solidFill>
          <a:ln/>
        </p:spPr>
        <p:txBody>
          <a:bodyPr wrap="square" lIns="0" tIns="0" rIns="0" bIns="0" rtlCol="0" anchor="ctr"/>
          <a:lstStyle/>
          <a:p>
            <a:pPr algn="ctr" indent="0" marL="0">
              <a:buNone/>
            </a:pPr>
            <a:r>
              <a:rPr lang="en-US" sz="1400" dirty="0">
                <a:solidFill>
                  <a:srgbClr val="0A1628"/>
                </a:solidFill>
                <a:latin typeface="Trebuchet MS" pitchFamily="34" charset="0"/>
                <a:ea typeface="Trebuchet MS" pitchFamily="34" charset="-122"/>
                <a:cs typeface="Trebuchet MS" pitchFamily="34" charset="-120"/>
              </a:rPr>
              <a:t>2</a:t>
            </a:r>
            <a:endParaRPr lang="en-US" sz="1400" dirty="0"/>
          </a:p>
        </p:txBody>
      </p:sp>
      <p:sp>
        <p:nvSpPr>
          <p:cNvPr id="13" name="Text 10"/>
          <p:cNvSpPr/>
          <p:nvPr/>
        </p:nvSpPr>
        <p:spPr>
          <a:xfrm>
            <a:off x="1097280" y="1892808"/>
            <a:ext cx="4206240" cy="420624"/>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Eliminate obviously wrong options first (e.g., IPv4 value &gt; 255 = instant elimination)</a:t>
            </a:r>
            <a:endParaRPr lang="en-US" sz="1000" dirty="0"/>
          </a:p>
        </p:txBody>
      </p:sp>
      <p:sp>
        <p:nvSpPr>
          <p:cNvPr id="14" name="Shape 11"/>
          <p:cNvSpPr/>
          <p:nvPr/>
        </p:nvSpPr>
        <p:spPr>
          <a:xfrm>
            <a:off x="457200" y="2441448"/>
            <a:ext cx="5029200" cy="530352"/>
          </a:xfrm>
          <a:prstGeom prst="roundRect">
            <a:avLst>
              <a:gd name="adj" fmla="val 10345"/>
            </a:avLst>
          </a:prstGeom>
          <a:solidFill>
            <a:srgbClr val="FFFFFF"/>
          </a:solidFill>
          <a:ln/>
          <a:effectLst>
            <a:outerShdw sx="100000" sy="100000" kx="0" ky="0" algn="bl" rotWithShape="0" blurRad="101600" dist="25400" dir="8100000">
              <a:srgbClr val="000000">
                <a:alpha val="8000"/>
              </a:srgbClr>
            </a:outerShdw>
          </a:effectLst>
        </p:spPr>
      </p:sp>
      <p:sp>
        <p:nvSpPr>
          <p:cNvPr id="15" name="Text 12"/>
          <p:cNvSpPr/>
          <p:nvPr/>
        </p:nvSpPr>
        <p:spPr>
          <a:xfrm>
            <a:off x="594360" y="2532888"/>
            <a:ext cx="347472" cy="347472"/>
          </a:xfrm>
          <a:prstGeom prst="ellipse">
            <a:avLst/>
          </a:prstGeom>
          <a:solidFill>
            <a:srgbClr val="06D6A0"/>
          </a:solidFill>
          <a:ln/>
        </p:spPr>
        <p:txBody>
          <a:bodyPr wrap="square" lIns="0" tIns="0" rIns="0" bIns="0" rtlCol="0" anchor="ctr"/>
          <a:lstStyle/>
          <a:p>
            <a:pPr algn="ctr" indent="0" marL="0">
              <a:buNone/>
            </a:pPr>
            <a:r>
              <a:rPr lang="en-US" sz="1400" dirty="0">
                <a:solidFill>
                  <a:srgbClr val="0A1628"/>
                </a:solidFill>
                <a:latin typeface="Trebuchet MS" pitchFamily="34" charset="0"/>
                <a:ea typeface="Trebuchet MS" pitchFamily="34" charset="-122"/>
                <a:cs typeface="Trebuchet MS" pitchFamily="34" charset="-120"/>
              </a:rPr>
              <a:t>3</a:t>
            </a:r>
            <a:endParaRPr lang="en-US" sz="1400" dirty="0"/>
          </a:p>
        </p:txBody>
      </p:sp>
      <p:sp>
        <p:nvSpPr>
          <p:cNvPr id="16" name="Text 13"/>
          <p:cNvSpPr/>
          <p:nvPr/>
        </p:nvSpPr>
        <p:spPr>
          <a:xfrm>
            <a:off x="1097280" y="2496312"/>
            <a:ext cx="4206240" cy="420624"/>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For combination questions, test each statement independently before combining</a:t>
            </a:r>
            <a:endParaRPr lang="en-US" sz="1000" dirty="0"/>
          </a:p>
        </p:txBody>
      </p:sp>
      <p:sp>
        <p:nvSpPr>
          <p:cNvPr id="17" name="Shape 14"/>
          <p:cNvSpPr/>
          <p:nvPr/>
        </p:nvSpPr>
        <p:spPr>
          <a:xfrm>
            <a:off x="457200" y="3044952"/>
            <a:ext cx="5029200" cy="530352"/>
          </a:xfrm>
          <a:prstGeom prst="roundRect">
            <a:avLst>
              <a:gd name="adj" fmla="val 10345"/>
            </a:avLst>
          </a:prstGeom>
          <a:solidFill>
            <a:srgbClr val="FFFFFF"/>
          </a:solidFill>
          <a:ln/>
          <a:effectLst>
            <a:outerShdw sx="100000" sy="100000" kx="0" ky="0" algn="bl" rotWithShape="0" blurRad="101600" dist="25400" dir="8100000">
              <a:srgbClr val="000000">
                <a:alpha val="8000"/>
              </a:srgbClr>
            </a:outerShdw>
          </a:effectLst>
        </p:spPr>
      </p:sp>
      <p:sp>
        <p:nvSpPr>
          <p:cNvPr id="18" name="Text 15"/>
          <p:cNvSpPr/>
          <p:nvPr/>
        </p:nvSpPr>
        <p:spPr>
          <a:xfrm>
            <a:off x="594360" y="3136392"/>
            <a:ext cx="347472" cy="347472"/>
          </a:xfrm>
          <a:prstGeom prst="ellipse">
            <a:avLst/>
          </a:prstGeom>
          <a:solidFill>
            <a:srgbClr val="06D6A0"/>
          </a:solidFill>
          <a:ln/>
        </p:spPr>
        <p:txBody>
          <a:bodyPr wrap="square" lIns="0" tIns="0" rIns="0" bIns="0" rtlCol="0" anchor="ctr"/>
          <a:lstStyle/>
          <a:p>
            <a:pPr algn="ctr" indent="0" marL="0">
              <a:buNone/>
            </a:pPr>
            <a:r>
              <a:rPr lang="en-US" sz="1400" dirty="0">
                <a:solidFill>
                  <a:srgbClr val="0A1628"/>
                </a:solidFill>
                <a:latin typeface="Trebuchet MS" pitchFamily="34" charset="0"/>
                <a:ea typeface="Trebuchet MS" pitchFamily="34" charset="-122"/>
                <a:cs typeface="Trebuchet MS" pitchFamily="34" charset="-120"/>
              </a:rPr>
              <a:t>4</a:t>
            </a:r>
            <a:endParaRPr lang="en-US" sz="1400" dirty="0"/>
          </a:p>
        </p:txBody>
      </p:sp>
      <p:sp>
        <p:nvSpPr>
          <p:cNvPr id="19" name="Text 16"/>
          <p:cNvSpPr/>
          <p:nvPr/>
        </p:nvSpPr>
        <p:spPr>
          <a:xfrm>
            <a:off x="1097280" y="3099816"/>
            <a:ext cx="4206240" cy="420624"/>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Watch for common distractors — RAID vs virtualisation, packet vs circuit switching</a:t>
            </a:r>
            <a:endParaRPr lang="en-US" sz="1000" dirty="0"/>
          </a:p>
        </p:txBody>
      </p:sp>
      <p:sp>
        <p:nvSpPr>
          <p:cNvPr id="20" name="Shape 17"/>
          <p:cNvSpPr/>
          <p:nvPr/>
        </p:nvSpPr>
        <p:spPr>
          <a:xfrm>
            <a:off x="5760720" y="1234440"/>
            <a:ext cx="3017520" cy="3154680"/>
          </a:xfrm>
          <a:prstGeom prst="roundRect">
            <a:avLst>
              <a:gd name="adj" fmla="val 3030"/>
            </a:avLst>
          </a:prstGeom>
          <a:solidFill>
            <a:srgbClr val="0F2847"/>
          </a:solidFill>
          <a:ln/>
        </p:spPr>
      </p:sp>
      <p:sp>
        <p:nvSpPr>
          <p:cNvPr id="21" name="Text 18"/>
          <p:cNvSpPr/>
          <p:nvPr/>
        </p:nvSpPr>
        <p:spPr>
          <a:xfrm>
            <a:off x="5943600" y="1325880"/>
            <a:ext cx="2651760" cy="320040"/>
          </a:xfrm>
          <a:prstGeom prst="rect">
            <a:avLst/>
          </a:prstGeom>
          <a:noFill/>
          <a:ln/>
        </p:spPr>
        <p:txBody>
          <a:bodyPr wrap="square" lIns="0" tIns="0" rIns="0" bIns="0" rtlCol="0" anchor="ctr"/>
          <a:lstStyle/>
          <a:p>
            <a:pPr indent="0" marL="0">
              <a:buNone/>
            </a:pPr>
            <a:r>
              <a:rPr lang="en-US" sz="1200" dirty="0">
                <a:solidFill>
                  <a:srgbClr val="06D6A0"/>
                </a:solidFill>
                <a:latin typeface="Trebuchet MS" pitchFamily="34" charset="0"/>
                <a:ea typeface="Trebuchet MS" pitchFamily="34" charset="-122"/>
                <a:cs typeface="Trebuchet MS" pitchFamily="34" charset="-120"/>
              </a:rPr>
              <a:t>2025 Data Insight</a:t>
            </a:r>
            <a:endParaRPr lang="en-US" sz="1200" dirty="0"/>
          </a:p>
        </p:txBody>
      </p:sp>
      <p:sp>
        <p:nvSpPr>
          <p:cNvPr id="22" name="Text 19"/>
          <p:cNvSpPr/>
          <p:nvPr/>
        </p:nvSpPr>
        <p:spPr>
          <a:xfrm>
            <a:off x="5943600" y="1737360"/>
            <a:ext cx="2651760" cy="548640"/>
          </a:xfrm>
          <a:prstGeom prst="rect">
            <a:avLst/>
          </a:prstGeom>
          <a:noFill/>
          <a:ln/>
        </p:spPr>
        <p:txBody>
          <a:bodyPr wrap="square" lIns="0" tIns="0" rIns="0" bIns="0" rtlCol="0" anchor="t"/>
          <a:lstStyle/>
          <a:p>
            <a:pPr indent="0" marL="0">
              <a:lnSpc>
                <a:spcPts val="1200"/>
              </a:lnSpc>
              <a:buNone/>
            </a:pPr>
            <a:r>
              <a:rPr lang="en-US" sz="900" dirty="0">
                <a:solidFill>
                  <a:srgbClr val="B8D4E3"/>
                </a:solidFill>
                <a:latin typeface="Calibri" pitchFamily="34" charset="0"/>
                <a:ea typeface="Calibri" pitchFamily="34" charset="-122"/>
                <a:cs typeface="Calibri" pitchFamily="34" charset="-120"/>
              </a:rPr>
              <a:t>●  Strongest distractors pulled 27–36% of candidates</a:t>
            </a:r>
            <a:endParaRPr lang="en-US" sz="900" dirty="0"/>
          </a:p>
        </p:txBody>
      </p:sp>
      <p:sp>
        <p:nvSpPr>
          <p:cNvPr id="23" name="Text 20"/>
          <p:cNvSpPr/>
          <p:nvPr/>
        </p:nvSpPr>
        <p:spPr>
          <a:xfrm>
            <a:off x="5943600" y="2331720"/>
            <a:ext cx="2651760" cy="548640"/>
          </a:xfrm>
          <a:prstGeom prst="rect">
            <a:avLst/>
          </a:prstGeom>
          <a:noFill/>
          <a:ln/>
        </p:spPr>
        <p:txBody>
          <a:bodyPr wrap="square" lIns="0" tIns="0" rIns="0" bIns="0" rtlCol="0" anchor="t"/>
          <a:lstStyle/>
          <a:p>
            <a:pPr indent="0" marL="0">
              <a:lnSpc>
                <a:spcPts val="1200"/>
              </a:lnSpc>
              <a:buNone/>
            </a:pPr>
            <a:r>
              <a:rPr lang="en-US" sz="900" dirty="0">
                <a:solidFill>
                  <a:srgbClr val="B8D4E3"/>
                </a:solidFill>
                <a:latin typeface="Calibri" pitchFamily="34" charset="0"/>
                <a:ea typeface="Calibri" pitchFamily="34" charset="-122"/>
                <a:cs typeface="Calibri" pitchFamily="34" charset="-120"/>
              </a:rPr>
              <a:t>●  Q12: 36% chose wrong option B</a:t>
            </a:r>
            <a:endParaRPr lang="en-US" sz="900" dirty="0"/>
          </a:p>
        </p:txBody>
      </p:sp>
      <p:sp>
        <p:nvSpPr>
          <p:cNvPr id="24" name="Text 21"/>
          <p:cNvSpPr/>
          <p:nvPr/>
        </p:nvSpPr>
        <p:spPr>
          <a:xfrm>
            <a:off x="5943600" y="2926080"/>
            <a:ext cx="2651760" cy="548640"/>
          </a:xfrm>
          <a:prstGeom prst="rect">
            <a:avLst/>
          </a:prstGeom>
          <a:noFill/>
          <a:ln/>
        </p:spPr>
        <p:txBody>
          <a:bodyPr wrap="square" lIns="0" tIns="0" rIns="0" bIns="0" rtlCol="0" anchor="t"/>
          <a:lstStyle/>
          <a:p>
            <a:pPr indent="0" marL="0">
              <a:lnSpc>
                <a:spcPts val="1200"/>
              </a:lnSpc>
              <a:buNone/>
            </a:pPr>
            <a:r>
              <a:rPr lang="en-US" sz="900" dirty="0">
                <a:solidFill>
                  <a:srgbClr val="B8D4E3"/>
                </a:solidFill>
                <a:latin typeface="Calibri" pitchFamily="34" charset="0"/>
                <a:ea typeface="Calibri" pitchFamily="34" charset="-122"/>
                <a:cs typeface="Calibri" pitchFamily="34" charset="-120"/>
              </a:rPr>
              <a:t>●  Q18: 27% chose D, 23% chose C — both invalid IPv4</a:t>
            </a:r>
            <a:endParaRPr lang="en-US" sz="900" dirty="0"/>
          </a:p>
        </p:txBody>
      </p:sp>
      <p:sp>
        <p:nvSpPr>
          <p:cNvPr id="25" name="Text 22"/>
          <p:cNvSpPr/>
          <p:nvPr/>
        </p:nvSpPr>
        <p:spPr>
          <a:xfrm>
            <a:off x="5943600" y="3520440"/>
            <a:ext cx="2651760" cy="548640"/>
          </a:xfrm>
          <a:prstGeom prst="rect">
            <a:avLst/>
          </a:prstGeom>
          <a:noFill/>
          <a:ln/>
        </p:spPr>
        <p:txBody>
          <a:bodyPr wrap="square" lIns="0" tIns="0" rIns="0" bIns="0" rtlCol="0" anchor="t"/>
          <a:lstStyle/>
          <a:p>
            <a:pPr indent="0" marL="0">
              <a:lnSpc>
                <a:spcPts val="1200"/>
              </a:lnSpc>
              <a:buNone/>
            </a:pPr>
            <a:r>
              <a:rPr lang="en-US" sz="900" dirty="0">
                <a:solidFill>
                  <a:srgbClr val="B8D4E3"/>
                </a:solidFill>
                <a:latin typeface="Calibri" pitchFamily="34" charset="0"/>
                <a:ea typeface="Calibri" pitchFamily="34" charset="-122"/>
                <a:cs typeface="Calibri" pitchFamily="34" charset="-120"/>
              </a:rPr>
              <a:t>●  Q38 algorithm: 65% correct but 16% chose C, 14% chose A — loop tracing errors</a:t>
            </a:r>
            <a:endParaRPr lang="en-US" sz="900" dirty="0"/>
          </a:p>
        </p:txBody>
      </p:sp>
      <p:sp>
        <p:nvSpPr>
          <p:cNvPr id="26" name="Shape 23"/>
          <p:cNvSpPr/>
          <p:nvPr/>
        </p:nvSpPr>
        <p:spPr>
          <a:xfrm>
            <a:off x="0" y="4800600"/>
            <a:ext cx="9144000" cy="342900"/>
          </a:xfrm>
          <a:prstGeom prst="rect">
            <a:avLst/>
          </a:prstGeom>
          <a:solidFill>
            <a:srgbClr val="E2E8F0"/>
          </a:solidFill>
          <a:ln/>
        </p:spPr>
      </p:sp>
      <p:sp>
        <p:nvSpPr>
          <p:cNvPr id="27" name="Text 24"/>
          <p:cNvSpPr/>
          <p:nvPr/>
        </p:nvSpPr>
        <p:spPr>
          <a:xfrm>
            <a:off x="457200" y="4818888"/>
            <a:ext cx="4572000" cy="274320"/>
          </a:xfrm>
          <a:prstGeom prst="rect">
            <a:avLst/>
          </a:prstGeom>
          <a:noFill/>
          <a:ln/>
        </p:spPr>
        <p:txBody>
          <a:bodyPr wrap="square" lIns="0" tIns="0" rIns="0" bIns="0" rtlCol="0" anchor="ctr"/>
          <a:lstStyle/>
          <a:p>
            <a:pPr indent="0" marL="0">
              <a:buNone/>
            </a:pPr>
            <a:r>
              <a:rPr lang="en-US" sz="700" dirty="0">
                <a:solidFill>
                  <a:srgbClr val="94A3B8"/>
                </a:solidFill>
                <a:latin typeface="Calibri" pitchFamily="34" charset="0"/>
                <a:ea typeface="Calibri" pitchFamily="34" charset="-122"/>
                <a:cs typeface="Calibri" pitchFamily="34" charset="-120"/>
              </a:rPr>
              <a:t>HKDSE ICT 2025 Exam Skills Masterclass</a:t>
            </a:r>
            <a:endParaRPr lang="en-US" sz="700" dirty="0"/>
          </a:p>
        </p:txBody>
      </p:sp>
      <p:sp>
        <p:nvSpPr>
          <p:cNvPr id="25" name="Slide Number Placeholder 0"/>
          <p:cNvSpPr>
            <a:spLocks noGrp="1"/>
          </p:cNvSpPr>
          <p:nvPr>
            <p:ph type="sldNum" sz="quarter" idx="4294967295"/>
          </p:nvPr>
        </p:nvSpPr>
        <p:spPr>
          <a:xfrm>
            <a:off x="8503920" y="4886325"/>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Calibri"/>
                <a:ea typeface="Calibri"/>
                <a:cs typeface="Calibr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7F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1628"/>
          </a:solidFill>
          <a:ln/>
        </p:spPr>
      </p:sp>
      <p:sp>
        <p:nvSpPr>
          <p:cNvPr id="3" name="Shape 1"/>
          <p:cNvSpPr/>
          <p:nvPr/>
        </p:nvSpPr>
        <p:spPr>
          <a:xfrm>
            <a:off x="457200" y="18288"/>
            <a:ext cx="777240" cy="256032"/>
          </a:xfrm>
          <a:prstGeom prst="roundRect">
            <a:avLst>
              <a:gd name="adj" fmla="val 14286"/>
            </a:avLst>
          </a:prstGeom>
          <a:solidFill>
            <a:srgbClr val="8B5CF6"/>
          </a:solidFill>
          <a:ln/>
        </p:spPr>
      </p:sp>
      <p:sp>
        <p:nvSpPr>
          <p:cNvPr id="4" name="Text 2"/>
          <p:cNvSpPr/>
          <p:nvPr/>
        </p:nvSpPr>
        <p:spPr>
          <a:xfrm>
            <a:off x="548640" y="18288"/>
            <a:ext cx="594360" cy="256032"/>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PAPER 1B</a:t>
            </a:r>
            <a:endParaRPr lang="en-US" sz="900" dirty="0"/>
          </a:p>
        </p:txBody>
      </p:sp>
      <p:sp>
        <p:nvSpPr>
          <p:cNvPr id="5" name="Text 3"/>
          <p:cNvSpPr/>
          <p:nvPr/>
        </p:nvSpPr>
        <p:spPr>
          <a:xfrm>
            <a:off x="457200" y="182880"/>
            <a:ext cx="8229600" cy="502920"/>
          </a:xfrm>
          <a:prstGeom prst="rect">
            <a:avLst/>
          </a:prstGeom>
          <a:noFill/>
          <a:ln/>
        </p:spPr>
        <p:txBody>
          <a:bodyPr wrap="square" lIns="0" tIns="0" rIns="0" bIns="0" rtlCol="0" anchor="ctr"/>
          <a:lstStyle/>
          <a:p>
            <a:pPr indent="0" marL="0">
              <a:buNone/>
            </a:pPr>
            <a:r>
              <a:rPr lang="en-US" sz="2200" dirty="0">
                <a:solidFill>
                  <a:srgbClr val="FFFFFF"/>
                </a:solidFill>
                <a:latin typeface="Trebuchet MS" pitchFamily="34" charset="0"/>
                <a:ea typeface="Trebuchet MS" pitchFamily="34" charset="-122"/>
                <a:cs typeface="Trebuchet MS" pitchFamily="34" charset="-120"/>
              </a:rPr>
              <a:t>Paper 1B: Structured Question Performance</a:t>
            </a:r>
            <a:endParaRPr lang="en-US" sz="2200" dirty="0"/>
          </a:p>
        </p:txBody>
      </p:sp>
      <p:sp>
        <p:nvSpPr>
          <p:cNvPr id="6" name="Text 4"/>
          <p:cNvSpPr/>
          <p:nvPr/>
        </p:nvSpPr>
        <p:spPr>
          <a:xfrm>
            <a:off x="457200" y="594360"/>
            <a:ext cx="8229600" cy="274320"/>
          </a:xfrm>
          <a:prstGeom prst="rect">
            <a:avLst/>
          </a:prstGeom>
          <a:noFill/>
          <a:ln/>
        </p:spPr>
        <p:txBody>
          <a:bodyPr wrap="square" lIns="0" tIns="0" rIns="0" bIns="0" rtlCol="0" anchor="ctr"/>
          <a:lstStyle/>
          <a:p>
            <a:pPr indent="0" marL="0">
              <a:buNone/>
            </a:pPr>
            <a:r>
              <a:rPr lang="en-US" sz="1200" dirty="0">
                <a:solidFill>
                  <a:srgbClr val="B8D4E3"/>
                </a:solidFill>
                <a:latin typeface="Calibri" pitchFamily="34" charset="0"/>
                <a:ea typeface="Calibri" pitchFamily="34" charset="-122"/>
                <a:cs typeface="Calibri" pitchFamily="34" charset="-120"/>
              </a:rPr>
              <a:t>Mixed Results — 4 Sub-questions Rated Poor, 9 Rated Fair</a:t>
            </a:r>
            <a:endParaRPr lang="en-US" sz="1200" dirty="0"/>
          </a:p>
        </p:txBody>
      </p:sp>
      <p:graphicFrame>
        <p:nvGraphicFramePr>
          <p:cNvPr id="7" name="Chart 0" descr=""/>
          <p:cNvGraphicFramePr/>
          <p:nvPr/>
        </p:nvGraphicFramePr>
        <p:xfrm>
          <a:off x="365760" y="1234440"/>
          <a:ext cx="4389120" cy="237744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5029200" y="1234440"/>
            <a:ext cx="3749040" cy="1051560"/>
          </a:xfrm>
          <a:prstGeom prst="roundRect">
            <a:avLst>
              <a:gd name="adj" fmla="val 6957"/>
            </a:avLst>
          </a:prstGeom>
          <a:solidFill>
            <a:srgbClr val="D1FAE5"/>
          </a:solidFill>
          <a:ln/>
        </p:spPr>
      </p:sp>
      <p:pic>
        <p:nvPicPr>
          <p:cNvPr id="9" name="Image 0" descr="icon_70.sv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166360" y="1353312"/>
            <a:ext cx="228600" cy="228600"/>
          </a:xfrm>
          <a:prstGeom prst="rect">
            <a:avLst/>
          </a:prstGeom>
        </p:spPr>
      </p:pic>
      <p:sp>
        <p:nvSpPr>
          <p:cNvPr id="10" name="Text 6"/>
          <p:cNvSpPr/>
          <p:nvPr/>
        </p:nvSpPr>
        <p:spPr>
          <a:xfrm>
            <a:off x="5486400" y="1298448"/>
            <a:ext cx="1828800" cy="274320"/>
          </a:xfrm>
          <a:prstGeom prst="rect">
            <a:avLst/>
          </a:prstGeom>
          <a:noFill/>
          <a:ln/>
        </p:spPr>
        <p:txBody>
          <a:bodyPr wrap="square" lIns="0" tIns="0" rIns="0" bIns="0" rtlCol="0" anchor="ctr"/>
          <a:lstStyle/>
          <a:p>
            <a:pPr indent="0" marL="0">
              <a:buNone/>
            </a:pPr>
            <a:r>
              <a:rPr lang="en-US" sz="1200" dirty="0">
                <a:solidFill>
                  <a:srgbClr val="10B981"/>
                </a:solidFill>
                <a:latin typeface="Trebuchet MS" pitchFamily="34" charset="0"/>
                <a:ea typeface="Trebuchet MS" pitchFamily="34" charset="-122"/>
                <a:cs typeface="Trebuchet MS" pitchFamily="34" charset="-120"/>
              </a:rPr>
              <a:t>Strongest</a:t>
            </a:r>
            <a:endParaRPr lang="en-US" sz="1200" dirty="0"/>
          </a:p>
        </p:txBody>
      </p:sp>
      <p:sp>
        <p:nvSpPr>
          <p:cNvPr id="11" name="Text 7"/>
          <p:cNvSpPr/>
          <p:nvPr/>
        </p:nvSpPr>
        <p:spPr>
          <a:xfrm>
            <a:off x="5166360" y="1627632"/>
            <a:ext cx="3474720" cy="457200"/>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Q6 (Very Good/Good) and Q7d, Q9a (Very Good/Good)</a:t>
            </a:r>
            <a:endParaRPr lang="en-US" sz="950" dirty="0"/>
          </a:p>
        </p:txBody>
      </p:sp>
      <p:sp>
        <p:nvSpPr>
          <p:cNvPr id="12" name="Shape 8"/>
          <p:cNvSpPr/>
          <p:nvPr/>
        </p:nvSpPr>
        <p:spPr>
          <a:xfrm>
            <a:off x="5029200" y="2423160"/>
            <a:ext cx="3749040" cy="1051560"/>
          </a:xfrm>
          <a:prstGeom prst="roundRect">
            <a:avLst>
              <a:gd name="adj" fmla="val 6957"/>
            </a:avLst>
          </a:prstGeom>
          <a:solidFill>
            <a:srgbClr val="FEE2E2"/>
          </a:solidFill>
          <a:ln/>
        </p:spPr>
      </p:sp>
      <p:pic>
        <p:nvPicPr>
          <p:cNvPr id="13" name="Image 1" descr="icon_71.sv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166360" y="2542032"/>
            <a:ext cx="228600" cy="228600"/>
          </a:xfrm>
          <a:prstGeom prst="rect">
            <a:avLst/>
          </a:prstGeom>
        </p:spPr>
      </p:pic>
      <p:sp>
        <p:nvSpPr>
          <p:cNvPr id="14" name="Text 9"/>
          <p:cNvSpPr/>
          <p:nvPr/>
        </p:nvSpPr>
        <p:spPr>
          <a:xfrm>
            <a:off x="5486400" y="2487168"/>
            <a:ext cx="1828800" cy="274320"/>
          </a:xfrm>
          <a:prstGeom prst="rect">
            <a:avLst/>
          </a:prstGeom>
          <a:noFill/>
          <a:ln/>
        </p:spPr>
        <p:txBody>
          <a:bodyPr wrap="square" lIns="0" tIns="0" rIns="0" bIns="0" rtlCol="0" anchor="ctr"/>
          <a:lstStyle/>
          <a:p>
            <a:pPr indent="0" marL="0">
              <a:buNone/>
            </a:pPr>
            <a:r>
              <a:rPr lang="en-US" sz="1200" dirty="0">
                <a:solidFill>
                  <a:srgbClr val="EF4444"/>
                </a:solidFill>
                <a:latin typeface="Trebuchet MS" pitchFamily="34" charset="0"/>
                <a:ea typeface="Trebuchet MS" pitchFamily="34" charset="-122"/>
                <a:cs typeface="Trebuchet MS" pitchFamily="34" charset="-120"/>
              </a:rPr>
              <a:t>Weakest</a:t>
            </a:r>
            <a:endParaRPr lang="en-US" sz="1200" dirty="0"/>
          </a:p>
        </p:txBody>
      </p:sp>
      <p:sp>
        <p:nvSpPr>
          <p:cNvPr id="15" name="Text 10"/>
          <p:cNvSpPr/>
          <p:nvPr/>
        </p:nvSpPr>
        <p:spPr>
          <a:xfrm>
            <a:off x="5166360" y="2816352"/>
            <a:ext cx="3474720" cy="457200"/>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Q4 HTML &amp; AI/ML (both Poor), Q7c validation checks (Poor)</a:t>
            </a:r>
            <a:endParaRPr lang="en-US" sz="950" dirty="0"/>
          </a:p>
        </p:txBody>
      </p:sp>
      <p:sp>
        <p:nvSpPr>
          <p:cNvPr id="16" name="Shape 11"/>
          <p:cNvSpPr/>
          <p:nvPr/>
        </p:nvSpPr>
        <p:spPr>
          <a:xfrm>
            <a:off x="457200" y="3840480"/>
            <a:ext cx="8229600" cy="502920"/>
          </a:xfrm>
          <a:prstGeom prst="roundRect">
            <a:avLst>
              <a:gd name="adj" fmla="val 10909"/>
            </a:avLst>
          </a:prstGeom>
          <a:solidFill>
            <a:srgbClr val="F59E0B">
              <a:alpha val="15000"/>
            </a:srgbClr>
          </a:solidFill>
          <a:ln/>
        </p:spPr>
      </p:sp>
      <p:pic>
        <p:nvPicPr>
          <p:cNvPr id="17" name="Image 2" descr="icon_72.sv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94360" y="3950208"/>
            <a:ext cx="201168" cy="201168"/>
          </a:xfrm>
          <a:prstGeom prst="rect">
            <a:avLst/>
          </a:prstGeom>
        </p:spPr>
      </p:pic>
      <p:sp>
        <p:nvSpPr>
          <p:cNvPr id="18" name="Text 12"/>
          <p:cNvSpPr/>
          <p:nvPr/>
        </p:nvSpPr>
        <p:spPr>
          <a:xfrm>
            <a:off x="914400" y="3858768"/>
            <a:ext cx="7498080" cy="45720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Key theme: Candidates know concepts superficially but cannot apply them precisely</a:t>
            </a:r>
            <a:endParaRPr lang="en-US" sz="1100" dirty="0"/>
          </a:p>
        </p:txBody>
      </p:sp>
      <p:sp>
        <p:nvSpPr>
          <p:cNvPr id="19" name="Shape 13"/>
          <p:cNvSpPr/>
          <p:nvPr/>
        </p:nvSpPr>
        <p:spPr>
          <a:xfrm>
            <a:off x="0" y="4800600"/>
            <a:ext cx="9144000" cy="342900"/>
          </a:xfrm>
          <a:prstGeom prst="rect">
            <a:avLst/>
          </a:prstGeom>
          <a:solidFill>
            <a:srgbClr val="E2E8F0"/>
          </a:solidFill>
          <a:ln/>
        </p:spPr>
      </p:sp>
      <p:sp>
        <p:nvSpPr>
          <p:cNvPr id="20" name="Text 14"/>
          <p:cNvSpPr/>
          <p:nvPr/>
        </p:nvSpPr>
        <p:spPr>
          <a:xfrm>
            <a:off x="457200" y="4818888"/>
            <a:ext cx="4572000" cy="274320"/>
          </a:xfrm>
          <a:prstGeom prst="rect">
            <a:avLst/>
          </a:prstGeom>
          <a:noFill/>
          <a:ln/>
        </p:spPr>
        <p:txBody>
          <a:bodyPr wrap="square" lIns="0" tIns="0" rIns="0" bIns="0" rtlCol="0" anchor="ctr"/>
          <a:lstStyle/>
          <a:p>
            <a:pPr indent="0" marL="0">
              <a:buNone/>
            </a:pPr>
            <a:r>
              <a:rPr lang="en-US" sz="700" dirty="0">
                <a:solidFill>
                  <a:srgbClr val="94A3B8"/>
                </a:solidFill>
                <a:latin typeface="Calibri" pitchFamily="34" charset="0"/>
                <a:ea typeface="Calibri" pitchFamily="34" charset="-122"/>
                <a:cs typeface="Calibri" pitchFamily="34" charset="-120"/>
              </a:rPr>
              <a:t>HKDSE ICT 2025 Exam Skills Masterclass</a:t>
            </a:r>
            <a:endParaRPr lang="en-US" sz="700" dirty="0"/>
          </a:p>
        </p:txBody>
      </p:sp>
      <p:sp>
        <p:nvSpPr>
          <p:cNvPr id="25" name="Slide Number Placeholder 0"/>
          <p:cNvSpPr>
            <a:spLocks noGrp="1"/>
          </p:cNvSpPr>
          <p:nvPr>
            <p:ph type="sldNum" sz="quarter" idx="4294967295"/>
          </p:nvPr>
        </p:nvSpPr>
        <p:spPr>
          <a:xfrm>
            <a:off x="8503920" y="4886325"/>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Calibri"/>
                <a:ea typeface="Calibri"/>
                <a:cs typeface="Calibri"/>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7F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1628"/>
          </a:solidFill>
          <a:ln/>
        </p:spPr>
      </p:sp>
      <p:sp>
        <p:nvSpPr>
          <p:cNvPr id="3" name="Shape 1"/>
          <p:cNvSpPr/>
          <p:nvPr/>
        </p:nvSpPr>
        <p:spPr>
          <a:xfrm>
            <a:off x="457200" y="18288"/>
            <a:ext cx="777240" cy="256032"/>
          </a:xfrm>
          <a:prstGeom prst="roundRect">
            <a:avLst>
              <a:gd name="adj" fmla="val 14286"/>
            </a:avLst>
          </a:prstGeom>
          <a:solidFill>
            <a:srgbClr val="8B5CF6"/>
          </a:solidFill>
          <a:ln/>
        </p:spPr>
      </p:sp>
      <p:sp>
        <p:nvSpPr>
          <p:cNvPr id="4" name="Text 2"/>
          <p:cNvSpPr/>
          <p:nvPr/>
        </p:nvSpPr>
        <p:spPr>
          <a:xfrm>
            <a:off x="548640" y="18288"/>
            <a:ext cx="594360" cy="256032"/>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PAPER 1B</a:t>
            </a:r>
            <a:endParaRPr lang="en-US" sz="900" dirty="0"/>
          </a:p>
        </p:txBody>
      </p:sp>
      <p:pic>
        <p:nvPicPr>
          <p:cNvPr id="5" name="Image 0" descr="icon_73.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321040" y="228600"/>
            <a:ext cx="320040" cy="320040"/>
          </a:xfrm>
          <a:prstGeom prst="rect">
            <a:avLst/>
          </a:prstGeom>
        </p:spPr>
      </p:pic>
      <p:sp>
        <p:nvSpPr>
          <p:cNvPr id="6" name="Text 3"/>
          <p:cNvSpPr/>
          <p:nvPr/>
        </p:nvSpPr>
        <p:spPr>
          <a:xfrm>
            <a:off x="457200" y="182880"/>
            <a:ext cx="7772400" cy="502920"/>
          </a:xfrm>
          <a:prstGeom prst="rect">
            <a:avLst/>
          </a:prstGeom>
          <a:noFill/>
          <a:ln/>
        </p:spPr>
        <p:txBody>
          <a:bodyPr wrap="square" lIns="0" tIns="0" rIns="0" bIns="0" rtlCol="0" anchor="ctr"/>
          <a:lstStyle/>
          <a:p>
            <a:pPr indent="0" marL="0">
              <a:buNone/>
            </a:pPr>
            <a:r>
              <a:rPr lang="en-US" sz="2000" dirty="0">
                <a:solidFill>
                  <a:srgbClr val="FFFFFF"/>
                </a:solidFill>
                <a:latin typeface="Trebuchet MS" pitchFamily="34" charset="0"/>
                <a:ea typeface="Trebuchet MS" pitchFamily="34" charset="-122"/>
                <a:cs typeface="Trebuchet MS" pitchFamily="34" charset="-120"/>
              </a:rPr>
              <a:t>Paper 1B: Critical Errors — Spreadsheets &amp; Programming</a:t>
            </a:r>
            <a:endParaRPr lang="en-US" sz="2000" dirty="0"/>
          </a:p>
        </p:txBody>
      </p:sp>
      <p:sp>
        <p:nvSpPr>
          <p:cNvPr id="7" name="Text 4"/>
          <p:cNvSpPr/>
          <p:nvPr/>
        </p:nvSpPr>
        <p:spPr>
          <a:xfrm>
            <a:off x="457200" y="594360"/>
            <a:ext cx="8229600" cy="274320"/>
          </a:xfrm>
          <a:prstGeom prst="rect">
            <a:avLst/>
          </a:prstGeom>
          <a:noFill/>
          <a:ln/>
        </p:spPr>
        <p:txBody>
          <a:bodyPr wrap="square" lIns="0" tIns="0" rIns="0" bIns="0" rtlCol="0" anchor="ctr"/>
          <a:lstStyle/>
          <a:p>
            <a:pPr indent="0" marL="0">
              <a:buNone/>
            </a:pPr>
            <a:r>
              <a:rPr lang="en-US" sz="1200" dirty="0">
                <a:solidFill>
                  <a:srgbClr val="B8D4E3"/>
                </a:solidFill>
                <a:latin typeface="Calibri" pitchFamily="34" charset="0"/>
                <a:ea typeface="Calibri" pitchFamily="34" charset="-122"/>
                <a:cs typeface="Calibri" pitchFamily="34" charset="-120"/>
              </a:rPr>
              <a:t>The Technical Mistakes That Cost the Most Marks</a:t>
            </a:r>
            <a:endParaRPr lang="en-US" sz="1200" dirty="0"/>
          </a:p>
        </p:txBody>
      </p:sp>
      <p:sp>
        <p:nvSpPr>
          <p:cNvPr id="8" name="Shape 5"/>
          <p:cNvSpPr/>
          <p:nvPr/>
        </p:nvSpPr>
        <p:spPr>
          <a:xfrm>
            <a:off x="457200" y="1188720"/>
            <a:ext cx="8229600" cy="576072"/>
          </a:xfrm>
          <a:prstGeom prst="roundRect">
            <a:avLst>
              <a:gd name="adj" fmla="val 9524"/>
            </a:avLst>
          </a:prstGeom>
          <a:solidFill>
            <a:srgbClr val="FFFFFF"/>
          </a:solidFill>
          <a:ln/>
          <a:effectLst>
            <a:outerShdw sx="100000" sy="100000" kx="0" ky="0" algn="bl" rotWithShape="0" blurRad="101600" dist="25400" dir="8100000">
              <a:srgbClr val="000000">
                <a:alpha val="8000"/>
              </a:srgbClr>
            </a:outerShdw>
          </a:effectLst>
        </p:spPr>
      </p:sp>
      <p:sp>
        <p:nvSpPr>
          <p:cNvPr id="9" name="Shape 6"/>
          <p:cNvSpPr/>
          <p:nvPr/>
        </p:nvSpPr>
        <p:spPr>
          <a:xfrm>
            <a:off x="457200" y="1188720"/>
            <a:ext cx="54864" cy="576072"/>
          </a:xfrm>
          <a:prstGeom prst="rect">
            <a:avLst/>
          </a:prstGeom>
          <a:solidFill>
            <a:srgbClr val="EF4444"/>
          </a:solidFill>
          <a:ln/>
        </p:spPr>
      </p:sp>
      <p:sp>
        <p:nvSpPr>
          <p:cNvPr id="10" name="Text 7"/>
          <p:cNvSpPr/>
          <p:nvPr/>
        </p:nvSpPr>
        <p:spPr>
          <a:xfrm>
            <a:off x="640080" y="1330452"/>
            <a:ext cx="640080" cy="292608"/>
          </a:xfrm>
          <a:prstGeom prst="roundRect">
            <a:avLst>
              <a:gd name="adj" fmla="val 12500"/>
            </a:avLst>
          </a:prstGeom>
          <a:solidFill>
            <a:srgbClr val="FEE2E2"/>
          </a:solidFill>
          <a:ln/>
        </p:spPr>
        <p:txBody>
          <a:bodyPr wrap="square" lIns="0" tIns="0" rIns="0" bIns="0" rtlCol="0" anchor="ctr"/>
          <a:lstStyle/>
          <a:p>
            <a:pPr algn="ctr" indent="0" marL="0">
              <a:buNone/>
            </a:pPr>
            <a:r>
              <a:rPr lang="en-US" sz="900" dirty="0">
                <a:solidFill>
                  <a:srgbClr val="EF4444"/>
                </a:solidFill>
                <a:latin typeface="Trebuchet MS" pitchFamily="34" charset="0"/>
                <a:ea typeface="Trebuchet MS" pitchFamily="34" charset="-122"/>
                <a:cs typeface="Trebuchet MS" pitchFamily="34" charset="-120"/>
              </a:rPr>
              <a:t>~50%</a:t>
            </a:r>
            <a:endParaRPr lang="en-US" sz="900" dirty="0"/>
          </a:p>
        </p:txBody>
      </p:sp>
      <p:sp>
        <p:nvSpPr>
          <p:cNvPr id="11" name="Text 8"/>
          <p:cNvSpPr/>
          <p:nvPr/>
        </p:nvSpPr>
        <p:spPr>
          <a:xfrm>
            <a:off x="1417320" y="1234440"/>
            <a:ext cx="1828800" cy="201168"/>
          </a:xfrm>
          <a:prstGeom prst="rect">
            <a:avLst/>
          </a:prstGeom>
          <a:noFill/>
          <a:ln/>
        </p:spPr>
        <p:txBody>
          <a:bodyPr wrap="square" lIns="0" tIns="0" rIns="0" bIns="0" rtlCol="0" anchor="ctr"/>
          <a:lstStyle/>
          <a:p>
            <a:pPr indent="0" marL="0">
              <a:buNone/>
            </a:pPr>
            <a:r>
              <a:rPr lang="en-US" sz="1000" dirty="0">
                <a:solidFill>
                  <a:srgbClr val="0C7C9B"/>
                </a:solidFill>
                <a:latin typeface="Trebuchet MS" pitchFamily="34" charset="0"/>
                <a:ea typeface="Trebuchet MS" pitchFamily="34" charset="-122"/>
                <a:cs typeface="Trebuchet MS" pitchFamily="34" charset="-120"/>
              </a:rPr>
              <a:t>Spreadsheet Function</a:t>
            </a:r>
            <a:endParaRPr lang="en-US" sz="1000" dirty="0"/>
          </a:p>
        </p:txBody>
      </p:sp>
      <p:sp>
        <p:nvSpPr>
          <p:cNvPr id="12" name="Text 9"/>
          <p:cNvSpPr/>
          <p:nvPr/>
        </p:nvSpPr>
        <p:spPr>
          <a:xfrm>
            <a:off x="1417320" y="1444752"/>
            <a:ext cx="4572000" cy="274320"/>
          </a:xfrm>
          <a:prstGeom prst="rect">
            <a:avLst/>
          </a:prstGeom>
          <a:noFill/>
          <a:ln/>
        </p:spPr>
        <p:txBody>
          <a:bodyPr wrap="square" lIns="0" tIns="0" rIns="0" bIns="0" rtlCol="0" anchor="t"/>
          <a:lstStyle/>
          <a:p>
            <a:pPr indent="0" marL="0">
              <a:buNone/>
            </a:pPr>
            <a:r>
              <a:rPr lang="en-US" sz="900" dirty="0">
                <a:solidFill>
                  <a:srgbClr val="1E293B"/>
                </a:solidFill>
                <a:latin typeface="Calibri" pitchFamily="34" charset="0"/>
                <a:ea typeface="Calibri" pitchFamily="34" charset="-122"/>
                <a:cs typeface="Calibri" pitchFamily="34" charset="-120"/>
              </a:rPr>
              <a:t>~50% used AVG instead of AVERAGE</a:t>
            </a:r>
            <a:endParaRPr lang="en-US" sz="900" dirty="0"/>
          </a:p>
        </p:txBody>
      </p:sp>
      <p:sp>
        <p:nvSpPr>
          <p:cNvPr id="13" name="Text 10"/>
          <p:cNvSpPr/>
          <p:nvPr/>
        </p:nvSpPr>
        <p:spPr>
          <a:xfrm>
            <a:off x="6035040" y="1325880"/>
            <a:ext cx="2468880" cy="320040"/>
          </a:xfrm>
          <a:prstGeom prst="rect">
            <a:avLst/>
          </a:prstGeom>
          <a:noFill/>
          <a:ln/>
        </p:spPr>
        <p:txBody>
          <a:bodyPr wrap="square" lIns="0" tIns="0" rIns="0" bIns="0" rtlCol="0" anchor="ctr"/>
          <a:lstStyle/>
          <a:p>
            <a:pPr indent="0" marL="0">
              <a:buNone/>
            </a:pPr>
            <a:r>
              <a:rPr lang="en-US" sz="900" i="1" dirty="0">
                <a:solidFill>
                  <a:srgbClr val="EF4444"/>
                </a:solidFill>
                <a:latin typeface="Calibri" pitchFamily="34" charset="0"/>
                <a:ea typeface="Calibri" pitchFamily="34" charset="-122"/>
                <a:cs typeface="Calibri" pitchFamily="34" charset="-120"/>
              </a:rPr>
              <a:t>Wrong function name = zero marks</a:t>
            </a:r>
            <a:endParaRPr lang="en-US" sz="900" dirty="0"/>
          </a:p>
        </p:txBody>
      </p:sp>
      <p:sp>
        <p:nvSpPr>
          <p:cNvPr id="14" name="Shape 11"/>
          <p:cNvSpPr/>
          <p:nvPr/>
        </p:nvSpPr>
        <p:spPr>
          <a:xfrm>
            <a:off x="457200" y="1837944"/>
            <a:ext cx="8229600" cy="576072"/>
          </a:xfrm>
          <a:prstGeom prst="roundRect">
            <a:avLst>
              <a:gd name="adj" fmla="val 9524"/>
            </a:avLst>
          </a:prstGeom>
          <a:solidFill>
            <a:srgbClr val="FFFFFF"/>
          </a:solidFill>
          <a:ln/>
          <a:effectLst>
            <a:outerShdw sx="100000" sy="100000" kx="0" ky="0" algn="bl" rotWithShape="0" blurRad="101600" dist="25400" dir="8100000">
              <a:srgbClr val="000000">
                <a:alpha val="8000"/>
              </a:srgbClr>
            </a:outerShdw>
          </a:effectLst>
        </p:spPr>
      </p:sp>
      <p:sp>
        <p:nvSpPr>
          <p:cNvPr id="15" name="Shape 12"/>
          <p:cNvSpPr/>
          <p:nvPr/>
        </p:nvSpPr>
        <p:spPr>
          <a:xfrm>
            <a:off x="457200" y="1837944"/>
            <a:ext cx="54864" cy="576072"/>
          </a:xfrm>
          <a:prstGeom prst="rect">
            <a:avLst/>
          </a:prstGeom>
          <a:solidFill>
            <a:srgbClr val="EF4444"/>
          </a:solidFill>
          <a:ln/>
        </p:spPr>
      </p:sp>
      <p:sp>
        <p:nvSpPr>
          <p:cNvPr id="16" name="Text 13"/>
          <p:cNvSpPr/>
          <p:nvPr/>
        </p:nvSpPr>
        <p:spPr>
          <a:xfrm>
            <a:off x="640080" y="1979676"/>
            <a:ext cx="640080" cy="292608"/>
          </a:xfrm>
          <a:prstGeom prst="roundRect">
            <a:avLst>
              <a:gd name="adj" fmla="val 12500"/>
            </a:avLst>
          </a:prstGeom>
          <a:solidFill>
            <a:srgbClr val="FEE2E2"/>
          </a:solidFill>
          <a:ln/>
        </p:spPr>
        <p:txBody>
          <a:bodyPr wrap="square" lIns="0" tIns="0" rIns="0" bIns="0" rtlCol="0" anchor="ctr"/>
          <a:lstStyle/>
          <a:p>
            <a:pPr algn="ctr" indent="0" marL="0">
              <a:buNone/>
            </a:pPr>
            <a:r>
              <a:rPr lang="en-US" sz="900" dirty="0">
                <a:solidFill>
                  <a:srgbClr val="EF4444"/>
                </a:solidFill>
                <a:latin typeface="Trebuchet MS" pitchFamily="34" charset="0"/>
                <a:ea typeface="Trebuchet MS" pitchFamily="34" charset="-122"/>
                <a:cs typeface="Trebuchet MS" pitchFamily="34" charset="-120"/>
              </a:rPr>
              <a:t>High</a:t>
            </a:r>
            <a:endParaRPr lang="en-US" sz="900" dirty="0"/>
          </a:p>
        </p:txBody>
      </p:sp>
      <p:sp>
        <p:nvSpPr>
          <p:cNvPr id="17" name="Text 14"/>
          <p:cNvSpPr/>
          <p:nvPr/>
        </p:nvSpPr>
        <p:spPr>
          <a:xfrm>
            <a:off x="1417320" y="1883664"/>
            <a:ext cx="1828800" cy="201168"/>
          </a:xfrm>
          <a:prstGeom prst="rect">
            <a:avLst/>
          </a:prstGeom>
          <a:noFill/>
          <a:ln/>
        </p:spPr>
        <p:txBody>
          <a:bodyPr wrap="square" lIns="0" tIns="0" rIns="0" bIns="0" rtlCol="0" anchor="ctr"/>
          <a:lstStyle/>
          <a:p>
            <a:pPr indent="0" marL="0">
              <a:buNone/>
            </a:pPr>
            <a:r>
              <a:rPr lang="en-US" sz="1000" dirty="0">
                <a:solidFill>
                  <a:srgbClr val="0C7C9B"/>
                </a:solidFill>
                <a:latin typeface="Trebuchet MS" pitchFamily="34" charset="0"/>
                <a:ea typeface="Trebuchet MS" pitchFamily="34" charset="-122"/>
                <a:cs typeface="Trebuchet MS" pitchFamily="34" charset="-120"/>
              </a:rPr>
              <a:t>Concatenation</a:t>
            </a:r>
            <a:endParaRPr lang="en-US" sz="1000" dirty="0"/>
          </a:p>
        </p:txBody>
      </p:sp>
      <p:sp>
        <p:nvSpPr>
          <p:cNvPr id="18" name="Text 15"/>
          <p:cNvSpPr/>
          <p:nvPr/>
        </p:nvSpPr>
        <p:spPr>
          <a:xfrm>
            <a:off x="1417320" y="2093976"/>
            <a:ext cx="4572000" cy="274320"/>
          </a:xfrm>
          <a:prstGeom prst="rect">
            <a:avLst/>
          </a:prstGeom>
          <a:noFill/>
          <a:ln/>
        </p:spPr>
        <p:txBody>
          <a:bodyPr wrap="square" lIns="0" tIns="0" rIns="0" bIns="0" rtlCol="0" anchor="t"/>
          <a:lstStyle/>
          <a:p>
            <a:pPr indent="0" marL="0">
              <a:buNone/>
            </a:pPr>
            <a:r>
              <a:rPr lang="en-US" sz="900" dirty="0">
                <a:solidFill>
                  <a:srgbClr val="1E293B"/>
                </a:solidFill>
                <a:latin typeface="Calibri" pitchFamily="34" charset="0"/>
                <a:ea typeface="Calibri" pitchFamily="34" charset="-122"/>
                <a:cs typeface="Calibri" pitchFamily="34" charset="-120"/>
              </a:rPr>
              <a:t>Cannot use &amp; operator to combine comparison operators with cell addresses in COUNTIF/SUMIF</a:t>
            </a:r>
            <a:endParaRPr lang="en-US" sz="900" dirty="0"/>
          </a:p>
        </p:txBody>
      </p:sp>
      <p:sp>
        <p:nvSpPr>
          <p:cNvPr id="19" name="Text 16"/>
          <p:cNvSpPr/>
          <p:nvPr/>
        </p:nvSpPr>
        <p:spPr>
          <a:xfrm>
            <a:off x="6035040" y="1975104"/>
            <a:ext cx="2468880" cy="320040"/>
          </a:xfrm>
          <a:prstGeom prst="rect">
            <a:avLst/>
          </a:prstGeom>
          <a:noFill/>
          <a:ln/>
        </p:spPr>
        <p:txBody>
          <a:bodyPr wrap="square" lIns="0" tIns="0" rIns="0" bIns="0" rtlCol="0" anchor="ctr"/>
          <a:lstStyle/>
          <a:p>
            <a:pPr indent="0" marL="0">
              <a:buNone/>
            </a:pPr>
            <a:r>
              <a:rPr lang="en-US" sz="900" i="1" dirty="0">
                <a:solidFill>
                  <a:srgbClr val="EF4444"/>
                </a:solidFill>
                <a:latin typeface="Calibri" pitchFamily="34" charset="0"/>
                <a:ea typeface="Calibri" pitchFamily="34" charset="-122"/>
                <a:cs typeface="Calibri" pitchFamily="34" charset="-120"/>
              </a:rPr>
              <a:t>Lack of practical formula construction experience</a:t>
            </a:r>
            <a:endParaRPr lang="en-US" sz="900" dirty="0"/>
          </a:p>
        </p:txBody>
      </p:sp>
      <p:sp>
        <p:nvSpPr>
          <p:cNvPr id="20" name="Shape 17"/>
          <p:cNvSpPr/>
          <p:nvPr/>
        </p:nvSpPr>
        <p:spPr>
          <a:xfrm>
            <a:off x="457200" y="2487168"/>
            <a:ext cx="8229600" cy="576072"/>
          </a:xfrm>
          <a:prstGeom prst="roundRect">
            <a:avLst>
              <a:gd name="adj" fmla="val 9524"/>
            </a:avLst>
          </a:prstGeom>
          <a:solidFill>
            <a:srgbClr val="FFFFFF"/>
          </a:solidFill>
          <a:ln/>
          <a:effectLst>
            <a:outerShdw sx="100000" sy="100000" kx="0" ky="0" algn="bl" rotWithShape="0" blurRad="101600" dist="25400" dir="8100000">
              <a:srgbClr val="000000">
                <a:alpha val="8000"/>
              </a:srgbClr>
            </a:outerShdw>
          </a:effectLst>
        </p:spPr>
      </p:sp>
      <p:sp>
        <p:nvSpPr>
          <p:cNvPr id="21" name="Shape 18"/>
          <p:cNvSpPr/>
          <p:nvPr/>
        </p:nvSpPr>
        <p:spPr>
          <a:xfrm>
            <a:off x="457200" y="2487168"/>
            <a:ext cx="54864" cy="576072"/>
          </a:xfrm>
          <a:prstGeom prst="rect">
            <a:avLst/>
          </a:prstGeom>
          <a:solidFill>
            <a:srgbClr val="EF4444"/>
          </a:solidFill>
          <a:ln/>
        </p:spPr>
      </p:sp>
      <p:sp>
        <p:nvSpPr>
          <p:cNvPr id="22" name="Text 19"/>
          <p:cNvSpPr/>
          <p:nvPr/>
        </p:nvSpPr>
        <p:spPr>
          <a:xfrm>
            <a:off x="640080" y="2628900"/>
            <a:ext cx="640080" cy="292608"/>
          </a:xfrm>
          <a:prstGeom prst="roundRect">
            <a:avLst>
              <a:gd name="adj" fmla="val 12500"/>
            </a:avLst>
          </a:prstGeom>
          <a:solidFill>
            <a:srgbClr val="FEE2E2"/>
          </a:solidFill>
          <a:ln/>
        </p:spPr>
        <p:txBody>
          <a:bodyPr wrap="square" lIns="0" tIns="0" rIns="0" bIns="0" rtlCol="0" anchor="ctr"/>
          <a:lstStyle/>
          <a:p>
            <a:pPr algn="ctr" indent="0" marL="0">
              <a:buNone/>
            </a:pPr>
            <a:r>
              <a:rPr lang="en-US" sz="900" dirty="0">
                <a:solidFill>
                  <a:srgbClr val="EF4444"/>
                </a:solidFill>
                <a:latin typeface="Trebuchet MS" pitchFamily="34" charset="0"/>
                <a:ea typeface="Trebuchet MS" pitchFamily="34" charset="-122"/>
                <a:cs typeface="Trebuchet MS" pitchFamily="34" charset="-120"/>
              </a:rPr>
              <a:t>Common</a:t>
            </a:r>
            <a:endParaRPr lang="en-US" sz="900" dirty="0"/>
          </a:p>
        </p:txBody>
      </p:sp>
      <p:sp>
        <p:nvSpPr>
          <p:cNvPr id="23" name="Text 20"/>
          <p:cNvSpPr/>
          <p:nvPr/>
        </p:nvSpPr>
        <p:spPr>
          <a:xfrm>
            <a:off x="1417320" y="2532888"/>
            <a:ext cx="1828800" cy="201168"/>
          </a:xfrm>
          <a:prstGeom prst="rect">
            <a:avLst/>
          </a:prstGeom>
          <a:noFill/>
          <a:ln/>
        </p:spPr>
        <p:txBody>
          <a:bodyPr wrap="square" lIns="0" tIns="0" rIns="0" bIns="0" rtlCol="0" anchor="ctr"/>
          <a:lstStyle/>
          <a:p>
            <a:pPr indent="0" marL="0">
              <a:buNone/>
            </a:pPr>
            <a:r>
              <a:rPr lang="en-US" sz="1000" dirty="0">
                <a:solidFill>
                  <a:srgbClr val="0C7C9B"/>
                </a:solidFill>
                <a:latin typeface="Trebuchet MS" pitchFamily="34" charset="0"/>
                <a:ea typeface="Trebuchet MS" pitchFamily="34" charset="-122"/>
                <a:cs typeface="Trebuchet MS" pitchFamily="34" charset="-120"/>
              </a:rPr>
              <a:t>Loop Errors</a:t>
            </a:r>
            <a:endParaRPr lang="en-US" sz="1000" dirty="0"/>
          </a:p>
        </p:txBody>
      </p:sp>
      <p:sp>
        <p:nvSpPr>
          <p:cNvPr id="24" name="Text 21"/>
          <p:cNvSpPr/>
          <p:nvPr/>
        </p:nvSpPr>
        <p:spPr>
          <a:xfrm>
            <a:off x="1417320" y="2743200"/>
            <a:ext cx="4572000" cy="274320"/>
          </a:xfrm>
          <a:prstGeom prst="rect">
            <a:avLst/>
          </a:prstGeom>
          <a:noFill/>
          <a:ln/>
        </p:spPr>
        <p:txBody>
          <a:bodyPr wrap="square" lIns="0" tIns="0" rIns="0" bIns="0" rtlCol="0" anchor="t"/>
          <a:lstStyle/>
          <a:p>
            <a:pPr indent="0" marL="0">
              <a:buNone/>
            </a:pPr>
            <a:r>
              <a:rPr lang="en-US" sz="900" dirty="0">
                <a:solidFill>
                  <a:srgbClr val="1E293B"/>
                </a:solidFill>
                <a:latin typeface="Calibri" pitchFamily="34" charset="0"/>
                <a:ea typeface="Calibri" pitchFamily="34" charset="-122"/>
                <a:cs typeface="Calibri" pitchFamily="34" charset="-120"/>
              </a:rPr>
              <a:t>range(2,N) instead of range(2,N+1)</a:t>
            </a:r>
            <a:endParaRPr lang="en-US" sz="900" dirty="0"/>
          </a:p>
        </p:txBody>
      </p:sp>
      <p:sp>
        <p:nvSpPr>
          <p:cNvPr id="25" name="Text 22"/>
          <p:cNvSpPr/>
          <p:nvPr/>
        </p:nvSpPr>
        <p:spPr>
          <a:xfrm>
            <a:off x="6035040" y="2624328"/>
            <a:ext cx="2468880" cy="320040"/>
          </a:xfrm>
          <a:prstGeom prst="rect">
            <a:avLst/>
          </a:prstGeom>
          <a:noFill/>
          <a:ln/>
        </p:spPr>
        <p:txBody>
          <a:bodyPr wrap="square" lIns="0" tIns="0" rIns="0" bIns="0" rtlCol="0" anchor="ctr"/>
          <a:lstStyle/>
          <a:p>
            <a:pPr indent="0" marL="0">
              <a:buNone/>
            </a:pPr>
            <a:r>
              <a:rPr lang="en-US" sz="900" i="1" dirty="0">
                <a:solidFill>
                  <a:srgbClr val="EF4444"/>
                </a:solidFill>
                <a:latin typeface="Calibri" pitchFamily="34" charset="0"/>
                <a:ea typeface="Calibri" pitchFamily="34" charset="-122"/>
                <a:cs typeface="Calibri" pitchFamily="34" charset="-120"/>
              </a:rPr>
              <a:t>Classic off-by-one mistake</a:t>
            </a:r>
            <a:endParaRPr lang="en-US" sz="900" dirty="0"/>
          </a:p>
        </p:txBody>
      </p:sp>
      <p:sp>
        <p:nvSpPr>
          <p:cNvPr id="26" name="Shape 23"/>
          <p:cNvSpPr/>
          <p:nvPr/>
        </p:nvSpPr>
        <p:spPr>
          <a:xfrm>
            <a:off x="457200" y="3136392"/>
            <a:ext cx="8229600" cy="576072"/>
          </a:xfrm>
          <a:prstGeom prst="roundRect">
            <a:avLst>
              <a:gd name="adj" fmla="val 9524"/>
            </a:avLst>
          </a:prstGeom>
          <a:solidFill>
            <a:srgbClr val="FFFFFF"/>
          </a:solidFill>
          <a:ln/>
          <a:effectLst>
            <a:outerShdw sx="100000" sy="100000" kx="0" ky="0" algn="bl" rotWithShape="0" blurRad="101600" dist="25400" dir="8100000">
              <a:srgbClr val="000000">
                <a:alpha val="8000"/>
              </a:srgbClr>
            </a:outerShdw>
          </a:effectLst>
        </p:spPr>
      </p:sp>
      <p:sp>
        <p:nvSpPr>
          <p:cNvPr id="27" name="Shape 24"/>
          <p:cNvSpPr/>
          <p:nvPr/>
        </p:nvSpPr>
        <p:spPr>
          <a:xfrm>
            <a:off x="457200" y="3136392"/>
            <a:ext cx="54864" cy="576072"/>
          </a:xfrm>
          <a:prstGeom prst="rect">
            <a:avLst/>
          </a:prstGeom>
          <a:solidFill>
            <a:srgbClr val="EF4444"/>
          </a:solidFill>
          <a:ln/>
        </p:spPr>
      </p:sp>
      <p:sp>
        <p:nvSpPr>
          <p:cNvPr id="28" name="Text 25"/>
          <p:cNvSpPr/>
          <p:nvPr/>
        </p:nvSpPr>
        <p:spPr>
          <a:xfrm>
            <a:off x="640080" y="3278124"/>
            <a:ext cx="640080" cy="292608"/>
          </a:xfrm>
          <a:prstGeom prst="roundRect">
            <a:avLst>
              <a:gd name="adj" fmla="val 12500"/>
            </a:avLst>
          </a:prstGeom>
          <a:solidFill>
            <a:srgbClr val="FEE2E2"/>
          </a:solidFill>
          <a:ln/>
        </p:spPr>
        <p:txBody>
          <a:bodyPr wrap="square" lIns="0" tIns="0" rIns="0" bIns="0" rtlCol="0" anchor="ctr"/>
          <a:lstStyle/>
          <a:p>
            <a:pPr algn="ctr" indent="0" marL="0">
              <a:buNone/>
            </a:pPr>
            <a:r>
              <a:rPr lang="en-US" sz="900" dirty="0">
                <a:solidFill>
                  <a:srgbClr val="EF4444"/>
                </a:solidFill>
                <a:latin typeface="Trebuchet MS" pitchFamily="34" charset="0"/>
                <a:ea typeface="Trebuchet MS" pitchFamily="34" charset="-122"/>
                <a:cs typeface="Trebuchet MS" pitchFamily="34" charset="-120"/>
              </a:rPr>
              <a:t>Frequent</a:t>
            </a:r>
            <a:endParaRPr lang="en-US" sz="900" dirty="0"/>
          </a:p>
        </p:txBody>
      </p:sp>
      <p:sp>
        <p:nvSpPr>
          <p:cNvPr id="29" name="Text 26"/>
          <p:cNvSpPr/>
          <p:nvPr/>
        </p:nvSpPr>
        <p:spPr>
          <a:xfrm>
            <a:off x="1417320" y="3182112"/>
            <a:ext cx="1828800" cy="201168"/>
          </a:xfrm>
          <a:prstGeom prst="rect">
            <a:avLst/>
          </a:prstGeom>
          <a:noFill/>
          <a:ln/>
        </p:spPr>
        <p:txBody>
          <a:bodyPr wrap="square" lIns="0" tIns="0" rIns="0" bIns="0" rtlCol="0" anchor="ctr"/>
          <a:lstStyle/>
          <a:p>
            <a:pPr indent="0" marL="0">
              <a:buNone/>
            </a:pPr>
            <a:r>
              <a:rPr lang="en-US" sz="1000" dirty="0">
                <a:solidFill>
                  <a:srgbClr val="0C7C9B"/>
                </a:solidFill>
                <a:latin typeface="Trebuchet MS" pitchFamily="34" charset="0"/>
                <a:ea typeface="Trebuchet MS" pitchFamily="34" charset="-122"/>
                <a:cs typeface="Trebuchet MS" pitchFamily="34" charset="-120"/>
              </a:rPr>
              <a:t>Uninitialised Variables</a:t>
            </a:r>
            <a:endParaRPr lang="en-US" sz="1000" dirty="0"/>
          </a:p>
        </p:txBody>
      </p:sp>
      <p:sp>
        <p:nvSpPr>
          <p:cNvPr id="30" name="Text 27"/>
          <p:cNvSpPr/>
          <p:nvPr/>
        </p:nvSpPr>
        <p:spPr>
          <a:xfrm>
            <a:off x="1417320" y="3392424"/>
            <a:ext cx="4572000" cy="274320"/>
          </a:xfrm>
          <a:prstGeom prst="rect">
            <a:avLst/>
          </a:prstGeom>
          <a:noFill/>
          <a:ln/>
        </p:spPr>
        <p:txBody>
          <a:bodyPr wrap="square" lIns="0" tIns="0" rIns="0" bIns="0" rtlCol="0" anchor="t"/>
          <a:lstStyle/>
          <a:p>
            <a:pPr indent="0" marL="0">
              <a:buNone/>
            </a:pPr>
            <a:r>
              <a:rPr lang="en-US" sz="900" dirty="0">
                <a:solidFill>
                  <a:srgbClr val="1E293B"/>
                </a:solidFill>
                <a:latin typeface="Calibri" pitchFamily="34" charset="0"/>
                <a:ea typeface="Calibri" pitchFamily="34" charset="-122"/>
                <a:cs typeface="Calibri" pitchFamily="34" charset="-120"/>
              </a:rPr>
              <a:t>Forgot to initialise Smax, Smin, FS before use in loops</a:t>
            </a:r>
            <a:endParaRPr lang="en-US" sz="900" dirty="0"/>
          </a:p>
        </p:txBody>
      </p:sp>
      <p:sp>
        <p:nvSpPr>
          <p:cNvPr id="31" name="Text 28"/>
          <p:cNvSpPr/>
          <p:nvPr/>
        </p:nvSpPr>
        <p:spPr>
          <a:xfrm>
            <a:off x="6035040" y="3273552"/>
            <a:ext cx="2468880" cy="320040"/>
          </a:xfrm>
          <a:prstGeom prst="rect">
            <a:avLst/>
          </a:prstGeom>
          <a:noFill/>
          <a:ln/>
        </p:spPr>
        <p:txBody>
          <a:bodyPr wrap="square" lIns="0" tIns="0" rIns="0" bIns="0" rtlCol="0" anchor="ctr"/>
          <a:lstStyle/>
          <a:p>
            <a:pPr indent="0" marL="0">
              <a:buNone/>
            </a:pPr>
            <a:r>
              <a:rPr lang="en-US" sz="900" i="1" dirty="0">
                <a:solidFill>
                  <a:srgbClr val="EF4444"/>
                </a:solidFill>
                <a:latin typeface="Calibri" pitchFamily="34" charset="0"/>
                <a:ea typeface="Calibri" pitchFamily="34" charset="-122"/>
                <a:cs typeface="Calibri" pitchFamily="34" charset="-120"/>
              </a:rPr>
              <a:t>Always initialise before loop entry</a:t>
            </a:r>
            <a:endParaRPr lang="en-US" sz="900" dirty="0"/>
          </a:p>
        </p:txBody>
      </p:sp>
      <p:sp>
        <p:nvSpPr>
          <p:cNvPr id="32" name="Shape 29"/>
          <p:cNvSpPr/>
          <p:nvPr/>
        </p:nvSpPr>
        <p:spPr>
          <a:xfrm>
            <a:off x="457200" y="3785616"/>
            <a:ext cx="8229600" cy="576072"/>
          </a:xfrm>
          <a:prstGeom prst="roundRect">
            <a:avLst>
              <a:gd name="adj" fmla="val 9524"/>
            </a:avLst>
          </a:prstGeom>
          <a:solidFill>
            <a:srgbClr val="FFFFFF"/>
          </a:solidFill>
          <a:ln/>
          <a:effectLst>
            <a:outerShdw sx="100000" sy="100000" kx="0" ky="0" algn="bl" rotWithShape="0" blurRad="101600" dist="25400" dir="8100000">
              <a:srgbClr val="000000">
                <a:alpha val="8000"/>
              </a:srgbClr>
            </a:outerShdw>
          </a:effectLst>
        </p:spPr>
      </p:sp>
      <p:sp>
        <p:nvSpPr>
          <p:cNvPr id="33" name="Shape 30"/>
          <p:cNvSpPr/>
          <p:nvPr/>
        </p:nvSpPr>
        <p:spPr>
          <a:xfrm>
            <a:off x="457200" y="3785616"/>
            <a:ext cx="54864" cy="576072"/>
          </a:xfrm>
          <a:prstGeom prst="rect">
            <a:avLst/>
          </a:prstGeom>
          <a:solidFill>
            <a:srgbClr val="EF4444"/>
          </a:solidFill>
          <a:ln/>
        </p:spPr>
      </p:sp>
      <p:sp>
        <p:nvSpPr>
          <p:cNvPr id="34" name="Text 31"/>
          <p:cNvSpPr/>
          <p:nvPr/>
        </p:nvSpPr>
        <p:spPr>
          <a:xfrm>
            <a:off x="640080" y="3927348"/>
            <a:ext cx="640080" cy="292608"/>
          </a:xfrm>
          <a:prstGeom prst="roundRect">
            <a:avLst>
              <a:gd name="adj" fmla="val 12500"/>
            </a:avLst>
          </a:prstGeom>
          <a:solidFill>
            <a:srgbClr val="FEE2E2"/>
          </a:solidFill>
          <a:ln/>
        </p:spPr>
        <p:txBody>
          <a:bodyPr wrap="square" lIns="0" tIns="0" rIns="0" bIns="0" rtlCol="0" anchor="ctr"/>
          <a:lstStyle/>
          <a:p>
            <a:pPr algn="ctr" indent="0" marL="0">
              <a:buNone/>
            </a:pPr>
            <a:r>
              <a:rPr lang="en-US" sz="900" dirty="0">
                <a:solidFill>
                  <a:srgbClr val="EF4444"/>
                </a:solidFill>
                <a:latin typeface="Trebuchet MS" pitchFamily="34" charset="0"/>
                <a:ea typeface="Trebuchet MS" pitchFamily="34" charset="-122"/>
                <a:cs typeface="Trebuchet MS" pitchFamily="34" charset="-120"/>
              </a:rPr>
              <a:t>~67%</a:t>
            </a:r>
            <a:endParaRPr lang="en-US" sz="900" dirty="0"/>
          </a:p>
        </p:txBody>
      </p:sp>
      <p:sp>
        <p:nvSpPr>
          <p:cNvPr id="35" name="Text 32"/>
          <p:cNvSpPr/>
          <p:nvPr/>
        </p:nvSpPr>
        <p:spPr>
          <a:xfrm>
            <a:off x="1417320" y="3831336"/>
            <a:ext cx="1828800" cy="201168"/>
          </a:xfrm>
          <a:prstGeom prst="rect">
            <a:avLst/>
          </a:prstGeom>
          <a:noFill/>
          <a:ln/>
        </p:spPr>
        <p:txBody>
          <a:bodyPr wrap="square" lIns="0" tIns="0" rIns="0" bIns="0" rtlCol="0" anchor="ctr"/>
          <a:lstStyle/>
          <a:p>
            <a:pPr indent="0" marL="0">
              <a:buNone/>
            </a:pPr>
            <a:r>
              <a:rPr lang="en-US" sz="1000" dirty="0">
                <a:solidFill>
                  <a:srgbClr val="0C7C9B"/>
                </a:solidFill>
                <a:latin typeface="Trebuchet MS" pitchFamily="34" charset="0"/>
                <a:ea typeface="Trebuchet MS" pitchFamily="34" charset="-122"/>
                <a:cs typeface="Trebuchet MS" pitchFamily="34" charset="-120"/>
              </a:rPr>
              <a:t>Flag Misunderstanding</a:t>
            </a:r>
            <a:endParaRPr lang="en-US" sz="1000" dirty="0"/>
          </a:p>
        </p:txBody>
      </p:sp>
      <p:sp>
        <p:nvSpPr>
          <p:cNvPr id="36" name="Text 33"/>
          <p:cNvSpPr/>
          <p:nvPr/>
        </p:nvSpPr>
        <p:spPr>
          <a:xfrm>
            <a:off x="1417320" y="4041648"/>
            <a:ext cx="4572000" cy="274320"/>
          </a:xfrm>
          <a:prstGeom prst="rect">
            <a:avLst/>
          </a:prstGeom>
          <a:noFill/>
          <a:ln/>
        </p:spPr>
        <p:txBody>
          <a:bodyPr wrap="square" lIns="0" tIns="0" rIns="0" bIns="0" rtlCol="0" anchor="t"/>
          <a:lstStyle/>
          <a:p>
            <a:pPr indent="0" marL="0">
              <a:buNone/>
            </a:pPr>
            <a:r>
              <a:rPr lang="en-US" sz="900" dirty="0">
                <a:solidFill>
                  <a:srgbClr val="1E293B"/>
                </a:solidFill>
                <a:latin typeface="Calibri" pitchFamily="34" charset="0"/>
                <a:ea typeface="Calibri" pitchFamily="34" charset="-122"/>
                <a:cs typeface="Calibri" pitchFamily="34" charset="-120"/>
              </a:rPr>
              <a:t>~67% misunderstood flag application</a:t>
            </a:r>
            <a:endParaRPr lang="en-US" sz="900" dirty="0"/>
          </a:p>
        </p:txBody>
      </p:sp>
      <p:sp>
        <p:nvSpPr>
          <p:cNvPr id="37" name="Text 34"/>
          <p:cNvSpPr/>
          <p:nvPr/>
        </p:nvSpPr>
        <p:spPr>
          <a:xfrm>
            <a:off x="6035040" y="3922776"/>
            <a:ext cx="2468880" cy="320040"/>
          </a:xfrm>
          <a:prstGeom prst="rect">
            <a:avLst/>
          </a:prstGeom>
          <a:noFill/>
          <a:ln/>
        </p:spPr>
        <p:txBody>
          <a:bodyPr wrap="square" lIns="0" tIns="0" rIns="0" bIns="0" rtlCol="0" anchor="ctr"/>
          <a:lstStyle/>
          <a:p>
            <a:pPr indent="0" marL="0">
              <a:buNone/>
            </a:pPr>
            <a:r>
              <a:rPr lang="en-US" sz="900" i="1" dirty="0">
                <a:solidFill>
                  <a:srgbClr val="EF4444"/>
                </a:solidFill>
                <a:latin typeface="Calibri" pitchFamily="34" charset="0"/>
                <a:ea typeface="Calibri" pitchFamily="34" charset="-122"/>
                <a:cs typeface="Calibri" pitchFamily="34" charset="-120"/>
              </a:rPr>
              <a:t>Only 33% identified all errors</a:t>
            </a:r>
            <a:endParaRPr lang="en-US" sz="900" dirty="0"/>
          </a:p>
        </p:txBody>
      </p:sp>
      <p:sp>
        <p:nvSpPr>
          <p:cNvPr id="38" name="Shape 35"/>
          <p:cNvSpPr/>
          <p:nvPr/>
        </p:nvSpPr>
        <p:spPr>
          <a:xfrm>
            <a:off x="0" y="4800600"/>
            <a:ext cx="9144000" cy="342900"/>
          </a:xfrm>
          <a:prstGeom prst="rect">
            <a:avLst/>
          </a:prstGeom>
          <a:solidFill>
            <a:srgbClr val="E2E8F0"/>
          </a:solidFill>
          <a:ln/>
        </p:spPr>
      </p:sp>
      <p:sp>
        <p:nvSpPr>
          <p:cNvPr id="39" name="Text 36"/>
          <p:cNvSpPr/>
          <p:nvPr/>
        </p:nvSpPr>
        <p:spPr>
          <a:xfrm>
            <a:off x="457200" y="4818888"/>
            <a:ext cx="4572000" cy="274320"/>
          </a:xfrm>
          <a:prstGeom prst="rect">
            <a:avLst/>
          </a:prstGeom>
          <a:noFill/>
          <a:ln/>
        </p:spPr>
        <p:txBody>
          <a:bodyPr wrap="square" lIns="0" tIns="0" rIns="0" bIns="0" rtlCol="0" anchor="ctr"/>
          <a:lstStyle/>
          <a:p>
            <a:pPr indent="0" marL="0">
              <a:buNone/>
            </a:pPr>
            <a:r>
              <a:rPr lang="en-US" sz="700" dirty="0">
                <a:solidFill>
                  <a:srgbClr val="94A3B8"/>
                </a:solidFill>
                <a:latin typeface="Calibri" pitchFamily="34" charset="0"/>
                <a:ea typeface="Calibri" pitchFamily="34" charset="-122"/>
                <a:cs typeface="Calibri" pitchFamily="34" charset="-120"/>
              </a:rPr>
              <a:t>HKDSE ICT 2025 Exam Skills Masterclass</a:t>
            </a:r>
            <a:endParaRPr lang="en-US" sz="700" dirty="0"/>
          </a:p>
        </p:txBody>
      </p:sp>
      <p:sp>
        <p:nvSpPr>
          <p:cNvPr id="25" name="Slide Number Placeholder 0"/>
          <p:cNvSpPr>
            <a:spLocks noGrp="1"/>
          </p:cNvSpPr>
          <p:nvPr>
            <p:ph type="sldNum" sz="quarter" idx="4294967295"/>
          </p:nvPr>
        </p:nvSpPr>
        <p:spPr>
          <a:xfrm>
            <a:off x="8503920" y="4886325"/>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Calibri"/>
                <a:ea typeface="Calibri"/>
                <a:cs typeface="Calibri"/>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7F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1628"/>
          </a:solidFill>
          <a:ln/>
        </p:spPr>
      </p:sp>
      <p:sp>
        <p:nvSpPr>
          <p:cNvPr id="3" name="Shape 1"/>
          <p:cNvSpPr/>
          <p:nvPr/>
        </p:nvSpPr>
        <p:spPr>
          <a:xfrm>
            <a:off x="457200" y="18288"/>
            <a:ext cx="777240" cy="256032"/>
          </a:xfrm>
          <a:prstGeom prst="roundRect">
            <a:avLst>
              <a:gd name="adj" fmla="val 14286"/>
            </a:avLst>
          </a:prstGeom>
          <a:solidFill>
            <a:srgbClr val="8B5CF6"/>
          </a:solidFill>
          <a:ln/>
        </p:spPr>
      </p:sp>
      <p:sp>
        <p:nvSpPr>
          <p:cNvPr id="4" name="Text 2"/>
          <p:cNvSpPr/>
          <p:nvPr/>
        </p:nvSpPr>
        <p:spPr>
          <a:xfrm>
            <a:off x="548640" y="18288"/>
            <a:ext cx="594360" cy="256032"/>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PAPER 1B</a:t>
            </a:r>
            <a:endParaRPr lang="en-US" sz="900" dirty="0"/>
          </a:p>
        </p:txBody>
      </p:sp>
      <p:pic>
        <p:nvPicPr>
          <p:cNvPr id="5" name="Image 0" descr="icon_74.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321040" y="228600"/>
            <a:ext cx="320040" cy="320040"/>
          </a:xfrm>
          <a:prstGeom prst="rect">
            <a:avLst/>
          </a:prstGeom>
        </p:spPr>
      </p:pic>
      <p:sp>
        <p:nvSpPr>
          <p:cNvPr id="6" name="Text 3"/>
          <p:cNvSpPr/>
          <p:nvPr/>
        </p:nvSpPr>
        <p:spPr>
          <a:xfrm>
            <a:off x="457200" y="182880"/>
            <a:ext cx="7772400" cy="502920"/>
          </a:xfrm>
          <a:prstGeom prst="rect">
            <a:avLst/>
          </a:prstGeom>
          <a:noFill/>
          <a:ln/>
        </p:spPr>
        <p:txBody>
          <a:bodyPr wrap="square" lIns="0" tIns="0" rIns="0" bIns="0" rtlCol="0" anchor="ctr"/>
          <a:lstStyle/>
          <a:p>
            <a:pPr indent="0" marL="0">
              <a:buNone/>
            </a:pPr>
            <a:r>
              <a:rPr lang="en-US" sz="2100" dirty="0">
                <a:solidFill>
                  <a:srgbClr val="FFFFFF"/>
                </a:solidFill>
                <a:latin typeface="Trebuchet MS" pitchFamily="34" charset="0"/>
                <a:ea typeface="Trebuchet MS" pitchFamily="34" charset="-122"/>
                <a:cs typeface="Trebuchet MS" pitchFamily="34" charset="-120"/>
              </a:rPr>
              <a:t>Paper 1B: Weak Areas — HTML, AI/ML &amp; Validation</a:t>
            </a:r>
            <a:endParaRPr lang="en-US" sz="2100" dirty="0"/>
          </a:p>
        </p:txBody>
      </p:sp>
      <p:sp>
        <p:nvSpPr>
          <p:cNvPr id="7" name="Text 4"/>
          <p:cNvSpPr/>
          <p:nvPr/>
        </p:nvSpPr>
        <p:spPr>
          <a:xfrm>
            <a:off x="457200" y="594360"/>
            <a:ext cx="8229600" cy="274320"/>
          </a:xfrm>
          <a:prstGeom prst="rect">
            <a:avLst/>
          </a:prstGeom>
          <a:noFill/>
          <a:ln/>
        </p:spPr>
        <p:txBody>
          <a:bodyPr wrap="square" lIns="0" tIns="0" rIns="0" bIns="0" rtlCol="0" anchor="ctr"/>
          <a:lstStyle/>
          <a:p>
            <a:pPr indent="0" marL="0">
              <a:buNone/>
            </a:pPr>
            <a:r>
              <a:rPr lang="en-US" sz="1200" dirty="0">
                <a:solidFill>
                  <a:srgbClr val="B8D4E3"/>
                </a:solidFill>
                <a:latin typeface="Calibri" pitchFamily="34" charset="0"/>
                <a:ea typeface="Calibri" pitchFamily="34" charset="-122"/>
                <a:cs typeface="Calibri" pitchFamily="34" charset="-120"/>
              </a:rPr>
              <a:t>Three Topics Where Performance Was Rated Poor</a:t>
            </a:r>
            <a:endParaRPr lang="en-US" sz="1200" dirty="0"/>
          </a:p>
        </p:txBody>
      </p:sp>
      <p:sp>
        <p:nvSpPr>
          <p:cNvPr id="8" name="Shape 5"/>
          <p:cNvSpPr/>
          <p:nvPr/>
        </p:nvSpPr>
        <p:spPr>
          <a:xfrm>
            <a:off x="457200" y="1234440"/>
            <a:ext cx="2560320" cy="1554480"/>
          </a:xfrm>
          <a:prstGeom prst="roundRect">
            <a:avLst>
              <a:gd name="adj" fmla="val 4706"/>
            </a:avLst>
          </a:prstGeom>
          <a:solidFill>
            <a:srgbClr val="FFFFFF"/>
          </a:solidFill>
          <a:ln/>
          <a:effectLst>
            <a:outerShdw sx="100000" sy="100000" kx="0" ky="0" algn="bl" rotWithShape="0" blurRad="101600" dist="25400" dir="8100000">
              <a:srgbClr val="000000">
                <a:alpha val="8000"/>
              </a:srgbClr>
            </a:outerShdw>
          </a:effectLst>
        </p:spPr>
      </p:sp>
      <p:sp>
        <p:nvSpPr>
          <p:cNvPr id="9" name="Shape 6"/>
          <p:cNvSpPr/>
          <p:nvPr/>
        </p:nvSpPr>
        <p:spPr>
          <a:xfrm>
            <a:off x="457200" y="1234440"/>
            <a:ext cx="2560320" cy="45720"/>
          </a:xfrm>
          <a:prstGeom prst="rect">
            <a:avLst/>
          </a:prstGeom>
          <a:solidFill>
            <a:srgbClr val="EF4444"/>
          </a:solidFill>
          <a:ln/>
        </p:spPr>
      </p:sp>
      <p:sp>
        <p:nvSpPr>
          <p:cNvPr id="10" name="Text 7"/>
          <p:cNvSpPr/>
          <p:nvPr/>
        </p:nvSpPr>
        <p:spPr>
          <a:xfrm>
            <a:off x="566928" y="1371600"/>
            <a:ext cx="548640" cy="219456"/>
          </a:xfrm>
          <a:prstGeom prst="roundRect">
            <a:avLst>
              <a:gd name="adj" fmla="val 16667"/>
            </a:avLst>
          </a:prstGeom>
          <a:solidFill>
            <a:srgbClr val="FEE2E2"/>
          </a:solidFill>
          <a:ln/>
        </p:spPr>
        <p:txBody>
          <a:bodyPr wrap="square" lIns="0" tIns="0" rIns="0" bIns="0" rtlCol="0" anchor="ctr"/>
          <a:lstStyle/>
          <a:p>
            <a:pPr algn="ctr" indent="0" marL="0">
              <a:buNone/>
            </a:pPr>
            <a:r>
              <a:rPr lang="en-US" sz="800" dirty="0">
                <a:solidFill>
                  <a:srgbClr val="EF4444"/>
                </a:solidFill>
                <a:latin typeface="Trebuchet MS" pitchFamily="34" charset="0"/>
                <a:ea typeface="Trebuchet MS" pitchFamily="34" charset="-122"/>
                <a:cs typeface="Trebuchet MS" pitchFamily="34" charset="-120"/>
              </a:rPr>
              <a:t>Poor</a:t>
            </a:r>
            <a:endParaRPr lang="en-US" sz="800" dirty="0"/>
          </a:p>
        </p:txBody>
      </p:sp>
      <p:sp>
        <p:nvSpPr>
          <p:cNvPr id="11" name="Text 8"/>
          <p:cNvSpPr/>
          <p:nvPr/>
        </p:nvSpPr>
        <p:spPr>
          <a:xfrm>
            <a:off x="1188720" y="1371600"/>
            <a:ext cx="548640" cy="219456"/>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Q4a</a:t>
            </a:r>
            <a:endParaRPr lang="en-US" sz="900" dirty="0"/>
          </a:p>
        </p:txBody>
      </p:sp>
      <p:pic>
        <p:nvPicPr>
          <p:cNvPr id="12" name="Image 1" descr="icon_75.sv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577340" y="1691640"/>
            <a:ext cx="320040" cy="320040"/>
          </a:xfrm>
          <a:prstGeom prst="rect">
            <a:avLst/>
          </a:prstGeom>
        </p:spPr>
      </p:pic>
      <p:sp>
        <p:nvSpPr>
          <p:cNvPr id="13" name="Text 9"/>
          <p:cNvSpPr/>
          <p:nvPr/>
        </p:nvSpPr>
        <p:spPr>
          <a:xfrm>
            <a:off x="566928" y="2075688"/>
            <a:ext cx="2340864" cy="256032"/>
          </a:xfrm>
          <a:prstGeom prst="rect">
            <a:avLst/>
          </a:prstGeom>
          <a:noFill/>
          <a:ln/>
        </p:spPr>
        <p:txBody>
          <a:bodyPr wrap="square" lIns="0" tIns="0" rIns="0" bIns="0" rtlCol="0" anchor="ctr"/>
          <a:lstStyle/>
          <a:p>
            <a:pPr algn="ctr" indent="0" marL="0">
              <a:buNone/>
            </a:pPr>
            <a:r>
              <a:rPr lang="en-US" sz="1300" dirty="0">
                <a:solidFill>
                  <a:srgbClr val="1E293B"/>
                </a:solidFill>
                <a:latin typeface="Trebuchet MS" pitchFamily="34" charset="0"/>
                <a:ea typeface="Trebuchet MS" pitchFamily="34" charset="-122"/>
                <a:cs typeface="Trebuchet MS" pitchFamily="34" charset="-120"/>
              </a:rPr>
              <a:t>HTML</a:t>
            </a:r>
            <a:endParaRPr lang="en-US" sz="1300" dirty="0"/>
          </a:p>
        </p:txBody>
      </p:sp>
      <p:sp>
        <p:nvSpPr>
          <p:cNvPr id="14" name="Text 10"/>
          <p:cNvSpPr/>
          <p:nvPr/>
        </p:nvSpPr>
        <p:spPr>
          <a:xfrm>
            <a:off x="566928" y="2331720"/>
            <a:ext cx="2340864" cy="365760"/>
          </a:xfrm>
          <a:prstGeom prst="rect">
            <a:avLst/>
          </a:prstGeom>
          <a:noFill/>
          <a:ln/>
        </p:spPr>
        <p:txBody>
          <a:bodyPr wrap="square" lIns="0" tIns="0" rIns="0" bIns="0" rtlCol="0" anchor="ctr"/>
          <a:lstStyle/>
          <a:p>
            <a:pPr algn="ctr" indent="0" marL="0">
              <a:lnSpc>
                <a:spcPts val="1200"/>
              </a:lnSpc>
              <a:buNone/>
            </a:pPr>
            <a:r>
              <a:rPr lang="en-US" sz="900" dirty="0">
                <a:solidFill>
                  <a:srgbClr val="64748B"/>
                </a:solidFill>
                <a:latin typeface="Calibri" pitchFamily="34" charset="0"/>
                <a:ea typeface="Calibri" pitchFamily="34" charset="-122"/>
                <a:cs typeface="Calibri" pitchFamily="34" charset="-120"/>
              </a:rPr>
              <a:t>Confused display size with file size; few understood aspect ratio changes</a:t>
            </a:r>
            <a:endParaRPr lang="en-US" sz="900" dirty="0"/>
          </a:p>
        </p:txBody>
      </p:sp>
      <p:sp>
        <p:nvSpPr>
          <p:cNvPr id="15" name="Shape 11"/>
          <p:cNvSpPr/>
          <p:nvPr/>
        </p:nvSpPr>
        <p:spPr>
          <a:xfrm>
            <a:off x="3200400" y="1234440"/>
            <a:ext cx="2560320" cy="1554480"/>
          </a:xfrm>
          <a:prstGeom prst="roundRect">
            <a:avLst>
              <a:gd name="adj" fmla="val 4706"/>
            </a:avLst>
          </a:prstGeom>
          <a:solidFill>
            <a:srgbClr val="FFFFFF"/>
          </a:solidFill>
          <a:ln/>
          <a:effectLst>
            <a:outerShdw sx="100000" sy="100000" kx="0" ky="0" algn="bl" rotWithShape="0" blurRad="101600" dist="25400" dir="8100000">
              <a:srgbClr val="000000">
                <a:alpha val="8000"/>
              </a:srgbClr>
            </a:outerShdw>
          </a:effectLst>
        </p:spPr>
      </p:sp>
      <p:sp>
        <p:nvSpPr>
          <p:cNvPr id="16" name="Shape 12"/>
          <p:cNvSpPr/>
          <p:nvPr/>
        </p:nvSpPr>
        <p:spPr>
          <a:xfrm>
            <a:off x="3200400" y="1234440"/>
            <a:ext cx="2560320" cy="45720"/>
          </a:xfrm>
          <a:prstGeom prst="rect">
            <a:avLst/>
          </a:prstGeom>
          <a:solidFill>
            <a:srgbClr val="EF4444"/>
          </a:solidFill>
          <a:ln/>
        </p:spPr>
      </p:sp>
      <p:sp>
        <p:nvSpPr>
          <p:cNvPr id="17" name="Text 13"/>
          <p:cNvSpPr/>
          <p:nvPr/>
        </p:nvSpPr>
        <p:spPr>
          <a:xfrm>
            <a:off x="3310128" y="1371600"/>
            <a:ext cx="548640" cy="219456"/>
          </a:xfrm>
          <a:prstGeom prst="roundRect">
            <a:avLst>
              <a:gd name="adj" fmla="val 16667"/>
            </a:avLst>
          </a:prstGeom>
          <a:solidFill>
            <a:srgbClr val="FEE2E2"/>
          </a:solidFill>
          <a:ln/>
        </p:spPr>
        <p:txBody>
          <a:bodyPr wrap="square" lIns="0" tIns="0" rIns="0" bIns="0" rtlCol="0" anchor="ctr"/>
          <a:lstStyle/>
          <a:p>
            <a:pPr algn="ctr" indent="0" marL="0">
              <a:buNone/>
            </a:pPr>
            <a:r>
              <a:rPr lang="en-US" sz="800" dirty="0">
                <a:solidFill>
                  <a:srgbClr val="EF4444"/>
                </a:solidFill>
                <a:latin typeface="Trebuchet MS" pitchFamily="34" charset="0"/>
                <a:ea typeface="Trebuchet MS" pitchFamily="34" charset="-122"/>
                <a:cs typeface="Trebuchet MS" pitchFamily="34" charset="-120"/>
              </a:rPr>
              <a:t>Poor</a:t>
            </a:r>
            <a:endParaRPr lang="en-US" sz="800" dirty="0"/>
          </a:p>
        </p:txBody>
      </p:sp>
      <p:sp>
        <p:nvSpPr>
          <p:cNvPr id="18" name="Text 14"/>
          <p:cNvSpPr/>
          <p:nvPr/>
        </p:nvSpPr>
        <p:spPr>
          <a:xfrm>
            <a:off x="3931920" y="1371600"/>
            <a:ext cx="548640" cy="219456"/>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Q4b</a:t>
            </a:r>
            <a:endParaRPr lang="en-US" sz="900" dirty="0"/>
          </a:p>
        </p:txBody>
      </p:sp>
      <p:pic>
        <p:nvPicPr>
          <p:cNvPr id="19" name="Image 2" descr="icon_76.sv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320540" y="1691640"/>
            <a:ext cx="320040" cy="320040"/>
          </a:xfrm>
          <a:prstGeom prst="rect">
            <a:avLst/>
          </a:prstGeom>
        </p:spPr>
      </p:pic>
      <p:sp>
        <p:nvSpPr>
          <p:cNvPr id="20" name="Text 15"/>
          <p:cNvSpPr/>
          <p:nvPr/>
        </p:nvSpPr>
        <p:spPr>
          <a:xfrm>
            <a:off x="3310128" y="2075688"/>
            <a:ext cx="2340864" cy="256032"/>
          </a:xfrm>
          <a:prstGeom prst="rect">
            <a:avLst/>
          </a:prstGeom>
          <a:noFill/>
          <a:ln/>
        </p:spPr>
        <p:txBody>
          <a:bodyPr wrap="square" lIns="0" tIns="0" rIns="0" bIns="0" rtlCol="0" anchor="ctr"/>
          <a:lstStyle/>
          <a:p>
            <a:pPr algn="ctr" indent="0" marL="0">
              <a:buNone/>
            </a:pPr>
            <a:r>
              <a:rPr lang="en-US" sz="1300" dirty="0">
                <a:solidFill>
                  <a:srgbClr val="1E293B"/>
                </a:solidFill>
                <a:latin typeface="Trebuchet MS" pitchFamily="34" charset="0"/>
                <a:ea typeface="Trebuchet MS" pitchFamily="34" charset="-122"/>
                <a:cs typeface="Trebuchet MS" pitchFamily="34" charset="-120"/>
              </a:rPr>
              <a:t>AI/ML</a:t>
            </a:r>
            <a:endParaRPr lang="en-US" sz="1300" dirty="0"/>
          </a:p>
        </p:txBody>
      </p:sp>
      <p:sp>
        <p:nvSpPr>
          <p:cNvPr id="21" name="Text 16"/>
          <p:cNvSpPr/>
          <p:nvPr/>
        </p:nvSpPr>
        <p:spPr>
          <a:xfrm>
            <a:off x="3310128" y="2331720"/>
            <a:ext cx="2340864" cy="365760"/>
          </a:xfrm>
          <a:prstGeom prst="rect">
            <a:avLst/>
          </a:prstGeom>
          <a:noFill/>
          <a:ln/>
        </p:spPr>
        <p:txBody>
          <a:bodyPr wrap="square" lIns="0" tIns="0" rIns="0" bIns="0" rtlCol="0" anchor="ctr"/>
          <a:lstStyle/>
          <a:p>
            <a:pPr algn="ctr" indent="0" marL="0">
              <a:lnSpc>
                <a:spcPts val="1200"/>
              </a:lnSpc>
              <a:buNone/>
            </a:pPr>
            <a:r>
              <a:rPr lang="en-US" sz="900" dirty="0">
                <a:solidFill>
                  <a:srgbClr val="64748B"/>
                </a:solidFill>
                <a:latin typeface="Calibri" pitchFamily="34" charset="0"/>
                <a:ea typeface="Calibri" pitchFamily="34" charset="-122"/>
                <a:cs typeface="Calibri" pitchFamily="34" charset="-120"/>
              </a:rPr>
              <a:t>Focused on copyright/privacy instead of ML training data selection factors</a:t>
            </a:r>
            <a:endParaRPr lang="en-US" sz="900" dirty="0"/>
          </a:p>
        </p:txBody>
      </p:sp>
      <p:sp>
        <p:nvSpPr>
          <p:cNvPr id="22" name="Shape 17"/>
          <p:cNvSpPr/>
          <p:nvPr/>
        </p:nvSpPr>
        <p:spPr>
          <a:xfrm>
            <a:off x="5943600" y="1234440"/>
            <a:ext cx="2560320" cy="1554480"/>
          </a:xfrm>
          <a:prstGeom prst="roundRect">
            <a:avLst>
              <a:gd name="adj" fmla="val 4706"/>
            </a:avLst>
          </a:prstGeom>
          <a:solidFill>
            <a:srgbClr val="FFFFFF"/>
          </a:solidFill>
          <a:ln/>
          <a:effectLst>
            <a:outerShdw sx="100000" sy="100000" kx="0" ky="0" algn="bl" rotWithShape="0" blurRad="101600" dist="25400" dir="8100000">
              <a:srgbClr val="000000">
                <a:alpha val="8000"/>
              </a:srgbClr>
            </a:outerShdw>
          </a:effectLst>
        </p:spPr>
      </p:sp>
      <p:sp>
        <p:nvSpPr>
          <p:cNvPr id="23" name="Shape 18"/>
          <p:cNvSpPr/>
          <p:nvPr/>
        </p:nvSpPr>
        <p:spPr>
          <a:xfrm>
            <a:off x="5943600" y="1234440"/>
            <a:ext cx="2560320" cy="45720"/>
          </a:xfrm>
          <a:prstGeom prst="rect">
            <a:avLst/>
          </a:prstGeom>
          <a:solidFill>
            <a:srgbClr val="EF4444"/>
          </a:solidFill>
          <a:ln/>
        </p:spPr>
      </p:sp>
      <p:sp>
        <p:nvSpPr>
          <p:cNvPr id="24" name="Text 19"/>
          <p:cNvSpPr/>
          <p:nvPr/>
        </p:nvSpPr>
        <p:spPr>
          <a:xfrm>
            <a:off x="6053328" y="1371600"/>
            <a:ext cx="548640" cy="219456"/>
          </a:xfrm>
          <a:prstGeom prst="roundRect">
            <a:avLst>
              <a:gd name="adj" fmla="val 16667"/>
            </a:avLst>
          </a:prstGeom>
          <a:solidFill>
            <a:srgbClr val="FEE2E2"/>
          </a:solidFill>
          <a:ln/>
        </p:spPr>
        <p:txBody>
          <a:bodyPr wrap="square" lIns="0" tIns="0" rIns="0" bIns="0" rtlCol="0" anchor="ctr"/>
          <a:lstStyle/>
          <a:p>
            <a:pPr algn="ctr" indent="0" marL="0">
              <a:buNone/>
            </a:pPr>
            <a:r>
              <a:rPr lang="en-US" sz="800" dirty="0">
                <a:solidFill>
                  <a:srgbClr val="EF4444"/>
                </a:solidFill>
                <a:latin typeface="Trebuchet MS" pitchFamily="34" charset="0"/>
                <a:ea typeface="Trebuchet MS" pitchFamily="34" charset="-122"/>
                <a:cs typeface="Trebuchet MS" pitchFamily="34" charset="-120"/>
              </a:rPr>
              <a:t>Poor</a:t>
            </a:r>
            <a:endParaRPr lang="en-US" sz="800" dirty="0"/>
          </a:p>
        </p:txBody>
      </p:sp>
      <p:sp>
        <p:nvSpPr>
          <p:cNvPr id="25" name="Text 20"/>
          <p:cNvSpPr/>
          <p:nvPr/>
        </p:nvSpPr>
        <p:spPr>
          <a:xfrm>
            <a:off x="6675120" y="1371600"/>
            <a:ext cx="548640" cy="219456"/>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Q7c</a:t>
            </a:r>
            <a:endParaRPr lang="en-US" sz="900" dirty="0"/>
          </a:p>
        </p:txBody>
      </p:sp>
      <p:pic>
        <p:nvPicPr>
          <p:cNvPr id="26" name="Image 3" descr="icon_77.sv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063740" y="1691640"/>
            <a:ext cx="320040" cy="320040"/>
          </a:xfrm>
          <a:prstGeom prst="rect">
            <a:avLst/>
          </a:prstGeom>
        </p:spPr>
      </p:pic>
      <p:sp>
        <p:nvSpPr>
          <p:cNvPr id="27" name="Text 21"/>
          <p:cNvSpPr/>
          <p:nvPr/>
        </p:nvSpPr>
        <p:spPr>
          <a:xfrm>
            <a:off x="6053328" y="2075688"/>
            <a:ext cx="2340864" cy="256032"/>
          </a:xfrm>
          <a:prstGeom prst="rect">
            <a:avLst/>
          </a:prstGeom>
          <a:noFill/>
          <a:ln/>
        </p:spPr>
        <p:txBody>
          <a:bodyPr wrap="square" lIns="0" tIns="0" rIns="0" bIns="0" rtlCol="0" anchor="ctr"/>
          <a:lstStyle/>
          <a:p>
            <a:pPr algn="ctr" indent="0" marL="0">
              <a:buNone/>
            </a:pPr>
            <a:r>
              <a:rPr lang="en-US" sz="1300" dirty="0">
                <a:solidFill>
                  <a:srgbClr val="1E293B"/>
                </a:solidFill>
                <a:latin typeface="Trebuchet MS" pitchFamily="34" charset="0"/>
                <a:ea typeface="Trebuchet MS" pitchFamily="34" charset="-122"/>
                <a:cs typeface="Trebuchet MS" pitchFamily="34" charset="-120"/>
              </a:rPr>
              <a:t>Validation</a:t>
            </a:r>
            <a:endParaRPr lang="en-US" sz="1300" dirty="0"/>
          </a:p>
        </p:txBody>
      </p:sp>
      <p:sp>
        <p:nvSpPr>
          <p:cNvPr id="28" name="Text 22"/>
          <p:cNvSpPr/>
          <p:nvPr/>
        </p:nvSpPr>
        <p:spPr>
          <a:xfrm>
            <a:off x="6053328" y="2331720"/>
            <a:ext cx="2340864" cy="365760"/>
          </a:xfrm>
          <a:prstGeom prst="rect">
            <a:avLst/>
          </a:prstGeom>
          <a:noFill/>
          <a:ln/>
        </p:spPr>
        <p:txBody>
          <a:bodyPr wrap="square" lIns="0" tIns="0" rIns="0" bIns="0" rtlCol="0" anchor="ctr"/>
          <a:lstStyle/>
          <a:p>
            <a:pPr algn="ctr" indent="0" marL="0">
              <a:lnSpc>
                <a:spcPts val="1200"/>
              </a:lnSpc>
              <a:buNone/>
            </a:pPr>
            <a:r>
              <a:rPr lang="en-US" sz="900" dirty="0">
                <a:solidFill>
                  <a:srgbClr val="64748B"/>
                </a:solidFill>
                <a:latin typeface="Calibri" pitchFamily="34" charset="0"/>
                <a:ea typeface="Calibri" pitchFamily="34" charset="-122"/>
                <a:cs typeface="Calibri" pitchFamily="34" charset="-120"/>
              </a:rPr>
              <a:t>Could not identify fixed value check; believed multiple checks apply to one value</a:t>
            </a:r>
            <a:endParaRPr lang="en-US" sz="900" dirty="0"/>
          </a:p>
        </p:txBody>
      </p:sp>
      <p:sp>
        <p:nvSpPr>
          <p:cNvPr id="29" name="Shape 23"/>
          <p:cNvSpPr/>
          <p:nvPr/>
        </p:nvSpPr>
        <p:spPr>
          <a:xfrm>
            <a:off x="457200" y="3017520"/>
            <a:ext cx="4023360" cy="777240"/>
          </a:xfrm>
          <a:prstGeom prst="roundRect">
            <a:avLst>
              <a:gd name="adj" fmla="val 7059"/>
            </a:avLst>
          </a:prstGeom>
          <a:solidFill>
            <a:srgbClr val="FFFFFF"/>
          </a:solidFill>
          <a:ln/>
          <a:effectLst>
            <a:outerShdw sx="100000" sy="100000" kx="0" ky="0" algn="bl" rotWithShape="0" blurRad="101600" dist="25400" dir="8100000">
              <a:srgbClr val="000000">
                <a:alpha val="8000"/>
              </a:srgbClr>
            </a:outerShdw>
          </a:effectLst>
        </p:spPr>
      </p:sp>
      <p:sp>
        <p:nvSpPr>
          <p:cNvPr id="30" name="Text 24"/>
          <p:cNvSpPr/>
          <p:nvPr/>
        </p:nvSpPr>
        <p:spPr>
          <a:xfrm>
            <a:off x="566928" y="3108960"/>
            <a:ext cx="914400" cy="219456"/>
          </a:xfrm>
          <a:prstGeom prst="roundRect">
            <a:avLst>
              <a:gd name="adj" fmla="val 16667"/>
            </a:avLst>
          </a:prstGeom>
          <a:solidFill>
            <a:srgbClr val="FEF3C7"/>
          </a:solidFill>
          <a:ln/>
        </p:spPr>
        <p:txBody>
          <a:bodyPr wrap="square" lIns="0" tIns="0" rIns="0" bIns="0" rtlCol="0" anchor="ctr"/>
          <a:lstStyle/>
          <a:p>
            <a:pPr algn="ctr" indent="0" marL="0">
              <a:buNone/>
            </a:pPr>
            <a:r>
              <a:rPr lang="en-US" sz="800" dirty="0">
                <a:solidFill>
                  <a:srgbClr val="F59E0B"/>
                </a:solidFill>
                <a:latin typeface="Trebuchet MS" pitchFamily="34" charset="0"/>
                <a:ea typeface="Trebuchet MS" pitchFamily="34" charset="-122"/>
                <a:cs typeface="Trebuchet MS" pitchFamily="34" charset="-120"/>
              </a:rPr>
              <a:t>Fair</a:t>
            </a:r>
            <a:endParaRPr lang="en-US" sz="800" dirty="0"/>
          </a:p>
        </p:txBody>
      </p:sp>
      <p:sp>
        <p:nvSpPr>
          <p:cNvPr id="31" name="Text 25"/>
          <p:cNvSpPr/>
          <p:nvPr/>
        </p:nvSpPr>
        <p:spPr>
          <a:xfrm>
            <a:off x="1554480" y="3090672"/>
            <a:ext cx="2743200" cy="237744"/>
          </a:xfrm>
          <a:prstGeom prst="rect">
            <a:avLst/>
          </a:prstGeom>
          <a:noFill/>
          <a:ln/>
        </p:spPr>
        <p:txBody>
          <a:bodyPr wrap="square" lIns="0" tIns="0" rIns="0" bIns="0" rtlCol="0" anchor="ctr"/>
          <a:lstStyle/>
          <a:p>
            <a:pPr indent="0" marL="0">
              <a:buNone/>
            </a:pPr>
            <a:r>
              <a:rPr lang="en-US" sz="1000" dirty="0">
                <a:solidFill>
                  <a:srgbClr val="1E293B"/>
                </a:solidFill>
                <a:latin typeface="Trebuchet MS" pitchFamily="34" charset="0"/>
                <a:ea typeface="Trebuchet MS" pitchFamily="34" charset="-122"/>
                <a:cs typeface="Trebuchet MS" pitchFamily="34" charset="-120"/>
              </a:rPr>
              <a:t>Q3a — Data Conversion</a:t>
            </a:r>
            <a:endParaRPr lang="en-US" sz="1000" dirty="0"/>
          </a:p>
        </p:txBody>
      </p:sp>
      <p:sp>
        <p:nvSpPr>
          <p:cNvPr id="32" name="Text 26"/>
          <p:cNvSpPr/>
          <p:nvPr/>
        </p:nvSpPr>
        <p:spPr>
          <a:xfrm>
            <a:off x="566928" y="3401568"/>
            <a:ext cx="3749040" cy="32004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Failed to convert bytes to bits (1 Byte = 8 bits); omitted units</a:t>
            </a:r>
            <a:endParaRPr lang="en-US" sz="900" dirty="0"/>
          </a:p>
        </p:txBody>
      </p:sp>
      <p:sp>
        <p:nvSpPr>
          <p:cNvPr id="33" name="Shape 27"/>
          <p:cNvSpPr/>
          <p:nvPr/>
        </p:nvSpPr>
        <p:spPr>
          <a:xfrm>
            <a:off x="4754880" y="3017520"/>
            <a:ext cx="4023360" cy="777240"/>
          </a:xfrm>
          <a:prstGeom prst="roundRect">
            <a:avLst>
              <a:gd name="adj" fmla="val 7059"/>
            </a:avLst>
          </a:prstGeom>
          <a:solidFill>
            <a:srgbClr val="FFFFFF"/>
          </a:solidFill>
          <a:ln/>
          <a:effectLst>
            <a:outerShdw sx="100000" sy="100000" kx="0" ky="0" algn="bl" rotWithShape="0" blurRad="101600" dist="25400" dir="8100000">
              <a:srgbClr val="000000">
                <a:alpha val="8000"/>
              </a:srgbClr>
            </a:outerShdw>
          </a:effectLst>
        </p:spPr>
      </p:sp>
      <p:sp>
        <p:nvSpPr>
          <p:cNvPr id="34" name="Text 28"/>
          <p:cNvSpPr/>
          <p:nvPr/>
        </p:nvSpPr>
        <p:spPr>
          <a:xfrm>
            <a:off x="4864608" y="3108960"/>
            <a:ext cx="914400" cy="219456"/>
          </a:xfrm>
          <a:prstGeom prst="roundRect">
            <a:avLst>
              <a:gd name="adj" fmla="val 16667"/>
            </a:avLst>
          </a:prstGeom>
          <a:solidFill>
            <a:srgbClr val="DBEAFE"/>
          </a:solidFill>
          <a:ln/>
        </p:spPr>
        <p:txBody>
          <a:bodyPr wrap="square" lIns="0" tIns="0" rIns="0" bIns="0" rtlCol="0" anchor="ctr"/>
          <a:lstStyle/>
          <a:p>
            <a:pPr algn="ctr" indent="0" marL="0">
              <a:buNone/>
            </a:pPr>
            <a:r>
              <a:rPr lang="en-US" sz="800" dirty="0">
                <a:solidFill>
                  <a:srgbClr val="3B82F6"/>
                </a:solidFill>
                <a:latin typeface="Trebuchet MS" pitchFamily="34" charset="0"/>
                <a:ea typeface="Trebuchet MS" pitchFamily="34" charset="-122"/>
                <a:cs typeface="Trebuchet MS" pitchFamily="34" charset="-120"/>
              </a:rPr>
              <a:t>Satisfactory</a:t>
            </a:r>
            <a:endParaRPr lang="en-US" sz="800" dirty="0"/>
          </a:p>
        </p:txBody>
      </p:sp>
      <p:sp>
        <p:nvSpPr>
          <p:cNvPr id="35" name="Text 29"/>
          <p:cNvSpPr/>
          <p:nvPr/>
        </p:nvSpPr>
        <p:spPr>
          <a:xfrm>
            <a:off x="5852160" y="3090672"/>
            <a:ext cx="2743200" cy="237744"/>
          </a:xfrm>
          <a:prstGeom prst="rect">
            <a:avLst/>
          </a:prstGeom>
          <a:noFill/>
          <a:ln/>
        </p:spPr>
        <p:txBody>
          <a:bodyPr wrap="square" lIns="0" tIns="0" rIns="0" bIns="0" rtlCol="0" anchor="ctr"/>
          <a:lstStyle/>
          <a:p>
            <a:pPr indent="0" marL="0">
              <a:buNone/>
            </a:pPr>
            <a:r>
              <a:rPr lang="en-US" sz="1000" dirty="0">
                <a:solidFill>
                  <a:srgbClr val="1E293B"/>
                </a:solidFill>
                <a:latin typeface="Trebuchet MS" pitchFamily="34" charset="0"/>
                <a:ea typeface="Trebuchet MS" pitchFamily="34" charset="-122"/>
                <a:cs typeface="Trebuchet MS" pitchFamily="34" charset="-120"/>
              </a:rPr>
              <a:t>Q2b — Encryption</a:t>
            </a:r>
            <a:endParaRPr lang="en-US" sz="1000" dirty="0"/>
          </a:p>
        </p:txBody>
      </p:sp>
      <p:sp>
        <p:nvSpPr>
          <p:cNvPr id="36" name="Text 30"/>
          <p:cNvSpPr/>
          <p:nvPr/>
        </p:nvSpPr>
        <p:spPr>
          <a:xfrm>
            <a:off x="4864608" y="3401568"/>
            <a:ext cx="3749040" cy="32004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Omitted specifying who encrypts/decrypts or who owns the key</a:t>
            </a:r>
            <a:endParaRPr lang="en-US" sz="900" dirty="0"/>
          </a:p>
        </p:txBody>
      </p:sp>
      <p:sp>
        <p:nvSpPr>
          <p:cNvPr id="37" name="Shape 31"/>
          <p:cNvSpPr/>
          <p:nvPr/>
        </p:nvSpPr>
        <p:spPr>
          <a:xfrm>
            <a:off x="0" y="4800600"/>
            <a:ext cx="9144000" cy="342900"/>
          </a:xfrm>
          <a:prstGeom prst="rect">
            <a:avLst/>
          </a:prstGeom>
          <a:solidFill>
            <a:srgbClr val="E2E8F0"/>
          </a:solidFill>
          <a:ln/>
        </p:spPr>
      </p:sp>
      <p:sp>
        <p:nvSpPr>
          <p:cNvPr id="38" name="Text 32"/>
          <p:cNvSpPr/>
          <p:nvPr/>
        </p:nvSpPr>
        <p:spPr>
          <a:xfrm>
            <a:off x="457200" y="4818888"/>
            <a:ext cx="4572000" cy="274320"/>
          </a:xfrm>
          <a:prstGeom prst="rect">
            <a:avLst/>
          </a:prstGeom>
          <a:noFill/>
          <a:ln/>
        </p:spPr>
        <p:txBody>
          <a:bodyPr wrap="square" lIns="0" tIns="0" rIns="0" bIns="0" rtlCol="0" anchor="ctr"/>
          <a:lstStyle/>
          <a:p>
            <a:pPr indent="0" marL="0">
              <a:buNone/>
            </a:pPr>
            <a:r>
              <a:rPr lang="en-US" sz="700" dirty="0">
                <a:solidFill>
                  <a:srgbClr val="94A3B8"/>
                </a:solidFill>
                <a:latin typeface="Calibri" pitchFamily="34" charset="0"/>
                <a:ea typeface="Calibri" pitchFamily="34" charset="-122"/>
                <a:cs typeface="Calibri" pitchFamily="34" charset="-120"/>
              </a:rPr>
              <a:t>HKDSE ICT 2025 Exam Skills Masterclass</a:t>
            </a:r>
            <a:endParaRPr lang="en-US" sz="700" dirty="0"/>
          </a:p>
        </p:txBody>
      </p:sp>
      <p:sp>
        <p:nvSpPr>
          <p:cNvPr id="25" name="Slide Number Placeholder 0"/>
          <p:cNvSpPr>
            <a:spLocks noGrp="1"/>
          </p:cNvSpPr>
          <p:nvPr>
            <p:ph type="sldNum" sz="quarter" idx="4294967295"/>
          </p:nvPr>
        </p:nvSpPr>
        <p:spPr>
          <a:xfrm>
            <a:off x="8503920" y="4886325"/>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Calibri"/>
                <a:ea typeface="Calibri"/>
                <a:cs typeface="Calibri"/>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0F7F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1628"/>
          </a:solidFill>
          <a:ln/>
        </p:spPr>
      </p:sp>
      <p:sp>
        <p:nvSpPr>
          <p:cNvPr id="3" name="Shape 1"/>
          <p:cNvSpPr/>
          <p:nvPr/>
        </p:nvSpPr>
        <p:spPr>
          <a:xfrm>
            <a:off x="457200" y="18288"/>
            <a:ext cx="1005840" cy="256032"/>
          </a:xfrm>
          <a:prstGeom prst="roundRect">
            <a:avLst>
              <a:gd name="adj" fmla="val 14286"/>
            </a:avLst>
          </a:prstGeom>
          <a:solidFill>
            <a:srgbClr val="06D6A0"/>
          </a:solidFill>
          <a:ln/>
        </p:spPr>
      </p:sp>
      <p:sp>
        <p:nvSpPr>
          <p:cNvPr id="4" name="Text 2"/>
          <p:cNvSpPr/>
          <p:nvPr/>
        </p:nvSpPr>
        <p:spPr>
          <a:xfrm>
            <a:off x="548640" y="18288"/>
            <a:ext cx="822960" cy="256032"/>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EXAM SKILL</a:t>
            </a:r>
            <a:endParaRPr lang="en-US" sz="900" dirty="0"/>
          </a:p>
        </p:txBody>
      </p:sp>
      <p:pic>
        <p:nvPicPr>
          <p:cNvPr id="5" name="Image 0" descr="icon_111.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321040" y="228600"/>
            <a:ext cx="320040" cy="320040"/>
          </a:xfrm>
          <a:prstGeom prst="rect">
            <a:avLst/>
          </a:prstGeom>
        </p:spPr>
      </p:pic>
      <p:sp>
        <p:nvSpPr>
          <p:cNvPr id="6" name="Text 3"/>
          <p:cNvSpPr/>
          <p:nvPr/>
        </p:nvSpPr>
        <p:spPr>
          <a:xfrm>
            <a:off x="457200" y="182880"/>
            <a:ext cx="7772400" cy="502920"/>
          </a:xfrm>
          <a:prstGeom prst="rect">
            <a:avLst/>
          </a:prstGeom>
          <a:noFill/>
          <a:ln/>
        </p:spPr>
        <p:txBody>
          <a:bodyPr wrap="square" lIns="0" tIns="0" rIns="0" bIns="0" rtlCol="0" anchor="ctr"/>
          <a:lstStyle/>
          <a:p>
            <a:pPr indent="0" marL="0">
              <a:buNone/>
            </a:pPr>
            <a:r>
              <a:rPr lang="en-US" sz="2200" dirty="0">
                <a:solidFill>
                  <a:srgbClr val="FFFFFF"/>
                </a:solidFill>
                <a:latin typeface="Trebuchet MS" pitchFamily="34" charset="0"/>
                <a:ea typeface="Trebuchet MS" pitchFamily="34" charset="-122"/>
                <a:cs typeface="Trebuchet MS" pitchFamily="34" charset="-120"/>
              </a:rPr>
              <a:t>Exam Skill: Structured Answer Technique</a:t>
            </a:r>
            <a:endParaRPr lang="en-US" sz="2200" dirty="0"/>
          </a:p>
        </p:txBody>
      </p:sp>
      <p:sp>
        <p:nvSpPr>
          <p:cNvPr id="7" name="Text 4"/>
          <p:cNvSpPr/>
          <p:nvPr/>
        </p:nvSpPr>
        <p:spPr>
          <a:xfrm>
            <a:off x="457200" y="594360"/>
            <a:ext cx="8229600" cy="274320"/>
          </a:xfrm>
          <a:prstGeom prst="rect">
            <a:avLst/>
          </a:prstGeom>
          <a:noFill/>
          <a:ln/>
        </p:spPr>
        <p:txBody>
          <a:bodyPr wrap="square" lIns="0" tIns="0" rIns="0" bIns="0" rtlCol="0" anchor="ctr"/>
          <a:lstStyle/>
          <a:p>
            <a:pPr indent="0" marL="0">
              <a:buNone/>
            </a:pPr>
            <a:r>
              <a:rPr lang="en-US" sz="1200" dirty="0">
                <a:solidFill>
                  <a:srgbClr val="B8D4E3"/>
                </a:solidFill>
                <a:latin typeface="Calibri" pitchFamily="34" charset="0"/>
                <a:ea typeface="Calibri" pitchFamily="34" charset="-122"/>
                <a:cs typeface="Calibri" pitchFamily="34" charset="-120"/>
              </a:rPr>
              <a:t>How to Maximise Marks on Paper 1B Questions</a:t>
            </a:r>
            <a:endParaRPr lang="en-US" sz="1200" dirty="0"/>
          </a:p>
        </p:txBody>
      </p:sp>
      <p:sp>
        <p:nvSpPr>
          <p:cNvPr id="8" name="Shape 5"/>
          <p:cNvSpPr/>
          <p:nvPr/>
        </p:nvSpPr>
        <p:spPr>
          <a:xfrm>
            <a:off x="457200" y="1234440"/>
            <a:ext cx="3977640" cy="594360"/>
          </a:xfrm>
          <a:prstGeom prst="roundRect">
            <a:avLst>
              <a:gd name="adj" fmla="val 9231"/>
            </a:avLst>
          </a:prstGeom>
          <a:solidFill>
            <a:srgbClr val="FFFFFF"/>
          </a:solidFill>
          <a:ln/>
          <a:effectLst>
            <a:outerShdw sx="100000" sy="100000" kx="0" ky="0" algn="bl" rotWithShape="0" blurRad="101600" dist="25400" dir="8100000">
              <a:srgbClr val="000000">
                <a:alpha val="8000"/>
              </a:srgbClr>
            </a:outerShdw>
          </a:effectLst>
        </p:spPr>
      </p:sp>
      <p:sp>
        <p:nvSpPr>
          <p:cNvPr id="9" name="Text 6"/>
          <p:cNvSpPr/>
          <p:nvPr/>
        </p:nvSpPr>
        <p:spPr>
          <a:xfrm>
            <a:off x="548640" y="1371600"/>
            <a:ext cx="320040" cy="320040"/>
          </a:xfrm>
          <a:prstGeom prst="ellipse">
            <a:avLst/>
          </a:prstGeom>
          <a:solidFill>
            <a:srgbClr val="0C7C9B"/>
          </a:solidFill>
          <a:ln/>
        </p:spPr>
        <p:txBody>
          <a:bodyPr wrap="square" lIns="0" tIns="0" rIns="0" bIns="0" rtlCol="0" anchor="ctr"/>
          <a:lstStyle/>
          <a:p>
            <a:pPr algn="ctr" indent="0" marL="0">
              <a:buNone/>
            </a:pPr>
            <a:r>
              <a:rPr lang="en-US" sz="1400" dirty="0">
                <a:solidFill>
                  <a:srgbClr val="FFFFFF"/>
                </a:solidFill>
                <a:latin typeface="Trebuchet MS" pitchFamily="34" charset="0"/>
                <a:ea typeface="Trebuchet MS" pitchFamily="34" charset="-122"/>
                <a:cs typeface="Trebuchet MS" pitchFamily="34" charset="-120"/>
              </a:rPr>
              <a:t>1</a:t>
            </a:r>
            <a:endParaRPr lang="en-US" sz="1400" dirty="0"/>
          </a:p>
        </p:txBody>
      </p:sp>
      <p:pic>
        <p:nvPicPr>
          <p:cNvPr id="10" name="Image 1" descr="icon_112.sv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60120" y="1431036"/>
            <a:ext cx="201168" cy="201168"/>
          </a:xfrm>
          <a:prstGeom prst="rect">
            <a:avLst/>
          </a:prstGeom>
        </p:spPr>
      </p:pic>
      <p:sp>
        <p:nvSpPr>
          <p:cNvPr id="11" name="Text 7"/>
          <p:cNvSpPr/>
          <p:nvPr/>
        </p:nvSpPr>
        <p:spPr>
          <a:xfrm>
            <a:off x="1234440" y="1289304"/>
            <a:ext cx="3017520" cy="219456"/>
          </a:xfrm>
          <a:prstGeom prst="rect">
            <a:avLst/>
          </a:prstGeom>
          <a:noFill/>
          <a:ln/>
        </p:spPr>
        <p:txBody>
          <a:bodyPr wrap="square" lIns="0" tIns="0" rIns="0" bIns="0" rtlCol="0" anchor="ctr"/>
          <a:lstStyle/>
          <a:p>
            <a:pPr indent="0" marL="0">
              <a:buNone/>
            </a:pPr>
            <a:r>
              <a:rPr lang="en-US" sz="1000" dirty="0">
                <a:solidFill>
                  <a:srgbClr val="1E293B"/>
                </a:solidFill>
                <a:latin typeface="Trebuchet MS" pitchFamily="34" charset="0"/>
                <a:ea typeface="Trebuchet MS" pitchFamily="34" charset="-122"/>
                <a:cs typeface="Trebuchet MS" pitchFamily="34" charset="-120"/>
              </a:rPr>
              <a:t>Use PRECISE terminology</a:t>
            </a:r>
            <a:endParaRPr lang="en-US" sz="1000" dirty="0"/>
          </a:p>
        </p:txBody>
      </p:sp>
      <p:sp>
        <p:nvSpPr>
          <p:cNvPr id="12" name="Text 8"/>
          <p:cNvSpPr/>
          <p:nvPr/>
        </p:nvSpPr>
        <p:spPr>
          <a:xfrm>
            <a:off x="1234440" y="1527048"/>
            <a:ext cx="3017520" cy="25603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Write operating system not system, AVERAGE not AVG</a:t>
            </a:r>
            <a:endParaRPr lang="en-US" sz="900" dirty="0"/>
          </a:p>
        </p:txBody>
      </p:sp>
      <p:sp>
        <p:nvSpPr>
          <p:cNvPr id="13" name="Shape 9"/>
          <p:cNvSpPr/>
          <p:nvPr/>
        </p:nvSpPr>
        <p:spPr>
          <a:xfrm>
            <a:off x="457200" y="1901952"/>
            <a:ext cx="3977640" cy="594360"/>
          </a:xfrm>
          <a:prstGeom prst="roundRect">
            <a:avLst>
              <a:gd name="adj" fmla="val 9231"/>
            </a:avLst>
          </a:prstGeom>
          <a:solidFill>
            <a:srgbClr val="FFFFFF"/>
          </a:solidFill>
          <a:ln/>
          <a:effectLst>
            <a:outerShdw sx="100000" sy="100000" kx="0" ky="0" algn="bl" rotWithShape="0" blurRad="101600" dist="25400" dir="8100000">
              <a:srgbClr val="000000">
                <a:alpha val="8000"/>
              </a:srgbClr>
            </a:outerShdw>
          </a:effectLst>
        </p:spPr>
      </p:sp>
      <p:sp>
        <p:nvSpPr>
          <p:cNvPr id="14" name="Text 10"/>
          <p:cNvSpPr/>
          <p:nvPr/>
        </p:nvSpPr>
        <p:spPr>
          <a:xfrm>
            <a:off x="548640" y="2039112"/>
            <a:ext cx="320040" cy="320040"/>
          </a:xfrm>
          <a:prstGeom prst="ellipse">
            <a:avLst/>
          </a:prstGeom>
          <a:solidFill>
            <a:srgbClr val="0C7C9B"/>
          </a:solidFill>
          <a:ln/>
        </p:spPr>
        <p:txBody>
          <a:bodyPr wrap="square" lIns="0" tIns="0" rIns="0" bIns="0" rtlCol="0" anchor="ctr"/>
          <a:lstStyle/>
          <a:p>
            <a:pPr algn="ctr" indent="0" marL="0">
              <a:buNone/>
            </a:pPr>
            <a:r>
              <a:rPr lang="en-US" sz="1400" dirty="0">
                <a:solidFill>
                  <a:srgbClr val="FFFFFF"/>
                </a:solidFill>
                <a:latin typeface="Trebuchet MS" pitchFamily="34" charset="0"/>
                <a:ea typeface="Trebuchet MS" pitchFamily="34" charset="-122"/>
                <a:cs typeface="Trebuchet MS" pitchFamily="34" charset="-120"/>
              </a:rPr>
              <a:t>2</a:t>
            </a:r>
            <a:endParaRPr lang="en-US" sz="1400" dirty="0"/>
          </a:p>
        </p:txBody>
      </p:sp>
      <p:pic>
        <p:nvPicPr>
          <p:cNvPr id="15" name="Image 2" descr="icon_113.sv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60120" y="2098548"/>
            <a:ext cx="201168" cy="201168"/>
          </a:xfrm>
          <a:prstGeom prst="rect">
            <a:avLst/>
          </a:prstGeom>
        </p:spPr>
      </p:pic>
      <p:sp>
        <p:nvSpPr>
          <p:cNvPr id="16" name="Text 11"/>
          <p:cNvSpPr/>
          <p:nvPr/>
        </p:nvSpPr>
        <p:spPr>
          <a:xfrm>
            <a:off x="1234440" y="1956816"/>
            <a:ext cx="3017520" cy="219456"/>
          </a:xfrm>
          <a:prstGeom prst="rect">
            <a:avLst/>
          </a:prstGeom>
          <a:noFill/>
          <a:ln/>
        </p:spPr>
        <p:txBody>
          <a:bodyPr wrap="square" lIns="0" tIns="0" rIns="0" bIns="0" rtlCol="0" anchor="ctr"/>
          <a:lstStyle/>
          <a:p>
            <a:pPr indent="0" marL="0">
              <a:buNone/>
            </a:pPr>
            <a:r>
              <a:rPr lang="en-US" sz="1000" dirty="0">
                <a:solidFill>
                  <a:srgbClr val="1E293B"/>
                </a:solidFill>
                <a:latin typeface="Trebuchet MS" pitchFamily="34" charset="0"/>
                <a:ea typeface="Trebuchet MS" pitchFamily="34" charset="-122"/>
                <a:cs typeface="Trebuchet MS" pitchFamily="34" charset="-120"/>
              </a:rPr>
              <a:t>Always ELABORATE</a:t>
            </a:r>
            <a:endParaRPr lang="en-US" sz="1000" dirty="0"/>
          </a:p>
        </p:txBody>
      </p:sp>
      <p:sp>
        <p:nvSpPr>
          <p:cNvPr id="17" name="Text 12"/>
          <p:cNvSpPr/>
          <p:nvPr/>
        </p:nvSpPr>
        <p:spPr>
          <a:xfrm>
            <a:off x="1234440" y="2194560"/>
            <a:ext cx="3017520" cy="25603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Do not write easy to change, write easier to debug individual modules independently</a:t>
            </a:r>
            <a:endParaRPr lang="en-US" sz="900" dirty="0"/>
          </a:p>
        </p:txBody>
      </p:sp>
      <p:sp>
        <p:nvSpPr>
          <p:cNvPr id="18" name="Shape 13"/>
          <p:cNvSpPr/>
          <p:nvPr/>
        </p:nvSpPr>
        <p:spPr>
          <a:xfrm>
            <a:off x="457200" y="2569464"/>
            <a:ext cx="3977640" cy="594360"/>
          </a:xfrm>
          <a:prstGeom prst="roundRect">
            <a:avLst>
              <a:gd name="adj" fmla="val 9231"/>
            </a:avLst>
          </a:prstGeom>
          <a:solidFill>
            <a:srgbClr val="FFFFFF"/>
          </a:solidFill>
          <a:ln/>
          <a:effectLst>
            <a:outerShdw sx="100000" sy="100000" kx="0" ky="0" algn="bl" rotWithShape="0" blurRad="101600" dist="25400" dir="8100000">
              <a:srgbClr val="000000">
                <a:alpha val="8000"/>
              </a:srgbClr>
            </a:outerShdw>
          </a:effectLst>
        </p:spPr>
      </p:sp>
      <p:sp>
        <p:nvSpPr>
          <p:cNvPr id="19" name="Text 14"/>
          <p:cNvSpPr/>
          <p:nvPr/>
        </p:nvSpPr>
        <p:spPr>
          <a:xfrm>
            <a:off x="548640" y="2706624"/>
            <a:ext cx="320040" cy="320040"/>
          </a:xfrm>
          <a:prstGeom prst="ellipse">
            <a:avLst/>
          </a:prstGeom>
          <a:solidFill>
            <a:srgbClr val="0C7C9B"/>
          </a:solidFill>
          <a:ln/>
        </p:spPr>
        <p:txBody>
          <a:bodyPr wrap="square" lIns="0" tIns="0" rIns="0" bIns="0" rtlCol="0" anchor="ctr"/>
          <a:lstStyle/>
          <a:p>
            <a:pPr algn="ctr" indent="0" marL="0">
              <a:buNone/>
            </a:pPr>
            <a:r>
              <a:rPr lang="en-US" sz="1400" dirty="0">
                <a:solidFill>
                  <a:srgbClr val="FFFFFF"/>
                </a:solidFill>
                <a:latin typeface="Trebuchet MS" pitchFamily="34" charset="0"/>
                <a:ea typeface="Trebuchet MS" pitchFamily="34" charset="-122"/>
                <a:cs typeface="Trebuchet MS" pitchFamily="34" charset="-120"/>
              </a:rPr>
              <a:t>3</a:t>
            </a:r>
            <a:endParaRPr lang="en-US" sz="1400" dirty="0"/>
          </a:p>
        </p:txBody>
      </p:sp>
      <p:pic>
        <p:nvPicPr>
          <p:cNvPr id="20" name="Image 3" descr="icon_114.sv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60120" y="2766060"/>
            <a:ext cx="201168" cy="201168"/>
          </a:xfrm>
          <a:prstGeom prst="rect">
            <a:avLst/>
          </a:prstGeom>
        </p:spPr>
      </p:pic>
      <p:sp>
        <p:nvSpPr>
          <p:cNvPr id="21" name="Text 15"/>
          <p:cNvSpPr/>
          <p:nvPr/>
        </p:nvSpPr>
        <p:spPr>
          <a:xfrm>
            <a:off x="1234440" y="2624328"/>
            <a:ext cx="3017520" cy="219456"/>
          </a:xfrm>
          <a:prstGeom prst="rect">
            <a:avLst/>
          </a:prstGeom>
          <a:noFill/>
          <a:ln/>
        </p:spPr>
        <p:txBody>
          <a:bodyPr wrap="square" lIns="0" tIns="0" rIns="0" bIns="0" rtlCol="0" anchor="ctr"/>
          <a:lstStyle/>
          <a:p>
            <a:pPr indent="0" marL="0">
              <a:buNone/>
            </a:pPr>
            <a:r>
              <a:rPr lang="en-US" sz="1000" dirty="0">
                <a:solidFill>
                  <a:srgbClr val="1E293B"/>
                </a:solidFill>
                <a:latin typeface="Trebuchet MS" pitchFamily="34" charset="0"/>
                <a:ea typeface="Trebuchet MS" pitchFamily="34" charset="-122"/>
                <a:cs typeface="Trebuchet MS" pitchFamily="34" charset="-120"/>
              </a:rPr>
              <a:t>Include UNITS in every calculation</a:t>
            </a:r>
            <a:endParaRPr lang="en-US" sz="1000" dirty="0"/>
          </a:p>
        </p:txBody>
      </p:sp>
      <p:sp>
        <p:nvSpPr>
          <p:cNvPr id="22" name="Text 16"/>
          <p:cNvSpPr/>
          <p:nvPr/>
        </p:nvSpPr>
        <p:spPr>
          <a:xfrm>
            <a:off x="1234440" y="2862072"/>
            <a:ext cx="3017520" cy="25603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Bytes to bits (×8), time in seconds, speed in bps</a:t>
            </a:r>
            <a:endParaRPr lang="en-US" sz="900" dirty="0"/>
          </a:p>
        </p:txBody>
      </p:sp>
      <p:sp>
        <p:nvSpPr>
          <p:cNvPr id="23" name="Shape 17"/>
          <p:cNvSpPr/>
          <p:nvPr/>
        </p:nvSpPr>
        <p:spPr>
          <a:xfrm>
            <a:off x="4709160" y="1234440"/>
            <a:ext cx="3977640" cy="594360"/>
          </a:xfrm>
          <a:prstGeom prst="roundRect">
            <a:avLst>
              <a:gd name="adj" fmla="val 9231"/>
            </a:avLst>
          </a:prstGeom>
          <a:solidFill>
            <a:srgbClr val="FFFFFF"/>
          </a:solidFill>
          <a:ln/>
          <a:effectLst>
            <a:outerShdw sx="100000" sy="100000" kx="0" ky="0" algn="bl" rotWithShape="0" blurRad="101600" dist="25400" dir="8100000">
              <a:srgbClr val="000000">
                <a:alpha val="8000"/>
              </a:srgbClr>
            </a:outerShdw>
          </a:effectLst>
        </p:spPr>
      </p:sp>
      <p:sp>
        <p:nvSpPr>
          <p:cNvPr id="24" name="Text 18"/>
          <p:cNvSpPr/>
          <p:nvPr/>
        </p:nvSpPr>
        <p:spPr>
          <a:xfrm>
            <a:off x="4800600" y="1371600"/>
            <a:ext cx="320040" cy="320040"/>
          </a:xfrm>
          <a:prstGeom prst="ellipse">
            <a:avLst/>
          </a:prstGeom>
          <a:solidFill>
            <a:srgbClr val="0C7C9B"/>
          </a:solidFill>
          <a:ln/>
        </p:spPr>
        <p:txBody>
          <a:bodyPr wrap="square" lIns="0" tIns="0" rIns="0" bIns="0" rtlCol="0" anchor="ctr"/>
          <a:lstStyle/>
          <a:p>
            <a:pPr algn="ctr" indent="0" marL="0">
              <a:buNone/>
            </a:pPr>
            <a:r>
              <a:rPr lang="en-US" sz="1400" dirty="0">
                <a:solidFill>
                  <a:srgbClr val="FFFFFF"/>
                </a:solidFill>
                <a:latin typeface="Trebuchet MS" pitchFamily="34" charset="0"/>
                <a:ea typeface="Trebuchet MS" pitchFamily="34" charset="-122"/>
                <a:cs typeface="Trebuchet MS" pitchFamily="34" charset="-120"/>
              </a:rPr>
              <a:t>4</a:t>
            </a:r>
            <a:endParaRPr lang="en-US" sz="1400" dirty="0"/>
          </a:p>
        </p:txBody>
      </p:sp>
      <p:pic>
        <p:nvPicPr>
          <p:cNvPr id="25" name="Image 4" descr="icon_115.sv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212080" y="1431036"/>
            <a:ext cx="201168" cy="201168"/>
          </a:xfrm>
          <a:prstGeom prst="rect">
            <a:avLst/>
          </a:prstGeom>
        </p:spPr>
      </p:pic>
      <p:sp>
        <p:nvSpPr>
          <p:cNvPr id="26" name="Text 19"/>
          <p:cNvSpPr/>
          <p:nvPr/>
        </p:nvSpPr>
        <p:spPr>
          <a:xfrm>
            <a:off x="5486400" y="1289304"/>
            <a:ext cx="3017520" cy="219456"/>
          </a:xfrm>
          <a:prstGeom prst="rect">
            <a:avLst/>
          </a:prstGeom>
          <a:noFill/>
          <a:ln/>
        </p:spPr>
        <p:txBody>
          <a:bodyPr wrap="square" lIns="0" tIns="0" rIns="0" bIns="0" rtlCol="0" anchor="ctr"/>
          <a:lstStyle/>
          <a:p>
            <a:pPr indent="0" marL="0">
              <a:buNone/>
            </a:pPr>
            <a:r>
              <a:rPr lang="en-US" sz="1000" dirty="0">
                <a:solidFill>
                  <a:srgbClr val="1E293B"/>
                </a:solidFill>
                <a:latin typeface="Trebuchet MS" pitchFamily="34" charset="0"/>
                <a:ea typeface="Trebuchet MS" pitchFamily="34" charset="-122"/>
                <a:cs typeface="Trebuchet MS" pitchFamily="34" charset="-120"/>
              </a:rPr>
              <a:t>For encryption: specify WHO &amp; WHICH key</a:t>
            </a:r>
            <a:endParaRPr lang="en-US" sz="1000" dirty="0"/>
          </a:p>
        </p:txBody>
      </p:sp>
      <p:sp>
        <p:nvSpPr>
          <p:cNvPr id="27" name="Text 20"/>
          <p:cNvSpPr/>
          <p:nvPr/>
        </p:nvSpPr>
        <p:spPr>
          <a:xfrm>
            <a:off x="5486400" y="1527048"/>
            <a:ext cx="3017520" cy="25603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Specify WHO encrypts, WHO decrypts, and WHICH key is used</a:t>
            </a:r>
            <a:endParaRPr lang="en-US" sz="900" dirty="0"/>
          </a:p>
        </p:txBody>
      </p:sp>
      <p:sp>
        <p:nvSpPr>
          <p:cNvPr id="28" name="Shape 21"/>
          <p:cNvSpPr/>
          <p:nvPr/>
        </p:nvSpPr>
        <p:spPr>
          <a:xfrm>
            <a:off x="4709160" y="1901952"/>
            <a:ext cx="3977640" cy="594360"/>
          </a:xfrm>
          <a:prstGeom prst="roundRect">
            <a:avLst>
              <a:gd name="adj" fmla="val 9231"/>
            </a:avLst>
          </a:prstGeom>
          <a:solidFill>
            <a:srgbClr val="FFFFFF"/>
          </a:solidFill>
          <a:ln/>
          <a:effectLst>
            <a:outerShdw sx="100000" sy="100000" kx="0" ky="0" algn="bl" rotWithShape="0" blurRad="101600" dist="25400" dir="8100000">
              <a:srgbClr val="000000">
                <a:alpha val="8000"/>
              </a:srgbClr>
            </a:outerShdw>
          </a:effectLst>
        </p:spPr>
      </p:sp>
      <p:sp>
        <p:nvSpPr>
          <p:cNvPr id="29" name="Text 22"/>
          <p:cNvSpPr/>
          <p:nvPr/>
        </p:nvSpPr>
        <p:spPr>
          <a:xfrm>
            <a:off x="4800600" y="2039112"/>
            <a:ext cx="320040" cy="320040"/>
          </a:xfrm>
          <a:prstGeom prst="ellipse">
            <a:avLst/>
          </a:prstGeom>
          <a:solidFill>
            <a:srgbClr val="0C7C9B"/>
          </a:solidFill>
          <a:ln/>
        </p:spPr>
        <p:txBody>
          <a:bodyPr wrap="square" lIns="0" tIns="0" rIns="0" bIns="0" rtlCol="0" anchor="ctr"/>
          <a:lstStyle/>
          <a:p>
            <a:pPr algn="ctr" indent="0" marL="0">
              <a:buNone/>
            </a:pPr>
            <a:r>
              <a:rPr lang="en-US" sz="1400" dirty="0">
                <a:solidFill>
                  <a:srgbClr val="FFFFFF"/>
                </a:solidFill>
                <a:latin typeface="Trebuchet MS" pitchFamily="34" charset="0"/>
                <a:ea typeface="Trebuchet MS" pitchFamily="34" charset="-122"/>
                <a:cs typeface="Trebuchet MS" pitchFamily="34" charset="-120"/>
              </a:rPr>
              <a:t>5</a:t>
            </a:r>
            <a:endParaRPr lang="en-US" sz="1400" dirty="0"/>
          </a:p>
        </p:txBody>
      </p:sp>
      <p:pic>
        <p:nvPicPr>
          <p:cNvPr id="30" name="Image 5" descr="icon_116.sv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212080" y="2098548"/>
            <a:ext cx="201168" cy="201168"/>
          </a:xfrm>
          <a:prstGeom prst="rect">
            <a:avLst/>
          </a:prstGeom>
        </p:spPr>
      </p:pic>
      <p:sp>
        <p:nvSpPr>
          <p:cNvPr id="31" name="Text 23"/>
          <p:cNvSpPr/>
          <p:nvPr/>
        </p:nvSpPr>
        <p:spPr>
          <a:xfrm>
            <a:off x="5486400" y="1956816"/>
            <a:ext cx="3017520" cy="219456"/>
          </a:xfrm>
          <a:prstGeom prst="rect">
            <a:avLst/>
          </a:prstGeom>
          <a:noFill/>
          <a:ln/>
        </p:spPr>
        <p:txBody>
          <a:bodyPr wrap="square" lIns="0" tIns="0" rIns="0" bIns="0" rtlCol="0" anchor="ctr"/>
          <a:lstStyle/>
          <a:p>
            <a:pPr indent="0" marL="0">
              <a:buNone/>
            </a:pPr>
            <a:r>
              <a:rPr lang="en-US" sz="1000" dirty="0">
                <a:solidFill>
                  <a:srgbClr val="1E293B"/>
                </a:solidFill>
                <a:latin typeface="Trebuchet MS" pitchFamily="34" charset="0"/>
                <a:ea typeface="Trebuchet MS" pitchFamily="34" charset="-122"/>
                <a:cs typeface="Trebuchet MS" pitchFamily="34" charset="-120"/>
              </a:rPr>
              <a:t>Initialise ALL variables &amp; check boundaries</a:t>
            </a:r>
            <a:endParaRPr lang="en-US" sz="1000" dirty="0"/>
          </a:p>
        </p:txBody>
      </p:sp>
      <p:sp>
        <p:nvSpPr>
          <p:cNvPr id="32" name="Text 24"/>
          <p:cNvSpPr/>
          <p:nvPr/>
        </p:nvSpPr>
        <p:spPr>
          <a:xfrm>
            <a:off x="5486400" y="2194560"/>
            <a:ext cx="3017520" cy="25603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Initialise variables before loops; check N vs N+1</a:t>
            </a:r>
            <a:endParaRPr lang="en-US" sz="900" dirty="0"/>
          </a:p>
        </p:txBody>
      </p:sp>
      <p:sp>
        <p:nvSpPr>
          <p:cNvPr id="33" name="Shape 25"/>
          <p:cNvSpPr/>
          <p:nvPr/>
        </p:nvSpPr>
        <p:spPr>
          <a:xfrm>
            <a:off x="457200" y="3374136"/>
            <a:ext cx="8229600" cy="502920"/>
          </a:xfrm>
          <a:prstGeom prst="roundRect">
            <a:avLst>
              <a:gd name="adj" fmla="val 10909"/>
            </a:avLst>
          </a:prstGeom>
          <a:solidFill>
            <a:srgbClr val="0C7C9B">
              <a:alpha val="10000"/>
            </a:srgbClr>
          </a:solidFill>
          <a:ln/>
        </p:spPr>
      </p:sp>
      <p:sp>
        <p:nvSpPr>
          <p:cNvPr id="34" name="Text 26"/>
          <p:cNvSpPr/>
          <p:nvPr/>
        </p:nvSpPr>
        <p:spPr>
          <a:xfrm>
            <a:off x="640080" y="3374136"/>
            <a:ext cx="7863840" cy="502920"/>
          </a:xfrm>
          <a:prstGeom prst="rect">
            <a:avLst/>
          </a:prstGeom>
          <a:noFill/>
          <a:ln/>
        </p:spPr>
        <p:txBody>
          <a:bodyPr wrap="square" lIns="0" tIns="0" rIns="0" bIns="0" rtlCol="0" anchor="ctr"/>
          <a:lstStyle/>
          <a:p>
            <a:pPr indent="0" marL="0">
              <a:buNone/>
            </a:pPr>
            <a:r>
              <a:rPr lang="en-US" sz="1000" dirty="0">
                <a:solidFill>
                  <a:srgbClr val="0C7C9B"/>
                </a:solidFill>
                <a:latin typeface="Calibri" pitchFamily="34" charset="0"/>
                <a:ea typeface="Calibri" pitchFamily="34" charset="-122"/>
                <a:cs typeface="Calibri" pitchFamily="34" charset="-120"/>
              </a:rPr>
              <a:t>✨ Remember: The examiner report shows that vague, one-word answers without justification lose marks every year</a:t>
            </a:r>
            <a:endParaRPr lang="en-US" sz="1000" dirty="0"/>
          </a:p>
        </p:txBody>
      </p:sp>
      <p:sp>
        <p:nvSpPr>
          <p:cNvPr id="35" name="Shape 27"/>
          <p:cNvSpPr/>
          <p:nvPr/>
        </p:nvSpPr>
        <p:spPr>
          <a:xfrm>
            <a:off x="0" y="4800600"/>
            <a:ext cx="9144000" cy="342900"/>
          </a:xfrm>
          <a:prstGeom prst="rect">
            <a:avLst/>
          </a:prstGeom>
          <a:solidFill>
            <a:srgbClr val="E2E8F0"/>
          </a:solidFill>
          <a:ln/>
        </p:spPr>
      </p:sp>
      <p:sp>
        <p:nvSpPr>
          <p:cNvPr id="36" name="Text 28"/>
          <p:cNvSpPr/>
          <p:nvPr/>
        </p:nvSpPr>
        <p:spPr>
          <a:xfrm>
            <a:off x="457200" y="4818888"/>
            <a:ext cx="4572000" cy="274320"/>
          </a:xfrm>
          <a:prstGeom prst="rect">
            <a:avLst/>
          </a:prstGeom>
          <a:noFill/>
          <a:ln/>
        </p:spPr>
        <p:txBody>
          <a:bodyPr wrap="square" lIns="0" tIns="0" rIns="0" bIns="0" rtlCol="0" anchor="ctr"/>
          <a:lstStyle/>
          <a:p>
            <a:pPr indent="0" marL="0">
              <a:buNone/>
            </a:pPr>
            <a:r>
              <a:rPr lang="en-US" sz="700" dirty="0">
                <a:solidFill>
                  <a:srgbClr val="94A3B8"/>
                </a:solidFill>
                <a:latin typeface="Calibri" pitchFamily="34" charset="0"/>
                <a:ea typeface="Calibri" pitchFamily="34" charset="-122"/>
                <a:cs typeface="Calibri" pitchFamily="34" charset="-120"/>
              </a:rPr>
              <a:t>HKDSE ICT 2025 Exam Skills Masterclass</a:t>
            </a:r>
            <a:endParaRPr lang="en-US" sz="700" dirty="0"/>
          </a:p>
        </p:txBody>
      </p:sp>
      <p:sp>
        <p:nvSpPr>
          <p:cNvPr id="25" name="Slide Number Placeholder 0"/>
          <p:cNvSpPr>
            <a:spLocks noGrp="1"/>
          </p:cNvSpPr>
          <p:nvPr>
            <p:ph type="sldNum" sz="quarter" idx="4294967295"/>
          </p:nvPr>
        </p:nvSpPr>
        <p:spPr>
          <a:xfrm>
            <a:off x="8503920" y="4886325"/>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Calibri"/>
                <a:ea typeface="Calibri"/>
                <a:cs typeface="Calibri"/>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0F7F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1628"/>
          </a:solidFill>
          <a:ln/>
        </p:spPr>
      </p:sp>
      <p:sp>
        <p:nvSpPr>
          <p:cNvPr id="3" name="Shape 1"/>
          <p:cNvSpPr/>
          <p:nvPr/>
        </p:nvSpPr>
        <p:spPr>
          <a:xfrm>
            <a:off x="457200" y="18288"/>
            <a:ext cx="731520" cy="256032"/>
          </a:xfrm>
          <a:prstGeom prst="roundRect">
            <a:avLst>
              <a:gd name="adj" fmla="val 14286"/>
            </a:avLst>
          </a:prstGeom>
          <a:solidFill>
            <a:srgbClr val="F97316"/>
          </a:solidFill>
          <a:ln/>
        </p:spPr>
      </p:sp>
      <p:sp>
        <p:nvSpPr>
          <p:cNvPr id="4" name="Text 2"/>
          <p:cNvSpPr/>
          <p:nvPr/>
        </p:nvSpPr>
        <p:spPr>
          <a:xfrm>
            <a:off x="548640" y="18288"/>
            <a:ext cx="548640" cy="256032"/>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PAPER 2</a:t>
            </a:r>
            <a:endParaRPr lang="en-US" sz="900" dirty="0"/>
          </a:p>
        </p:txBody>
      </p:sp>
      <p:pic>
        <p:nvPicPr>
          <p:cNvPr id="5" name="Image 0" descr="icon_117.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321040" y="228600"/>
            <a:ext cx="320040" cy="320040"/>
          </a:xfrm>
          <a:prstGeom prst="rect">
            <a:avLst/>
          </a:prstGeom>
        </p:spPr>
      </p:pic>
      <p:sp>
        <p:nvSpPr>
          <p:cNvPr id="6" name="Text 3"/>
          <p:cNvSpPr/>
          <p:nvPr/>
        </p:nvSpPr>
        <p:spPr>
          <a:xfrm>
            <a:off x="457200" y="182880"/>
            <a:ext cx="7772400" cy="502920"/>
          </a:xfrm>
          <a:prstGeom prst="rect">
            <a:avLst/>
          </a:prstGeom>
          <a:noFill/>
          <a:ln/>
        </p:spPr>
        <p:txBody>
          <a:bodyPr wrap="square" lIns="0" tIns="0" rIns="0" bIns="0" rtlCol="0" anchor="ctr"/>
          <a:lstStyle/>
          <a:p>
            <a:pPr indent="0" marL="0">
              <a:buNone/>
            </a:pPr>
            <a:r>
              <a:rPr lang="en-US" sz="2200" dirty="0">
                <a:solidFill>
                  <a:srgbClr val="FFFFFF"/>
                </a:solidFill>
                <a:latin typeface="Trebuchet MS" pitchFamily="34" charset="0"/>
                <a:ea typeface="Trebuchet MS" pitchFamily="34" charset="-122"/>
                <a:cs typeface="Trebuchet MS" pitchFamily="34" charset="-120"/>
              </a:rPr>
              <a:t>Paper 2: Database &amp; SQL Performance</a:t>
            </a:r>
            <a:endParaRPr lang="en-US" sz="2200" dirty="0"/>
          </a:p>
        </p:txBody>
      </p:sp>
      <p:sp>
        <p:nvSpPr>
          <p:cNvPr id="7" name="Text 4"/>
          <p:cNvSpPr/>
          <p:nvPr/>
        </p:nvSpPr>
        <p:spPr>
          <a:xfrm>
            <a:off x="457200" y="594360"/>
            <a:ext cx="8229600" cy="274320"/>
          </a:xfrm>
          <a:prstGeom prst="rect">
            <a:avLst/>
          </a:prstGeom>
          <a:noFill/>
          <a:ln/>
        </p:spPr>
        <p:txBody>
          <a:bodyPr wrap="square" lIns="0" tIns="0" rIns="0" bIns="0" rtlCol="0" anchor="ctr"/>
          <a:lstStyle/>
          <a:p>
            <a:pPr indent="0" marL="0">
              <a:buNone/>
            </a:pPr>
            <a:r>
              <a:rPr lang="en-US" sz="1200" dirty="0">
                <a:solidFill>
                  <a:srgbClr val="B8D4E3"/>
                </a:solidFill>
                <a:latin typeface="Calibri" pitchFamily="34" charset="0"/>
                <a:ea typeface="Calibri" pitchFamily="34" charset="-122"/>
                <a:cs typeface="Calibri" pitchFamily="34" charset="-120"/>
              </a:rPr>
              <a:t>Strong on ER Diagrams, Weak on SQL Commands &amp; Normalisation</a:t>
            </a:r>
            <a:endParaRPr lang="en-US" sz="1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822960"/>
                <a:gridCol w="1371600"/>
                <a:gridCol w="822960"/>
                <a:gridCol w="5212080"/>
              </a:tblGrid>
              <a:tr h="320040">
                <a:tc>
                  <a:txBody>
                    <a:bodyPr/>
                    <a:lstStyle/>
                    <a:p>
                      <a:pPr algn="ctr" indent="0" marL="0">
                        <a:buNone/>
                      </a:pPr>
                      <a:r>
                        <a:rPr lang="en-US" sz="900" dirty="0">
                          <a:solidFill>
                            <a:srgbClr val="FFFFFF"/>
                          </a:solidFill>
                          <a:latin typeface="Trebuchet MS" pitchFamily="34" charset="0"/>
                          <a:ea typeface="Trebuchet MS" pitchFamily="34" charset="-122"/>
                          <a:cs typeface="Trebuchet MS" pitchFamily="34" charset="-120"/>
                        </a:rPr>
                        <a:t>Question</a:t>
                      </a:r>
                      <a:endParaRPr lang="en-US" sz="900" dirty="0">
                        <a:latin typeface="Trebuchet MS" charset="0"/>
                        <a:ea typeface="Trebuchet MS" charset="0"/>
                        <a:cs typeface="Trebuchet MS"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97316"/>
                    </a:solidFill>
                  </a:tcPr>
                </a:tc>
                <a:tc>
                  <a:txBody>
                    <a:bodyPr/>
                    <a:lstStyle/>
                    <a:p>
                      <a:pPr algn="ctr" indent="0" marL="0">
                        <a:buNone/>
                      </a:pPr>
                      <a:r>
                        <a:rPr lang="en-US" sz="900" dirty="0">
                          <a:solidFill>
                            <a:srgbClr val="FFFFFF"/>
                          </a:solidFill>
                          <a:latin typeface="Trebuchet MS" pitchFamily="34" charset="0"/>
                          <a:ea typeface="Trebuchet MS" pitchFamily="34" charset="-122"/>
                          <a:cs typeface="Trebuchet MS" pitchFamily="34" charset="-120"/>
                        </a:rPr>
                        <a:t>Topic</a:t>
                      </a:r>
                      <a:endParaRPr lang="en-US" sz="900" dirty="0">
                        <a:latin typeface="Trebuchet MS" charset="0"/>
                        <a:ea typeface="Trebuchet MS" charset="0"/>
                        <a:cs typeface="Trebuchet MS"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97316"/>
                    </a:solidFill>
                  </a:tcPr>
                </a:tc>
                <a:tc>
                  <a:txBody>
                    <a:bodyPr/>
                    <a:lstStyle/>
                    <a:p>
                      <a:pPr algn="ctr" indent="0" marL="0">
                        <a:buNone/>
                      </a:pPr>
                      <a:r>
                        <a:rPr lang="en-US" sz="900" dirty="0">
                          <a:solidFill>
                            <a:srgbClr val="FFFFFF"/>
                          </a:solidFill>
                          <a:latin typeface="Trebuchet MS" pitchFamily="34" charset="0"/>
                          <a:ea typeface="Trebuchet MS" pitchFamily="34" charset="-122"/>
                          <a:cs typeface="Trebuchet MS" pitchFamily="34" charset="-120"/>
                        </a:rPr>
                        <a:t>Rating</a:t>
                      </a:r>
                      <a:endParaRPr lang="en-US" sz="900" dirty="0">
                        <a:latin typeface="Trebuchet MS" charset="0"/>
                        <a:ea typeface="Trebuchet MS" charset="0"/>
                        <a:cs typeface="Trebuchet MS"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97316"/>
                    </a:solidFill>
                  </a:tcPr>
                </a:tc>
                <a:tc>
                  <a:txBody>
                    <a:bodyPr/>
                    <a:lstStyle/>
                    <a:p>
                      <a:pPr algn="ctr" indent="0" marL="0">
                        <a:buNone/>
                      </a:pPr>
                      <a:r>
                        <a:rPr lang="en-US" sz="900" dirty="0">
                          <a:solidFill>
                            <a:srgbClr val="FFFFFF"/>
                          </a:solidFill>
                          <a:latin typeface="Trebuchet MS" pitchFamily="34" charset="0"/>
                          <a:ea typeface="Trebuchet MS" pitchFamily="34" charset="-122"/>
                          <a:cs typeface="Trebuchet MS" pitchFamily="34" charset="-120"/>
                        </a:rPr>
                        <a:t>Key Finding</a:t>
                      </a:r>
                      <a:endParaRPr lang="en-US" sz="900" dirty="0">
                        <a:latin typeface="Trebuchet MS" charset="0"/>
                        <a:ea typeface="Trebuchet MS" charset="0"/>
                        <a:cs typeface="Trebuchet MS"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97316"/>
                    </a:solidFill>
                  </a:tcPr>
                </a:tc>
              </a:tr>
              <a:tr h="411480">
                <a:tc>
                  <a:txBody>
                    <a:bodyPr/>
                    <a:lstStyle/>
                    <a:p>
                      <a:pPr algn="ctr" indent="0" marL="0">
                        <a:buNone/>
                      </a:pPr>
                      <a:r>
                        <a:rPr lang="en-US" sz="900" dirty="0">
                          <a:solidFill>
                            <a:srgbClr val="1E293B"/>
                          </a:solidFill>
                          <a:latin typeface="Calibri" pitchFamily="34" charset="0"/>
                          <a:ea typeface="Calibri" pitchFamily="34" charset="-122"/>
                          <a:cs typeface="Calibri" pitchFamily="34" charset="-120"/>
                        </a:rPr>
                        <a:t>Q1a</a:t>
                      </a:r>
                      <a:endParaRPr lang="en-US" sz="9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ER Diagrams</a:t>
                      </a:r>
                      <a:endParaRPr lang="en-US" sz="9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0B981"/>
                          </a:solidFill>
                          <a:latin typeface="Trebuchet MS" pitchFamily="34" charset="0"/>
                          <a:ea typeface="Trebuchet MS" pitchFamily="34" charset="-122"/>
                          <a:cs typeface="Trebuchet MS" pitchFamily="34" charset="-120"/>
                        </a:rPr>
                        <a:t>Good</a:t>
                      </a:r>
                      <a:endParaRPr lang="en-US" sz="900" dirty="0">
                        <a:latin typeface="Trebuchet MS" charset="0"/>
                        <a:ea typeface="Trebuchet MS" charset="0"/>
                        <a:cs typeface="Trebuchet MS"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D1FAE5"/>
                    </a:solidFill>
                  </a:tcPr>
                </a:tc>
                <a:tc>
                  <a:txBody>
                    <a:bodyPr/>
                    <a:lstStyle/>
                    <a:p>
                      <a:pPr indent="0" marL="0">
                        <a:buNone/>
                      </a:pPr>
                      <a:r>
                        <a:rPr lang="en-US" sz="850" dirty="0">
                          <a:solidFill>
                            <a:srgbClr val="1E293B"/>
                          </a:solidFill>
                          <a:latin typeface="Calibri" pitchFamily="34" charset="0"/>
                          <a:ea typeface="Calibri" pitchFamily="34" charset="-122"/>
                          <a:cs typeface="Calibri" pitchFamily="34" charset="-120"/>
                        </a:rPr>
                        <a:t>Most completed correctly; weaker missed minimal cardinalities</a:t>
                      </a:r>
                      <a:endParaRPr lang="en-US" sz="8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411480">
                <a:tc>
                  <a:txBody>
                    <a:bodyPr/>
                    <a:lstStyle/>
                    <a:p>
                      <a:pPr algn="ctr" indent="0" marL="0">
                        <a:buNone/>
                      </a:pPr>
                      <a:r>
                        <a:rPr lang="en-US" sz="900" dirty="0">
                          <a:solidFill>
                            <a:srgbClr val="1E293B"/>
                          </a:solidFill>
                          <a:latin typeface="Calibri" pitchFamily="34" charset="0"/>
                          <a:ea typeface="Calibri" pitchFamily="34" charset="-122"/>
                          <a:cs typeface="Calibri" pitchFamily="34" charset="-120"/>
                        </a:rPr>
                        <a:t>Q2b</a:t>
                      </a:r>
                      <a:endParaRPr lang="en-US" sz="9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DFA"/>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UPDATE</a:t>
                      </a:r>
                      <a:endParaRPr lang="en-US" sz="9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DFA"/>
                    </a:solidFill>
                  </a:tcPr>
                </a:tc>
                <a:tc>
                  <a:txBody>
                    <a:bodyPr/>
                    <a:lstStyle/>
                    <a:p>
                      <a:pPr algn="ctr" indent="0" marL="0">
                        <a:buNone/>
                      </a:pPr>
                      <a:r>
                        <a:rPr lang="en-US" sz="900" dirty="0">
                          <a:solidFill>
                            <a:srgbClr val="10B981"/>
                          </a:solidFill>
                          <a:latin typeface="Trebuchet MS" pitchFamily="34" charset="0"/>
                          <a:ea typeface="Trebuchet MS" pitchFamily="34" charset="-122"/>
                          <a:cs typeface="Trebuchet MS" pitchFamily="34" charset="-120"/>
                        </a:rPr>
                        <a:t>Good</a:t>
                      </a:r>
                      <a:endParaRPr lang="en-US" sz="900" dirty="0">
                        <a:latin typeface="Trebuchet MS" charset="0"/>
                        <a:ea typeface="Trebuchet MS" charset="0"/>
                        <a:cs typeface="Trebuchet MS"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D1FAE5"/>
                    </a:solidFill>
                  </a:tcPr>
                </a:tc>
                <a:tc>
                  <a:txBody>
                    <a:bodyPr/>
                    <a:lstStyle/>
                    <a:p>
                      <a:pPr indent="0" marL="0">
                        <a:buNone/>
                      </a:pPr>
                      <a:r>
                        <a:rPr lang="en-US" sz="850" dirty="0">
                          <a:solidFill>
                            <a:srgbClr val="1E293B"/>
                          </a:solidFill>
                          <a:latin typeface="Calibri" pitchFamily="34" charset="0"/>
                          <a:ea typeface="Calibri" pitchFamily="34" charset="-122"/>
                          <a:cs typeface="Calibri" pitchFamily="34" charset="-120"/>
                        </a:rPr>
                        <a:t>Successfully updated values for specific records</a:t>
                      </a:r>
                      <a:endParaRPr lang="en-US" sz="8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DFA"/>
                    </a:solidFill>
                  </a:tcPr>
                </a:tc>
              </a:tr>
              <a:tr h="411480">
                <a:tc>
                  <a:txBody>
                    <a:bodyPr/>
                    <a:lstStyle/>
                    <a:p>
                      <a:pPr algn="ctr" indent="0" marL="0">
                        <a:buNone/>
                      </a:pPr>
                      <a:r>
                        <a:rPr lang="en-US" sz="900" dirty="0">
                          <a:solidFill>
                            <a:srgbClr val="1E293B"/>
                          </a:solidFill>
                          <a:latin typeface="Calibri" pitchFamily="34" charset="0"/>
                          <a:ea typeface="Calibri" pitchFamily="34" charset="-122"/>
                          <a:cs typeface="Calibri" pitchFamily="34" charset="-120"/>
                        </a:rPr>
                        <a:t>Q5d</a:t>
                      </a:r>
                      <a:endParaRPr lang="en-US" sz="9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Data Integrity</a:t>
                      </a:r>
                      <a:endParaRPr lang="en-US" sz="9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0B981"/>
                          </a:solidFill>
                          <a:latin typeface="Trebuchet MS" pitchFamily="34" charset="0"/>
                          <a:ea typeface="Trebuchet MS" pitchFamily="34" charset="-122"/>
                          <a:cs typeface="Trebuchet MS" pitchFamily="34" charset="-120"/>
                        </a:rPr>
                        <a:t>Good</a:t>
                      </a:r>
                      <a:endParaRPr lang="en-US" sz="900" dirty="0">
                        <a:latin typeface="Trebuchet MS" charset="0"/>
                        <a:ea typeface="Trebuchet MS" charset="0"/>
                        <a:cs typeface="Trebuchet MS"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D1FAE5"/>
                    </a:solidFill>
                  </a:tcPr>
                </a:tc>
                <a:tc>
                  <a:txBody>
                    <a:bodyPr/>
                    <a:lstStyle/>
                    <a:p>
                      <a:pPr indent="0" marL="0">
                        <a:buNone/>
                      </a:pPr>
                      <a:r>
                        <a:rPr lang="en-US" sz="850" dirty="0">
                          <a:solidFill>
                            <a:srgbClr val="1E293B"/>
                          </a:solidFill>
                          <a:latin typeface="Calibri" pitchFamily="34" charset="0"/>
                          <a:ea typeface="Calibri" pitchFamily="34" charset="-122"/>
                          <a:cs typeface="Calibri" pitchFamily="34" charset="-120"/>
                        </a:rPr>
                        <a:t>High proportion identified integrity problems clearly</a:t>
                      </a:r>
                      <a:endParaRPr lang="en-US" sz="8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411480">
                <a:tc>
                  <a:txBody>
                    <a:bodyPr/>
                    <a:lstStyle/>
                    <a:p>
                      <a:pPr algn="ctr" indent="0" marL="0">
                        <a:buNone/>
                      </a:pPr>
                      <a:r>
                        <a:rPr lang="en-US" sz="900" dirty="0">
                          <a:solidFill>
                            <a:srgbClr val="1E293B"/>
                          </a:solidFill>
                          <a:latin typeface="Calibri" pitchFamily="34" charset="0"/>
                          <a:ea typeface="Calibri" pitchFamily="34" charset="-122"/>
                          <a:cs typeface="Calibri" pitchFamily="34" charset="-120"/>
                        </a:rPr>
                        <a:t>Q2a</a:t>
                      </a:r>
                      <a:endParaRPr lang="en-US" sz="9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DFA"/>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UNION</a:t>
                      </a:r>
                      <a:endParaRPr lang="en-US" sz="9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DFA"/>
                    </a:solidFill>
                  </a:tcPr>
                </a:tc>
                <a:tc>
                  <a:txBody>
                    <a:bodyPr/>
                    <a:lstStyle/>
                    <a:p>
                      <a:pPr algn="ctr" indent="0" marL="0">
                        <a:buNone/>
                      </a:pPr>
                      <a:r>
                        <a:rPr lang="en-US" sz="900" dirty="0">
                          <a:solidFill>
                            <a:srgbClr val="EF4444"/>
                          </a:solidFill>
                          <a:latin typeface="Trebuchet MS" pitchFamily="34" charset="0"/>
                          <a:ea typeface="Trebuchet MS" pitchFamily="34" charset="-122"/>
                          <a:cs typeface="Trebuchet MS" pitchFamily="34" charset="-120"/>
                        </a:rPr>
                        <a:t>Poor</a:t>
                      </a:r>
                      <a:endParaRPr lang="en-US" sz="900" dirty="0">
                        <a:latin typeface="Trebuchet MS" charset="0"/>
                        <a:ea typeface="Trebuchet MS" charset="0"/>
                        <a:cs typeface="Trebuchet MS"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EE2E2"/>
                    </a:solidFill>
                  </a:tcPr>
                </a:tc>
                <a:tc>
                  <a:txBody>
                    <a:bodyPr/>
                    <a:lstStyle/>
                    <a:p>
                      <a:pPr indent="0" marL="0">
                        <a:buNone/>
                      </a:pPr>
                      <a:r>
                        <a:rPr lang="en-US" sz="850" dirty="0">
                          <a:solidFill>
                            <a:srgbClr val="1E293B"/>
                          </a:solidFill>
                          <a:latin typeface="Calibri" pitchFamily="34" charset="0"/>
                          <a:ea typeface="Calibri" pitchFamily="34" charset="-122"/>
                          <a:cs typeface="Calibri" pitchFamily="34" charset="-120"/>
                        </a:rPr>
                        <a:t>Nearly ALL candidates failed — worst-performing question</a:t>
                      </a:r>
                      <a:endParaRPr lang="en-US" sz="8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DFA"/>
                    </a:solidFill>
                  </a:tcPr>
                </a:tc>
              </a:tr>
              <a:tr h="411480">
                <a:tc>
                  <a:txBody>
                    <a:bodyPr/>
                    <a:lstStyle/>
                    <a:p>
                      <a:pPr algn="ctr" indent="0" marL="0">
                        <a:buNone/>
                      </a:pPr>
                      <a:r>
                        <a:rPr lang="en-US" sz="900" dirty="0">
                          <a:solidFill>
                            <a:srgbClr val="1E293B"/>
                          </a:solidFill>
                          <a:latin typeface="Calibri" pitchFamily="34" charset="0"/>
                          <a:ea typeface="Calibri" pitchFamily="34" charset="-122"/>
                          <a:cs typeface="Calibri" pitchFamily="34" charset="-120"/>
                        </a:rPr>
                        <a:t>Q4</a:t>
                      </a:r>
                      <a:endParaRPr lang="en-US" sz="9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Normalisation</a:t>
                      </a:r>
                      <a:endParaRPr lang="en-US" sz="9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F59E0B"/>
                          </a:solidFill>
                          <a:latin typeface="Trebuchet MS" pitchFamily="34" charset="0"/>
                          <a:ea typeface="Trebuchet MS" pitchFamily="34" charset="-122"/>
                          <a:cs typeface="Trebuchet MS" pitchFamily="34" charset="-120"/>
                        </a:rPr>
                        <a:t>Fair</a:t>
                      </a:r>
                      <a:endParaRPr lang="en-US" sz="900" dirty="0">
                        <a:latin typeface="Trebuchet MS" charset="0"/>
                        <a:ea typeface="Trebuchet MS" charset="0"/>
                        <a:cs typeface="Trebuchet MS"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EF3C7"/>
                    </a:solidFill>
                  </a:tcPr>
                </a:tc>
                <a:tc>
                  <a:txBody>
                    <a:bodyPr/>
                    <a:lstStyle/>
                    <a:p>
                      <a:pPr indent="0" marL="0">
                        <a:buNone/>
                      </a:pPr>
                      <a:r>
                        <a:rPr lang="en-US" sz="850" dirty="0">
                          <a:solidFill>
                            <a:srgbClr val="1E293B"/>
                          </a:solidFill>
                          <a:latin typeface="Calibri" pitchFamily="34" charset="0"/>
                          <a:ea typeface="Calibri" pitchFamily="34" charset="-122"/>
                          <a:cs typeface="Calibri" pitchFamily="34" charset="-120"/>
                        </a:rPr>
                        <a:t>Only a small number completed normalised tables with correct PKs</a:t>
                      </a:r>
                      <a:endParaRPr lang="en-US" sz="8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411480">
                <a:tc>
                  <a:txBody>
                    <a:bodyPr/>
                    <a:lstStyle/>
                    <a:p>
                      <a:pPr algn="ctr" indent="0" marL="0">
                        <a:buNone/>
                      </a:pPr>
                      <a:r>
                        <a:rPr lang="en-US" sz="900" dirty="0">
                          <a:solidFill>
                            <a:srgbClr val="1E293B"/>
                          </a:solidFill>
                          <a:latin typeface="Calibri" pitchFamily="34" charset="0"/>
                          <a:ea typeface="Calibri" pitchFamily="34" charset="-122"/>
                          <a:cs typeface="Calibri" pitchFamily="34" charset="-120"/>
                        </a:rPr>
                        <a:t>Q5b-iii</a:t>
                      </a:r>
                      <a:endParaRPr lang="en-US" sz="9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DFA"/>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Subqueries + MAX</a:t>
                      </a:r>
                      <a:endParaRPr lang="en-US" sz="9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DFA"/>
                    </a:solidFill>
                  </a:tcPr>
                </a:tc>
                <a:tc>
                  <a:txBody>
                    <a:bodyPr/>
                    <a:lstStyle/>
                    <a:p>
                      <a:pPr algn="ctr" indent="0" marL="0">
                        <a:buNone/>
                      </a:pPr>
                      <a:r>
                        <a:rPr lang="en-US" sz="900" dirty="0">
                          <a:solidFill>
                            <a:srgbClr val="F59E0B"/>
                          </a:solidFill>
                          <a:latin typeface="Trebuchet MS" pitchFamily="34" charset="0"/>
                          <a:ea typeface="Trebuchet MS" pitchFamily="34" charset="-122"/>
                          <a:cs typeface="Trebuchet MS" pitchFamily="34" charset="-120"/>
                        </a:rPr>
                        <a:t>Fair</a:t>
                      </a:r>
                      <a:endParaRPr lang="en-US" sz="900" dirty="0">
                        <a:latin typeface="Trebuchet MS" charset="0"/>
                        <a:ea typeface="Trebuchet MS" charset="0"/>
                        <a:cs typeface="Trebuchet MS"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EF3C7"/>
                    </a:solidFill>
                  </a:tcPr>
                </a:tc>
                <a:tc>
                  <a:txBody>
                    <a:bodyPr/>
                    <a:lstStyle/>
                    <a:p>
                      <a:pPr indent="0" marL="0">
                        <a:buNone/>
                      </a:pPr>
                      <a:r>
                        <a:rPr lang="en-US" sz="850" dirty="0">
                          <a:solidFill>
                            <a:srgbClr val="1E293B"/>
                          </a:solidFill>
                          <a:latin typeface="Calibri" pitchFamily="34" charset="0"/>
                          <a:ea typeface="Calibri" pitchFamily="34" charset="-122"/>
                          <a:cs typeface="Calibri" pitchFamily="34" charset="-120"/>
                        </a:rPr>
                        <a:t>Over 50% struggled with nested queries using aggregate functions</a:t>
                      </a:r>
                      <a:endParaRPr lang="en-US" sz="85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DFA"/>
                    </a:solidFill>
                  </a:tcPr>
                </a:tc>
              </a:tr>
            </a:tbl>
          </a:graphicData>
        </a:graphic>
      </p:graphicFrame>
      <p:sp>
        <p:nvSpPr>
          <p:cNvPr id="9" name="Shape 5"/>
          <p:cNvSpPr/>
          <p:nvPr/>
        </p:nvSpPr>
        <p:spPr>
          <a:xfrm>
            <a:off x="457200" y="4023360"/>
            <a:ext cx="8229600" cy="438912"/>
          </a:xfrm>
          <a:prstGeom prst="roundRect">
            <a:avLst>
              <a:gd name="adj" fmla="val 12500"/>
            </a:avLst>
          </a:prstGeom>
          <a:solidFill>
            <a:srgbClr val="FEE2E2"/>
          </a:solidFill>
          <a:ln/>
        </p:spPr>
      </p:sp>
      <p:pic>
        <p:nvPicPr>
          <p:cNvPr id="10" name="Image 1" descr="icon_118.sv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94360" y="4114800"/>
            <a:ext cx="201168" cy="201168"/>
          </a:xfrm>
          <a:prstGeom prst="rect">
            <a:avLst/>
          </a:prstGeom>
        </p:spPr>
      </p:pic>
      <p:sp>
        <p:nvSpPr>
          <p:cNvPr id="11" name="Text 6"/>
          <p:cNvSpPr/>
          <p:nvPr/>
        </p:nvSpPr>
        <p:spPr>
          <a:xfrm>
            <a:off x="914400" y="4023360"/>
            <a:ext cx="7589520" cy="438912"/>
          </a:xfrm>
          <a:prstGeom prst="rect">
            <a:avLst/>
          </a:prstGeom>
          <a:noFill/>
          <a:ln/>
        </p:spPr>
        <p:txBody>
          <a:bodyPr wrap="square" lIns="0" tIns="0" rIns="0" bIns="0" rtlCol="0" anchor="ctr"/>
          <a:lstStyle/>
          <a:p>
            <a:pPr indent="0" marL="0">
              <a:buNone/>
            </a:pPr>
            <a:r>
              <a:rPr lang="en-US" sz="1000" dirty="0">
                <a:solidFill>
                  <a:srgbClr val="EF4444"/>
                </a:solidFill>
                <a:latin typeface="Calibri" pitchFamily="34" charset="0"/>
                <a:ea typeface="Calibri" pitchFamily="34" charset="-122"/>
                <a:cs typeface="Calibri" pitchFamily="34" charset="-120"/>
              </a:rPr>
              <a:t>Critical: UNION was the worst-performing question in the entire database section — nearly all candidates failed</a:t>
            </a:r>
            <a:endParaRPr lang="en-US" sz="1000" dirty="0"/>
          </a:p>
        </p:txBody>
      </p:sp>
      <p:sp>
        <p:nvSpPr>
          <p:cNvPr id="12" name="Shape 7"/>
          <p:cNvSpPr/>
          <p:nvPr/>
        </p:nvSpPr>
        <p:spPr>
          <a:xfrm>
            <a:off x="0" y="4800600"/>
            <a:ext cx="9144000" cy="342900"/>
          </a:xfrm>
          <a:prstGeom prst="rect">
            <a:avLst/>
          </a:prstGeom>
          <a:solidFill>
            <a:srgbClr val="E2E8F0"/>
          </a:solidFill>
          <a:ln/>
        </p:spPr>
      </p:sp>
      <p:sp>
        <p:nvSpPr>
          <p:cNvPr id="13" name="Text 8"/>
          <p:cNvSpPr/>
          <p:nvPr/>
        </p:nvSpPr>
        <p:spPr>
          <a:xfrm>
            <a:off x="457200" y="4818888"/>
            <a:ext cx="4572000" cy="274320"/>
          </a:xfrm>
          <a:prstGeom prst="rect">
            <a:avLst/>
          </a:prstGeom>
          <a:noFill/>
          <a:ln/>
        </p:spPr>
        <p:txBody>
          <a:bodyPr wrap="square" lIns="0" tIns="0" rIns="0" bIns="0" rtlCol="0" anchor="ctr"/>
          <a:lstStyle/>
          <a:p>
            <a:pPr indent="0" marL="0">
              <a:buNone/>
            </a:pPr>
            <a:r>
              <a:rPr lang="en-US" sz="700" dirty="0">
                <a:solidFill>
                  <a:srgbClr val="94A3B8"/>
                </a:solidFill>
                <a:latin typeface="Calibri" pitchFamily="34" charset="0"/>
                <a:ea typeface="Calibri" pitchFamily="34" charset="-122"/>
                <a:cs typeface="Calibri" pitchFamily="34" charset="-120"/>
              </a:rPr>
              <a:t>HKDSE ICT 2025 Exam Skills Masterclass</a:t>
            </a:r>
            <a:endParaRPr lang="en-US" sz="700" dirty="0"/>
          </a:p>
        </p:txBody>
      </p:sp>
      <p:sp>
        <p:nvSpPr>
          <p:cNvPr id="25" name="Slide Number Placeholder 0"/>
          <p:cNvSpPr>
            <a:spLocks noGrp="1"/>
          </p:cNvSpPr>
          <p:nvPr>
            <p:ph type="sldNum" sz="quarter" idx="4294967295"/>
          </p:nvPr>
        </p:nvSpPr>
        <p:spPr>
          <a:xfrm>
            <a:off x="8503920" y="4886325"/>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Calibri"/>
                <a:ea typeface="Calibri"/>
                <a:cs typeface="Calibri"/>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0F7F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1628"/>
          </a:solidFill>
          <a:ln/>
        </p:spPr>
      </p:sp>
      <p:sp>
        <p:nvSpPr>
          <p:cNvPr id="3" name="Shape 1"/>
          <p:cNvSpPr/>
          <p:nvPr/>
        </p:nvSpPr>
        <p:spPr>
          <a:xfrm>
            <a:off x="457200" y="18288"/>
            <a:ext cx="731520" cy="256032"/>
          </a:xfrm>
          <a:prstGeom prst="roundRect">
            <a:avLst>
              <a:gd name="adj" fmla="val 14286"/>
            </a:avLst>
          </a:prstGeom>
          <a:solidFill>
            <a:srgbClr val="F97316"/>
          </a:solidFill>
          <a:ln/>
        </p:spPr>
      </p:sp>
      <p:sp>
        <p:nvSpPr>
          <p:cNvPr id="4" name="Text 2"/>
          <p:cNvSpPr/>
          <p:nvPr/>
        </p:nvSpPr>
        <p:spPr>
          <a:xfrm>
            <a:off x="548640" y="18288"/>
            <a:ext cx="548640" cy="256032"/>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PAPER 2</a:t>
            </a:r>
            <a:endParaRPr lang="en-US" sz="900" dirty="0"/>
          </a:p>
        </p:txBody>
      </p:sp>
      <p:pic>
        <p:nvPicPr>
          <p:cNvPr id="5" name="Image 0" descr="icon_119.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321040" y="228600"/>
            <a:ext cx="320040" cy="320040"/>
          </a:xfrm>
          <a:prstGeom prst="rect">
            <a:avLst/>
          </a:prstGeom>
        </p:spPr>
      </p:pic>
      <p:sp>
        <p:nvSpPr>
          <p:cNvPr id="6" name="Text 3"/>
          <p:cNvSpPr/>
          <p:nvPr/>
        </p:nvSpPr>
        <p:spPr>
          <a:xfrm>
            <a:off x="457200" y="182880"/>
            <a:ext cx="7772400" cy="502920"/>
          </a:xfrm>
          <a:prstGeom prst="rect">
            <a:avLst/>
          </a:prstGeom>
          <a:noFill/>
          <a:ln/>
        </p:spPr>
        <p:txBody>
          <a:bodyPr wrap="square" lIns="0" tIns="0" rIns="0" bIns="0" rtlCol="0" anchor="ctr"/>
          <a:lstStyle/>
          <a:p>
            <a:pPr indent="0" marL="0">
              <a:buNone/>
            </a:pPr>
            <a:r>
              <a:rPr lang="en-US" sz="2200" dirty="0">
                <a:solidFill>
                  <a:srgbClr val="FFFFFF"/>
                </a:solidFill>
                <a:latin typeface="Trebuchet MS" pitchFamily="34" charset="0"/>
                <a:ea typeface="Trebuchet MS" pitchFamily="34" charset="-122"/>
                <a:cs typeface="Trebuchet MS" pitchFamily="34" charset="-120"/>
              </a:rPr>
              <a:t>Paper 2: SQL Command Pitfalls</a:t>
            </a:r>
            <a:endParaRPr lang="en-US" sz="2200" dirty="0"/>
          </a:p>
        </p:txBody>
      </p:sp>
      <p:sp>
        <p:nvSpPr>
          <p:cNvPr id="7" name="Text 4"/>
          <p:cNvSpPr/>
          <p:nvPr/>
        </p:nvSpPr>
        <p:spPr>
          <a:xfrm>
            <a:off x="457200" y="594360"/>
            <a:ext cx="8229600" cy="274320"/>
          </a:xfrm>
          <a:prstGeom prst="rect">
            <a:avLst/>
          </a:prstGeom>
          <a:noFill/>
          <a:ln/>
        </p:spPr>
        <p:txBody>
          <a:bodyPr wrap="square" lIns="0" tIns="0" rIns="0" bIns="0" rtlCol="0" anchor="ctr"/>
          <a:lstStyle/>
          <a:p>
            <a:pPr indent="0" marL="0">
              <a:buNone/>
            </a:pPr>
            <a:r>
              <a:rPr lang="en-US" sz="1200" dirty="0">
                <a:solidFill>
                  <a:srgbClr val="B8D4E3"/>
                </a:solidFill>
                <a:latin typeface="Calibri" pitchFamily="34" charset="0"/>
                <a:ea typeface="Calibri" pitchFamily="34" charset="-122"/>
                <a:cs typeface="Calibri" pitchFamily="34" charset="-120"/>
              </a:rPr>
              <a:t>The Syntax and Conceptual Errors That Failed Candidates</a:t>
            </a:r>
            <a:endParaRPr lang="en-US" sz="1200" dirty="0"/>
          </a:p>
        </p:txBody>
      </p:sp>
      <p:sp>
        <p:nvSpPr>
          <p:cNvPr id="8" name="Shape 5"/>
          <p:cNvSpPr/>
          <p:nvPr/>
        </p:nvSpPr>
        <p:spPr>
          <a:xfrm>
            <a:off x="457200" y="1188720"/>
            <a:ext cx="8229600" cy="594360"/>
          </a:xfrm>
          <a:prstGeom prst="roundRect">
            <a:avLst>
              <a:gd name="adj" fmla="val 9231"/>
            </a:avLst>
          </a:prstGeom>
          <a:solidFill>
            <a:srgbClr val="FFFFFF"/>
          </a:solidFill>
          <a:ln/>
          <a:effectLst>
            <a:outerShdw sx="100000" sy="100000" kx="0" ky="0" algn="bl" rotWithShape="0" blurRad="101600" dist="25400" dir="8100000">
              <a:srgbClr val="000000">
                <a:alpha val="8000"/>
              </a:srgbClr>
            </a:outerShdw>
          </a:effectLst>
        </p:spPr>
      </p:sp>
      <p:sp>
        <p:nvSpPr>
          <p:cNvPr id="9" name="Text 6"/>
          <p:cNvSpPr/>
          <p:nvPr/>
        </p:nvSpPr>
        <p:spPr>
          <a:xfrm>
            <a:off x="594360" y="1348740"/>
            <a:ext cx="1188720" cy="274320"/>
          </a:xfrm>
          <a:prstGeom prst="roundRect">
            <a:avLst>
              <a:gd name="adj" fmla="val 13333"/>
            </a:avLst>
          </a:prstGeom>
          <a:solidFill>
            <a:srgbClr val="0F2847"/>
          </a:solidFill>
          <a:ln/>
        </p:spPr>
        <p:txBody>
          <a:bodyPr wrap="square" lIns="0" tIns="0" rIns="0" bIns="0" rtlCol="0" anchor="ctr"/>
          <a:lstStyle/>
          <a:p>
            <a:pPr algn="ctr" indent="0" marL="0">
              <a:buNone/>
            </a:pPr>
            <a:r>
              <a:rPr lang="en-US" sz="900" dirty="0">
                <a:solidFill>
                  <a:srgbClr val="06D6A0"/>
                </a:solidFill>
                <a:latin typeface="Consolas" pitchFamily="34" charset="0"/>
                <a:ea typeface="Consolas" pitchFamily="34" charset="-122"/>
                <a:cs typeface="Consolas" pitchFamily="34" charset="-120"/>
              </a:rPr>
              <a:t>UNION</a:t>
            </a:r>
            <a:endParaRPr lang="en-US" sz="900" dirty="0"/>
          </a:p>
        </p:txBody>
      </p:sp>
      <p:sp>
        <p:nvSpPr>
          <p:cNvPr id="10" name="Text 7"/>
          <p:cNvSpPr/>
          <p:nvPr/>
        </p:nvSpPr>
        <p:spPr>
          <a:xfrm>
            <a:off x="1920240" y="1280160"/>
            <a:ext cx="4754880" cy="41148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Did not know UNION returns distinct values by default (vs UNION ALL)</a:t>
            </a:r>
            <a:endParaRPr lang="en-US" sz="1000" dirty="0"/>
          </a:p>
        </p:txBody>
      </p:sp>
      <p:sp>
        <p:nvSpPr>
          <p:cNvPr id="11" name="Text 8"/>
          <p:cNvSpPr/>
          <p:nvPr/>
        </p:nvSpPr>
        <p:spPr>
          <a:xfrm>
            <a:off x="6858000" y="1367028"/>
            <a:ext cx="1645920" cy="237744"/>
          </a:xfrm>
          <a:prstGeom prst="roundRect">
            <a:avLst>
              <a:gd name="adj" fmla="val 15385"/>
            </a:avLst>
          </a:prstGeom>
          <a:solidFill>
            <a:srgbClr val="FEE2E2"/>
          </a:solidFill>
          <a:ln/>
        </p:spPr>
        <p:txBody>
          <a:bodyPr wrap="square" lIns="0" tIns="0" rIns="0" bIns="0" rtlCol="0" anchor="ctr"/>
          <a:lstStyle/>
          <a:p>
            <a:pPr algn="ctr" indent="0" marL="0">
              <a:buNone/>
            </a:pPr>
            <a:r>
              <a:rPr lang="en-US" sz="800" dirty="0">
                <a:solidFill>
                  <a:srgbClr val="EF4444"/>
                </a:solidFill>
                <a:latin typeface="Trebuchet MS" pitchFamily="34" charset="0"/>
                <a:ea typeface="Trebuchet MS" pitchFamily="34" charset="-122"/>
                <a:cs typeface="Trebuchet MS" pitchFamily="34" charset="-120"/>
              </a:rPr>
              <a:t>Nearly all failed</a:t>
            </a:r>
            <a:endParaRPr lang="en-US" sz="800" dirty="0"/>
          </a:p>
        </p:txBody>
      </p:sp>
      <p:sp>
        <p:nvSpPr>
          <p:cNvPr id="12" name="Shape 9"/>
          <p:cNvSpPr/>
          <p:nvPr/>
        </p:nvSpPr>
        <p:spPr>
          <a:xfrm>
            <a:off x="457200" y="1856232"/>
            <a:ext cx="8229600" cy="594360"/>
          </a:xfrm>
          <a:prstGeom prst="roundRect">
            <a:avLst>
              <a:gd name="adj" fmla="val 9231"/>
            </a:avLst>
          </a:prstGeom>
          <a:solidFill>
            <a:srgbClr val="FFFFFF"/>
          </a:solidFill>
          <a:ln/>
          <a:effectLst>
            <a:outerShdw sx="100000" sy="100000" kx="0" ky="0" algn="bl" rotWithShape="0" blurRad="101600" dist="25400" dir="8100000">
              <a:srgbClr val="000000">
                <a:alpha val="8000"/>
              </a:srgbClr>
            </a:outerShdw>
          </a:effectLst>
        </p:spPr>
      </p:sp>
      <p:sp>
        <p:nvSpPr>
          <p:cNvPr id="13" name="Text 10"/>
          <p:cNvSpPr/>
          <p:nvPr/>
        </p:nvSpPr>
        <p:spPr>
          <a:xfrm>
            <a:off x="594360" y="2016252"/>
            <a:ext cx="1188720" cy="274320"/>
          </a:xfrm>
          <a:prstGeom prst="roundRect">
            <a:avLst>
              <a:gd name="adj" fmla="val 13333"/>
            </a:avLst>
          </a:prstGeom>
          <a:solidFill>
            <a:srgbClr val="0F2847"/>
          </a:solidFill>
          <a:ln/>
        </p:spPr>
        <p:txBody>
          <a:bodyPr wrap="square" lIns="0" tIns="0" rIns="0" bIns="0" rtlCol="0" anchor="ctr"/>
          <a:lstStyle/>
          <a:p>
            <a:pPr algn="ctr" indent="0" marL="0">
              <a:buNone/>
            </a:pPr>
            <a:r>
              <a:rPr lang="en-US" sz="900" dirty="0">
                <a:solidFill>
                  <a:srgbClr val="06D6A0"/>
                </a:solidFill>
                <a:latin typeface="Consolas" pitchFamily="34" charset="0"/>
                <a:ea typeface="Consolas" pitchFamily="34" charset="-122"/>
                <a:cs typeface="Consolas" pitchFamily="34" charset="-120"/>
              </a:rPr>
              <a:t>INSERT INTO</a:t>
            </a:r>
            <a:endParaRPr lang="en-US" sz="900" dirty="0"/>
          </a:p>
        </p:txBody>
      </p:sp>
      <p:sp>
        <p:nvSpPr>
          <p:cNvPr id="14" name="Text 11"/>
          <p:cNvSpPr/>
          <p:nvPr/>
        </p:nvSpPr>
        <p:spPr>
          <a:xfrm>
            <a:off x="1920240" y="1947672"/>
            <a:ext cx="4754880" cy="41148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High proportion misapplied quotation marks for string data values</a:t>
            </a:r>
            <a:endParaRPr lang="en-US" sz="1000" dirty="0"/>
          </a:p>
        </p:txBody>
      </p:sp>
      <p:sp>
        <p:nvSpPr>
          <p:cNvPr id="15" name="Text 12"/>
          <p:cNvSpPr/>
          <p:nvPr/>
        </p:nvSpPr>
        <p:spPr>
          <a:xfrm>
            <a:off x="6858000" y="2034540"/>
            <a:ext cx="1645920" cy="237744"/>
          </a:xfrm>
          <a:prstGeom prst="roundRect">
            <a:avLst>
              <a:gd name="adj" fmla="val 15385"/>
            </a:avLst>
          </a:prstGeom>
          <a:solidFill>
            <a:srgbClr val="FEE2E2"/>
          </a:solidFill>
          <a:ln/>
        </p:spPr>
        <p:txBody>
          <a:bodyPr wrap="square" lIns="0" tIns="0" rIns="0" bIns="0" rtlCol="0" anchor="ctr"/>
          <a:lstStyle/>
          <a:p>
            <a:pPr algn="ctr" indent="0" marL="0">
              <a:buNone/>
            </a:pPr>
            <a:r>
              <a:rPr lang="en-US" sz="800" dirty="0">
                <a:solidFill>
                  <a:srgbClr val="EF4444"/>
                </a:solidFill>
                <a:latin typeface="Trebuchet MS" pitchFamily="34" charset="0"/>
                <a:ea typeface="Trebuchet MS" pitchFamily="34" charset="-122"/>
                <a:cs typeface="Trebuchet MS" pitchFamily="34" charset="-120"/>
              </a:rPr>
              <a:t>High proportion</a:t>
            </a:r>
            <a:endParaRPr lang="en-US" sz="800" dirty="0"/>
          </a:p>
        </p:txBody>
      </p:sp>
      <p:sp>
        <p:nvSpPr>
          <p:cNvPr id="16" name="Shape 13"/>
          <p:cNvSpPr/>
          <p:nvPr/>
        </p:nvSpPr>
        <p:spPr>
          <a:xfrm>
            <a:off x="457200" y="2523744"/>
            <a:ext cx="8229600" cy="594360"/>
          </a:xfrm>
          <a:prstGeom prst="roundRect">
            <a:avLst>
              <a:gd name="adj" fmla="val 9231"/>
            </a:avLst>
          </a:prstGeom>
          <a:solidFill>
            <a:srgbClr val="FFFFFF"/>
          </a:solidFill>
          <a:ln/>
          <a:effectLst>
            <a:outerShdw sx="100000" sy="100000" kx="0" ky="0" algn="bl" rotWithShape="0" blurRad="101600" dist="25400" dir="8100000">
              <a:srgbClr val="000000">
                <a:alpha val="8000"/>
              </a:srgbClr>
            </a:outerShdw>
          </a:effectLst>
        </p:spPr>
      </p:sp>
      <p:sp>
        <p:nvSpPr>
          <p:cNvPr id="17" name="Text 14"/>
          <p:cNvSpPr/>
          <p:nvPr/>
        </p:nvSpPr>
        <p:spPr>
          <a:xfrm>
            <a:off x="594360" y="2683764"/>
            <a:ext cx="1188720" cy="274320"/>
          </a:xfrm>
          <a:prstGeom prst="roundRect">
            <a:avLst>
              <a:gd name="adj" fmla="val 13333"/>
            </a:avLst>
          </a:prstGeom>
          <a:solidFill>
            <a:srgbClr val="0F2847"/>
          </a:solidFill>
          <a:ln/>
        </p:spPr>
        <p:txBody>
          <a:bodyPr wrap="square" lIns="0" tIns="0" rIns="0" bIns="0" rtlCol="0" anchor="ctr"/>
          <a:lstStyle/>
          <a:p>
            <a:pPr algn="ctr" indent="0" marL="0">
              <a:buNone/>
            </a:pPr>
            <a:r>
              <a:rPr lang="en-US" sz="900" dirty="0">
                <a:solidFill>
                  <a:srgbClr val="06D6A0"/>
                </a:solidFill>
                <a:latin typeface="Consolas" pitchFamily="34" charset="0"/>
                <a:ea typeface="Consolas" pitchFamily="34" charset="-122"/>
                <a:cs typeface="Consolas" pitchFamily="34" charset="-120"/>
              </a:rPr>
              <a:t>MINUS vs MIN</a:t>
            </a:r>
            <a:endParaRPr lang="en-US" sz="900" dirty="0"/>
          </a:p>
        </p:txBody>
      </p:sp>
      <p:sp>
        <p:nvSpPr>
          <p:cNvPr id="18" name="Text 15"/>
          <p:cNvSpPr/>
          <p:nvPr/>
        </p:nvSpPr>
        <p:spPr>
          <a:xfrm>
            <a:off x="1920240" y="2615184"/>
            <a:ext cx="4754880" cy="41148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Confused the set operation MINUS with the aggregate function MIN</a:t>
            </a:r>
            <a:endParaRPr lang="en-US" sz="1000" dirty="0"/>
          </a:p>
        </p:txBody>
      </p:sp>
      <p:sp>
        <p:nvSpPr>
          <p:cNvPr id="19" name="Text 16"/>
          <p:cNvSpPr/>
          <p:nvPr/>
        </p:nvSpPr>
        <p:spPr>
          <a:xfrm>
            <a:off x="6858000" y="2702052"/>
            <a:ext cx="1645920" cy="237744"/>
          </a:xfrm>
          <a:prstGeom prst="roundRect">
            <a:avLst>
              <a:gd name="adj" fmla="val 15385"/>
            </a:avLst>
          </a:prstGeom>
          <a:solidFill>
            <a:srgbClr val="FEF3C7"/>
          </a:solidFill>
          <a:ln/>
        </p:spPr>
        <p:txBody>
          <a:bodyPr wrap="square" lIns="0" tIns="0" rIns="0" bIns="0" rtlCol="0" anchor="ctr"/>
          <a:lstStyle/>
          <a:p>
            <a:pPr algn="ctr" indent="0" marL="0">
              <a:buNone/>
            </a:pPr>
            <a:r>
              <a:rPr lang="en-US" sz="800" dirty="0">
                <a:solidFill>
                  <a:srgbClr val="F59E0B"/>
                </a:solidFill>
                <a:latin typeface="Trebuchet MS" pitchFamily="34" charset="0"/>
                <a:ea typeface="Trebuchet MS" pitchFamily="34" charset="-122"/>
                <a:cs typeface="Trebuchet MS" pitchFamily="34" charset="-120"/>
              </a:rPr>
              <a:t>Terminology trap</a:t>
            </a:r>
            <a:endParaRPr lang="en-US" sz="800" dirty="0"/>
          </a:p>
        </p:txBody>
      </p:sp>
      <p:sp>
        <p:nvSpPr>
          <p:cNvPr id="20" name="Shape 17"/>
          <p:cNvSpPr/>
          <p:nvPr/>
        </p:nvSpPr>
        <p:spPr>
          <a:xfrm>
            <a:off x="457200" y="3191256"/>
            <a:ext cx="8229600" cy="594360"/>
          </a:xfrm>
          <a:prstGeom prst="roundRect">
            <a:avLst>
              <a:gd name="adj" fmla="val 9231"/>
            </a:avLst>
          </a:prstGeom>
          <a:solidFill>
            <a:srgbClr val="FFFFFF"/>
          </a:solidFill>
          <a:ln/>
          <a:effectLst>
            <a:outerShdw sx="100000" sy="100000" kx="0" ky="0" algn="bl" rotWithShape="0" blurRad="101600" dist="25400" dir="8100000">
              <a:srgbClr val="000000">
                <a:alpha val="8000"/>
              </a:srgbClr>
            </a:outerShdw>
          </a:effectLst>
        </p:spPr>
      </p:sp>
      <p:sp>
        <p:nvSpPr>
          <p:cNvPr id="21" name="Text 18"/>
          <p:cNvSpPr/>
          <p:nvPr/>
        </p:nvSpPr>
        <p:spPr>
          <a:xfrm>
            <a:off x="594360" y="3351276"/>
            <a:ext cx="1188720" cy="274320"/>
          </a:xfrm>
          <a:prstGeom prst="roundRect">
            <a:avLst>
              <a:gd name="adj" fmla="val 13333"/>
            </a:avLst>
          </a:prstGeom>
          <a:solidFill>
            <a:srgbClr val="0F2847"/>
          </a:solidFill>
          <a:ln/>
        </p:spPr>
        <p:txBody>
          <a:bodyPr wrap="square" lIns="0" tIns="0" rIns="0" bIns="0" rtlCol="0" anchor="ctr"/>
          <a:lstStyle/>
          <a:p>
            <a:pPr algn="ctr" indent="0" marL="0">
              <a:buNone/>
            </a:pPr>
            <a:r>
              <a:rPr lang="en-US" sz="900" dirty="0">
                <a:solidFill>
                  <a:srgbClr val="06D6A0"/>
                </a:solidFill>
                <a:latin typeface="Consolas" pitchFamily="34" charset="0"/>
                <a:ea typeface="Consolas" pitchFamily="34" charset="-122"/>
                <a:cs typeface="Consolas" pitchFamily="34" charset="-120"/>
              </a:rPr>
              <a:t>Subqueries</a:t>
            </a:r>
            <a:endParaRPr lang="en-US" sz="900" dirty="0"/>
          </a:p>
        </p:txBody>
      </p:sp>
      <p:sp>
        <p:nvSpPr>
          <p:cNvPr id="22" name="Text 19"/>
          <p:cNvSpPr/>
          <p:nvPr/>
        </p:nvSpPr>
        <p:spPr>
          <a:xfrm>
            <a:off x="1920240" y="3282696"/>
            <a:ext cx="4754880" cy="41148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Over 50% could not construct nested queries using MAX aggregate function</a:t>
            </a:r>
            <a:endParaRPr lang="en-US" sz="1000" dirty="0"/>
          </a:p>
        </p:txBody>
      </p:sp>
      <p:sp>
        <p:nvSpPr>
          <p:cNvPr id="23" name="Text 20"/>
          <p:cNvSpPr/>
          <p:nvPr/>
        </p:nvSpPr>
        <p:spPr>
          <a:xfrm>
            <a:off x="6858000" y="3369564"/>
            <a:ext cx="1645920" cy="237744"/>
          </a:xfrm>
          <a:prstGeom prst="roundRect">
            <a:avLst>
              <a:gd name="adj" fmla="val 15385"/>
            </a:avLst>
          </a:prstGeom>
          <a:solidFill>
            <a:srgbClr val="FEF3C7"/>
          </a:solidFill>
          <a:ln/>
        </p:spPr>
        <p:txBody>
          <a:bodyPr wrap="square" lIns="0" tIns="0" rIns="0" bIns="0" rtlCol="0" anchor="ctr"/>
          <a:lstStyle/>
          <a:p>
            <a:pPr algn="ctr" indent="0" marL="0">
              <a:buNone/>
            </a:pPr>
            <a:r>
              <a:rPr lang="en-US" sz="800" dirty="0">
                <a:solidFill>
                  <a:srgbClr val="F59E0B"/>
                </a:solidFill>
                <a:latin typeface="Trebuchet MS" pitchFamily="34" charset="0"/>
                <a:ea typeface="Trebuchet MS" pitchFamily="34" charset="-122"/>
                <a:cs typeface="Trebuchet MS" pitchFamily="34" charset="-120"/>
              </a:rPr>
              <a:t>Over 50%</a:t>
            </a:r>
            <a:endParaRPr lang="en-US" sz="800" dirty="0"/>
          </a:p>
        </p:txBody>
      </p:sp>
      <p:sp>
        <p:nvSpPr>
          <p:cNvPr id="24" name="Shape 21"/>
          <p:cNvSpPr/>
          <p:nvPr/>
        </p:nvSpPr>
        <p:spPr>
          <a:xfrm>
            <a:off x="457200" y="3858768"/>
            <a:ext cx="8229600" cy="594360"/>
          </a:xfrm>
          <a:prstGeom prst="roundRect">
            <a:avLst>
              <a:gd name="adj" fmla="val 9231"/>
            </a:avLst>
          </a:prstGeom>
          <a:solidFill>
            <a:srgbClr val="FFFFFF"/>
          </a:solidFill>
          <a:ln/>
          <a:effectLst>
            <a:outerShdw sx="100000" sy="100000" kx="0" ky="0" algn="bl" rotWithShape="0" blurRad="101600" dist="25400" dir="8100000">
              <a:srgbClr val="000000">
                <a:alpha val="8000"/>
              </a:srgbClr>
            </a:outerShdw>
          </a:effectLst>
        </p:spPr>
      </p:sp>
      <p:sp>
        <p:nvSpPr>
          <p:cNvPr id="25" name="Text 22"/>
          <p:cNvSpPr/>
          <p:nvPr/>
        </p:nvSpPr>
        <p:spPr>
          <a:xfrm>
            <a:off x="594360" y="4018788"/>
            <a:ext cx="1188720" cy="274320"/>
          </a:xfrm>
          <a:prstGeom prst="roundRect">
            <a:avLst>
              <a:gd name="adj" fmla="val 13333"/>
            </a:avLst>
          </a:prstGeom>
          <a:solidFill>
            <a:srgbClr val="0F2847"/>
          </a:solidFill>
          <a:ln/>
        </p:spPr>
        <p:txBody>
          <a:bodyPr wrap="square" lIns="0" tIns="0" rIns="0" bIns="0" rtlCol="0" anchor="ctr"/>
          <a:lstStyle/>
          <a:p>
            <a:pPr algn="ctr" indent="0" marL="0">
              <a:buNone/>
            </a:pPr>
            <a:r>
              <a:rPr lang="en-US" sz="900" dirty="0">
                <a:solidFill>
                  <a:srgbClr val="06D6A0"/>
                </a:solidFill>
                <a:latin typeface="Consolas" pitchFamily="34" charset="0"/>
                <a:ea typeface="Consolas" pitchFamily="34" charset="-122"/>
                <a:cs typeface="Consolas" pitchFamily="34" charset="-120"/>
              </a:rPr>
              <a:t>WHERE</a:t>
            </a:r>
            <a:endParaRPr lang="en-US" sz="900" dirty="0"/>
          </a:p>
        </p:txBody>
      </p:sp>
      <p:sp>
        <p:nvSpPr>
          <p:cNvPr id="26" name="Text 23"/>
          <p:cNvSpPr/>
          <p:nvPr/>
        </p:nvSpPr>
        <p:spPr>
          <a:xfrm>
            <a:off x="1920240" y="3950208"/>
            <a:ext cx="4754880" cy="41148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Weaker candidates failed to write proper filter conditions in SQL</a:t>
            </a:r>
            <a:endParaRPr lang="en-US" sz="1000" dirty="0"/>
          </a:p>
        </p:txBody>
      </p:sp>
      <p:sp>
        <p:nvSpPr>
          <p:cNvPr id="27" name="Text 24"/>
          <p:cNvSpPr/>
          <p:nvPr/>
        </p:nvSpPr>
        <p:spPr>
          <a:xfrm>
            <a:off x="6858000" y="4037076"/>
            <a:ext cx="1645920" cy="237744"/>
          </a:xfrm>
          <a:prstGeom prst="roundRect">
            <a:avLst>
              <a:gd name="adj" fmla="val 15385"/>
            </a:avLst>
          </a:prstGeom>
          <a:solidFill>
            <a:srgbClr val="FEF3C7"/>
          </a:solidFill>
          <a:ln/>
        </p:spPr>
        <p:txBody>
          <a:bodyPr wrap="square" lIns="0" tIns="0" rIns="0" bIns="0" rtlCol="0" anchor="ctr"/>
          <a:lstStyle/>
          <a:p>
            <a:pPr algn="ctr" indent="0" marL="0">
              <a:buNone/>
            </a:pPr>
            <a:r>
              <a:rPr lang="en-US" sz="800" dirty="0">
                <a:solidFill>
                  <a:srgbClr val="F59E0B"/>
                </a:solidFill>
                <a:latin typeface="Trebuchet MS" pitchFamily="34" charset="0"/>
                <a:ea typeface="Trebuchet MS" pitchFamily="34" charset="-122"/>
                <a:cs typeface="Trebuchet MS" pitchFamily="34" charset="-120"/>
              </a:rPr>
              <a:t>Weak candidates</a:t>
            </a:r>
            <a:endParaRPr lang="en-US" sz="800" dirty="0"/>
          </a:p>
        </p:txBody>
      </p:sp>
      <p:sp>
        <p:nvSpPr>
          <p:cNvPr id="28" name="Shape 25"/>
          <p:cNvSpPr/>
          <p:nvPr/>
        </p:nvSpPr>
        <p:spPr>
          <a:xfrm>
            <a:off x="0" y="4800600"/>
            <a:ext cx="9144000" cy="342900"/>
          </a:xfrm>
          <a:prstGeom prst="rect">
            <a:avLst/>
          </a:prstGeom>
          <a:solidFill>
            <a:srgbClr val="E2E8F0"/>
          </a:solidFill>
          <a:ln/>
        </p:spPr>
      </p:sp>
      <p:sp>
        <p:nvSpPr>
          <p:cNvPr id="29" name="Text 26"/>
          <p:cNvSpPr/>
          <p:nvPr/>
        </p:nvSpPr>
        <p:spPr>
          <a:xfrm>
            <a:off x="457200" y="4818888"/>
            <a:ext cx="4572000" cy="274320"/>
          </a:xfrm>
          <a:prstGeom prst="rect">
            <a:avLst/>
          </a:prstGeom>
          <a:noFill/>
          <a:ln/>
        </p:spPr>
        <p:txBody>
          <a:bodyPr wrap="square" lIns="0" tIns="0" rIns="0" bIns="0" rtlCol="0" anchor="ctr"/>
          <a:lstStyle/>
          <a:p>
            <a:pPr indent="0" marL="0">
              <a:buNone/>
            </a:pPr>
            <a:r>
              <a:rPr lang="en-US" sz="700" dirty="0">
                <a:solidFill>
                  <a:srgbClr val="94A3B8"/>
                </a:solidFill>
                <a:latin typeface="Calibri" pitchFamily="34" charset="0"/>
                <a:ea typeface="Calibri" pitchFamily="34" charset="-122"/>
                <a:cs typeface="Calibri" pitchFamily="34" charset="-120"/>
              </a:rPr>
              <a:t>HKDSE ICT 2025 Exam Skills Masterclass</a:t>
            </a:r>
            <a:endParaRPr lang="en-US" sz="700" dirty="0"/>
          </a:p>
        </p:txBody>
      </p:sp>
      <p:sp>
        <p:nvSpPr>
          <p:cNvPr id="25" name="Slide Number Placeholder 0"/>
          <p:cNvSpPr>
            <a:spLocks noGrp="1"/>
          </p:cNvSpPr>
          <p:nvPr>
            <p:ph type="sldNum" sz="quarter" idx="4294967295"/>
          </p:nvPr>
        </p:nvSpPr>
        <p:spPr>
          <a:xfrm>
            <a:off x="8503920" y="4886325"/>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Calibri"/>
                <a:ea typeface="Calibri"/>
                <a:cs typeface="Calibri"/>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0F7F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1628"/>
          </a:solidFill>
          <a:ln/>
        </p:spPr>
      </p:sp>
      <p:sp>
        <p:nvSpPr>
          <p:cNvPr id="3" name="Shape 1"/>
          <p:cNvSpPr/>
          <p:nvPr/>
        </p:nvSpPr>
        <p:spPr>
          <a:xfrm>
            <a:off x="457200" y="18288"/>
            <a:ext cx="731520" cy="256032"/>
          </a:xfrm>
          <a:prstGeom prst="roundRect">
            <a:avLst>
              <a:gd name="adj" fmla="val 14286"/>
            </a:avLst>
          </a:prstGeom>
          <a:solidFill>
            <a:srgbClr val="F97316"/>
          </a:solidFill>
          <a:ln/>
        </p:spPr>
      </p:sp>
      <p:sp>
        <p:nvSpPr>
          <p:cNvPr id="4" name="Text 2"/>
          <p:cNvSpPr/>
          <p:nvPr/>
        </p:nvSpPr>
        <p:spPr>
          <a:xfrm>
            <a:off x="548640" y="18288"/>
            <a:ext cx="548640" cy="256032"/>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PAPER 2</a:t>
            </a:r>
            <a:endParaRPr lang="en-US" sz="900" dirty="0"/>
          </a:p>
        </p:txBody>
      </p:sp>
      <p:sp>
        <p:nvSpPr>
          <p:cNvPr id="5" name="Text 3"/>
          <p:cNvSpPr/>
          <p:nvPr/>
        </p:nvSpPr>
        <p:spPr>
          <a:xfrm>
            <a:off x="457200" y="182880"/>
            <a:ext cx="8229600" cy="502920"/>
          </a:xfrm>
          <a:prstGeom prst="rect">
            <a:avLst/>
          </a:prstGeom>
          <a:noFill/>
          <a:ln/>
        </p:spPr>
        <p:txBody>
          <a:bodyPr wrap="square" lIns="0" tIns="0" rIns="0" bIns="0" rtlCol="0" anchor="ctr"/>
          <a:lstStyle/>
          <a:p>
            <a:pPr indent="0" marL="0">
              <a:buNone/>
            </a:pPr>
            <a:r>
              <a:rPr lang="en-US" sz="2200" dirty="0">
                <a:solidFill>
                  <a:srgbClr val="FFFFFF"/>
                </a:solidFill>
                <a:latin typeface="Trebuchet MS" pitchFamily="34" charset="0"/>
                <a:ea typeface="Trebuchet MS" pitchFamily="34" charset="-122"/>
                <a:cs typeface="Trebuchet MS" pitchFamily="34" charset="-120"/>
              </a:rPr>
              <a:t>Paper 2: Normalisation &amp; DBMS Concepts</a:t>
            </a:r>
            <a:endParaRPr lang="en-US" sz="2200" dirty="0"/>
          </a:p>
        </p:txBody>
      </p:sp>
      <p:sp>
        <p:nvSpPr>
          <p:cNvPr id="6" name="Text 4"/>
          <p:cNvSpPr/>
          <p:nvPr/>
        </p:nvSpPr>
        <p:spPr>
          <a:xfrm>
            <a:off x="457200" y="594360"/>
            <a:ext cx="8229600" cy="274320"/>
          </a:xfrm>
          <a:prstGeom prst="rect">
            <a:avLst/>
          </a:prstGeom>
          <a:noFill/>
          <a:ln/>
        </p:spPr>
        <p:txBody>
          <a:bodyPr wrap="square" lIns="0" tIns="0" rIns="0" bIns="0" rtlCol="0" anchor="ctr"/>
          <a:lstStyle/>
          <a:p>
            <a:pPr indent="0" marL="0">
              <a:buNone/>
            </a:pPr>
            <a:r>
              <a:rPr lang="en-US" sz="1200" dirty="0">
                <a:solidFill>
                  <a:srgbClr val="B8D4E3"/>
                </a:solidFill>
                <a:latin typeface="Calibri" pitchFamily="34" charset="0"/>
                <a:ea typeface="Calibri" pitchFamily="34" charset="-122"/>
                <a:cs typeface="Calibri" pitchFamily="34" charset="-120"/>
              </a:rPr>
              <a:t>Conceptual Understanding Gaps That Must Be Closed</a:t>
            </a:r>
            <a:endParaRPr lang="en-US" sz="1200" dirty="0"/>
          </a:p>
        </p:txBody>
      </p:sp>
      <p:sp>
        <p:nvSpPr>
          <p:cNvPr id="7" name="Shape 5"/>
          <p:cNvSpPr/>
          <p:nvPr/>
        </p:nvSpPr>
        <p:spPr>
          <a:xfrm>
            <a:off x="457200" y="1234440"/>
            <a:ext cx="3931920" cy="1097280"/>
          </a:xfrm>
          <a:prstGeom prst="roundRect">
            <a:avLst>
              <a:gd name="adj" fmla="val 6667"/>
            </a:avLst>
          </a:prstGeom>
          <a:solidFill>
            <a:srgbClr val="FFFFFF"/>
          </a:solidFill>
          <a:ln/>
          <a:effectLst>
            <a:outerShdw sx="100000" sy="100000" kx="0" ky="0" algn="bl" rotWithShape="0" blurRad="101600" dist="25400" dir="8100000">
              <a:srgbClr val="000000">
                <a:alpha val="8000"/>
              </a:srgbClr>
            </a:outerShdw>
          </a:effectLst>
        </p:spPr>
      </p:sp>
      <p:sp>
        <p:nvSpPr>
          <p:cNvPr id="8" name="Text 6"/>
          <p:cNvSpPr/>
          <p:nvPr/>
        </p:nvSpPr>
        <p:spPr>
          <a:xfrm>
            <a:off x="566928" y="1344168"/>
            <a:ext cx="594360" cy="219456"/>
          </a:xfrm>
          <a:prstGeom prst="roundRect">
            <a:avLst>
              <a:gd name="adj" fmla="val 16667"/>
            </a:avLst>
          </a:prstGeom>
          <a:solidFill>
            <a:srgbClr val="FEF3C7"/>
          </a:solidFill>
          <a:ln/>
        </p:spPr>
        <p:txBody>
          <a:bodyPr wrap="square" lIns="0" tIns="0" rIns="0" bIns="0" rtlCol="0" anchor="ctr"/>
          <a:lstStyle/>
          <a:p>
            <a:pPr algn="ctr" indent="0" marL="0">
              <a:buNone/>
            </a:pPr>
            <a:r>
              <a:rPr lang="en-US" sz="800" dirty="0">
                <a:solidFill>
                  <a:srgbClr val="F59E0B"/>
                </a:solidFill>
                <a:latin typeface="Trebuchet MS" pitchFamily="34" charset="0"/>
                <a:ea typeface="Trebuchet MS" pitchFamily="34" charset="-122"/>
                <a:cs typeface="Trebuchet MS" pitchFamily="34" charset="-120"/>
              </a:rPr>
              <a:t>Fair</a:t>
            </a:r>
            <a:endParaRPr lang="en-US" sz="800" dirty="0"/>
          </a:p>
        </p:txBody>
      </p:sp>
      <p:sp>
        <p:nvSpPr>
          <p:cNvPr id="9" name="Text 7"/>
          <p:cNvSpPr/>
          <p:nvPr/>
        </p:nvSpPr>
        <p:spPr>
          <a:xfrm>
            <a:off x="1234440" y="1325880"/>
            <a:ext cx="2926080" cy="256032"/>
          </a:xfrm>
          <a:prstGeom prst="rect">
            <a:avLst/>
          </a:prstGeom>
          <a:noFill/>
          <a:ln/>
        </p:spPr>
        <p:txBody>
          <a:bodyPr wrap="square" lIns="0" tIns="0" rIns="0" bIns="0" rtlCol="0" anchor="ctr"/>
          <a:lstStyle/>
          <a:p>
            <a:pPr indent="0" marL="0">
              <a:buNone/>
            </a:pPr>
            <a:r>
              <a:rPr lang="en-US" sz="1300" dirty="0">
                <a:solidFill>
                  <a:srgbClr val="1E293B"/>
                </a:solidFill>
                <a:latin typeface="Trebuchet MS" pitchFamily="34" charset="0"/>
                <a:ea typeface="Trebuchet MS" pitchFamily="34" charset="-122"/>
                <a:cs typeface="Trebuchet MS" pitchFamily="34" charset="-120"/>
              </a:rPr>
              <a:t>Normalisation</a:t>
            </a:r>
            <a:endParaRPr lang="en-US" sz="1300" dirty="0"/>
          </a:p>
        </p:txBody>
      </p:sp>
      <p:sp>
        <p:nvSpPr>
          <p:cNvPr id="10" name="Text 8"/>
          <p:cNvSpPr/>
          <p:nvPr/>
        </p:nvSpPr>
        <p:spPr>
          <a:xfrm>
            <a:off x="566928" y="1691640"/>
            <a:ext cx="3712464" cy="548640"/>
          </a:xfrm>
          <a:prstGeom prst="rect">
            <a:avLst/>
          </a:prstGeom>
          <a:noFill/>
          <a:ln/>
        </p:spPr>
        <p:txBody>
          <a:bodyPr wrap="square" lIns="0" tIns="0" rIns="0" bIns="0" rtlCol="0" anchor="ctr"/>
          <a:lstStyle/>
          <a:p>
            <a:pPr indent="0" marL="0">
              <a:lnSpc>
                <a:spcPts val="1300"/>
              </a:lnSpc>
              <a:buNone/>
            </a:pPr>
            <a:r>
              <a:rPr lang="en-US" sz="950" dirty="0">
                <a:solidFill>
                  <a:srgbClr val="64748B"/>
                </a:solidFill>
                <a:latin typeface="Calibri" pitchFamily="34" charset="0"/>
                <a:ea typeface="Calibri" pitchFamily="34" charset="-122"/>
                <a:cs typeface="Calibri" pitchFamily="34" charset="-120"/>
              </a:rPr>
              <a:t>Only a small number completed normalised tables with correct attributes and primary keys</a:t>
            </a:r>
            <a:endParaRPr lang="en-US" sz="950" dirty="0"/>
          </a:p>
        </p:txBody>
      </p:sp>
      <p:sp>
        <p:nvSpPr>
          <p:cNvPr id="11" name="Shape 9"/>
          <p:cNvSpPr/>
          <p:nvPr/>
        </p:nvSpPr>
        <p:spPr>
          <a:xfrm>
            <a:off x="4754880" y="1234440"/>
            <a:ext cx="3931920" cy="1097280"/>
          </a:xfrm>
          <a:prstGeom prst="roundRect">
            <a:avLst>
              <a:gd name="adj" fmla="val 6667"/>
            </a:avLst>
          </a:prstGeom>
          <a:solidFill>
            <a:srgbClr val="FFFFFF"/>
          </a:solidFill>
          <a:ln/>
          <a:effectLst>
            <a:outerShdw sx="100000" sy="100000" kx="0" ky="0" algn="bl" rotWithShape="0" blurRad="101600" dist="25400" dir="8100000">
              <a:srgbClr val="000000">
                <a:alpha val="8000"/>
              </a:srgbClr>
            </a:outerShdw>
          </a:effectLst>
        </p:spPr>
      </p:sp>
      <p:sp>
        <p:nvSpPr>
          <p:cNvPr id="12" name="Text 10"/>
          <p:cNvSpPr/>
          <p:nvPr/>
        </p:nvSpPr>
        <p:spPr>
          <a:xfrm>
            <a:off x="4864608" y="1344168"/>
            <a:ext cx="594360" cy="219456"/>
          </a:xfrm>
          <a:prstGeom prst="roundRect">
            <a:avLst>
              <a:gd name="adj" fmla="val 16667"/>
            </a:avLst>
          </a:prstGeom>
          <a:solidFill>
            <a:srgbClr val="FEF3C7"/>
          </a:solidFill>
          <a:ln/>
        </p:spPr>
        <p:txBody>
          <a:bodyPr wrap="square" lIns="0" tIns="0" rIns="0" bIns="0" rtlCol="0" anchor="ctr"/>
          <a:lstStyle/>
          <a:p>
            <a:pPr algn="ctr" indent="0" marL="0">
              <a:buNone/>
            </a:pPr>
            <a:r>
              <a:rPr lang="en-US" sz="800" dirty="0">
                <a:solidFill>
                  <a:srgbClr val="F59E0B"/>
                </a:solidFill>
                <a:latin typeface="Trebuchet MS" pitchFamily="34" charset="0"/>
                <a:ea typeface="Trebuchet MS" pitchFamily="34" charset="-122"/>
                <a:cs typeface="Trebuchet MS" pitchFamily="34" charset="-120"/>
              </a:rPr>
              <a:t>Fair</a:t>
            </a:r>
            <a:endParaRPr lang="en-US" sz="800" dirty="0"/>
          </a:p>
        </p:txBody>
      </p:sp>
      <p:sp>
        <p:nvSpPr>
          <p:cNvPr id="13" name="Text 11"/>
          <p:cNvSpPr/>
          <p:nvPr/>
        </p:nvSpPr>
        <p:spPr>
          <a:xfrm>
            <a:off x="5532120" y="1325880"/>
            <a:ext cx="2926080" cy="256032"/>
          </a:xfrm>
          <a:prstGeom prst="rect">
            <a:avLst/>
          </a:prstGeom>
          <a:noFill/>
          <a:ln/>
        </p:spPr>
        <p:txBody>
          <a:bodyPr wrap="square" lIns="0" tIns="0" rIns="0" bIns="0" rtlCol="0" anchor="ctr"/>
          <a:lstStyle/>
          <a:p>
            <a:pPr indent="0" marL="0">
              <a:buNone/>
            </a:pPr>
            <a:r>
              <a:rPr lang="en-US" sz="1300" dirty="0">
                <a:solidFill>
                  <a:srgbClr val="1E293B"/>
                </a:solidFill>
                <a:latin typeface="Trebuchet MS" pitchFamily="34" charset="0"/>
                <a:ea typeface="Trebuchet MS" pitchFamily="34" charset="-122"/>
                <a:cs typeface="Trebuchet MS" pitchFamily="34" charset="-120"/>
              </a:rPr>
              <a:t>Denormalisation</a:t>
            </a:r>
            <a:endParaRPr lang="en-US" sz="1300" dirty="0"/>
          </a:p>
        </p:txBody>
      </p:sp>
      <p:sp>
        <p:nvSpPr>
          <p:cNvPr id="14" name="Text 12"/>
          <p:cNvSpPr/>
          <p:nvPr/>
        </p:nvSpPr>
        <p:spPr>
          <a:xfrm>
            <a:off x="4864608" y="1691640"/>
            <a:ext cx="3712464" cy="548640"/>
          </a:xfrm>
          <a:prstGeom prst="rect">
            <a:avLst/>
          </a:prstGeom>
          <a:noFill/>
          <a:ln/>
        </p:spPr>
        <p:txBody>
          <a:bodyPr wrap="square" lIns="0" tIns="0" rIns="0" bIns="0" rtlCol="0" anchor="ctr"/>
          <a:lstStyle/>
          <a:p>
            <a:pPr indent="0" marL="0">
              <a:lnSpc>
                <a:spcPts val="1300"/>
              </a:lnSpc>
              <a:buNone/>
            </a:pPr>
            <a:r>
              <a:rPr lang="en-US" sz="950" dirty="0">
                <a:solidFill>
                  <a:srgbClr val="64748B"/>
                </a:solidFill>
                <a:latin typeface="Calibri" pitchFamily="34" charset="0"/>
                <a:ea typeface="Calibri" pitchFamily="34" charset="-122"/>
                <a:cs typeface="Calibri" pitchFamily="34" charset="-120"/>
              </a:rPr>
              <a:t>Confused decomposing tables with denormalising tables — opposite processes</a:t>
            </a:r>
            <a:endParaRPr lang="en-US" sz="950" dirty="0"/>
          </a:p>
        </p:txBody>
      </p:sp>
      <p:sp>
        <p:nvSpPr>
          <p:cNvPr id="15" name="Shape 13"/>
          <p:cNvSpPr/>
          <p:nvPr/>
        </p:nvSpPr>
        <p:spPr>
          <a:xfrm>
            <a:off x="457200" y="2468880"/>
            <a:ext cx="3931920" cy="1097280"/>
          </a:xfrm>
          <a:prstGeom prst="roundRect">
            <a:avLst>
              <a:gd name="adj" fmla="val 6667"/>
            </a:avLst>
          </a:prstGeom>
          <a:solidFill>
            <a:srgbClr val="FFFFFF"/>
          </a:solidFill>
          <a:ln/>
          <a:effectLst>
            <a:outerShdw sx="100000" sy="100000" kx="0" ky="0" algn="bl" rotWithShape="0" blurRad="101600" dist="25400" dir="8100000">
              <a:srgbClr val="000000">
                <a:alpha val="8000"/>
              </a:srgbClr>
            </a:outerShdw>
          </a:effectLst>
        </p:spPr>
      </p:sp>
      <p:sp>
        <p:nvSpPr>
          <p:cNvPr id="16" name="Text 14"/>
          <p:cNvSpPr/>
          <p:nvPr/>
        </p:nvSpPr>
        <p:spPr>
          <a:xfrm>
            <a:off x="566928" y="2578608"/>
            <a:ext cx="594360" cy="219456"/>
          </a:xfrm>
          <a:prstGeom prst="roundRect">
            <a:avLst>
              <a:gd name="adj" fmla="val 16667"/>
            </a:avLst>
          </a:prstGeom>
          <a:solidFill>
            <a:srgbClr val="FEF3C7"/>
          </a:solidFill>
          <a:ln/>
        </p:spPr>
        <p:txBody>
          <a:bodyPr wrap="square" lIns="0" tIns="0" rIns="0" bIns="0" rtlCol="0" anchor="ctr"/>
          <a:lstStyle/>
          <a:p>
            <a:pPr algn="ctr" indent="0" marL="0">
              <a:buNone/>
            </a:pPr>
            <a:r>
              <a:rPr lang="en-US" sz="800" dirty="0">
                <a:solidFill>
                  <a:srgbClr val="F59E0B"/>
                </a:solidFill>
                <a:latin typeface="Trebuchet MS" pitchFamily="34" charset="0"/>
                <a:ea typeface="Trebuchet MS" pitchFamily="34" charset="-122"/>
                <a:cs typeface="Trebuchet MS" pitchFamily="34" charset="-120"/>
              </a:rPr>
              <a:t>Fair</a:t>
            </a:r>
            <a:endParaRPr lang="en-US" sz="800" dirty="0"/>
          </a:p>
        </p:txBody>
      </p:sp>
      <p:sp>
        <p:nvSpPr>
          <p:cNvPr id="17" name="Text 15"/>
          <p:cNvSpPr/>
          <p:nvPr/>
        </p:nvSpPr>
        <p:spPr>
          <a:xfrm>
            <a:off x="1234440" y="2560320"/>
            <a:ext cx="2926080" cy="256032"/>
          </a:xfrm>
          <a:prstGeom prst="rect">
            <a:avLst/>
          </a:prstGeom>
          <a:noFill/>
          <a:ln/>
        </p:spPr>
        <p:txBody>
          <a:bodyPr wrap="square" lIns="0" tIns="0" rIns="0" bIns="0" rtlCol="0" anchor="ctr"/>
          <a:lstStyle/>
          <a:p>
            <a:pPr indent="0" marL="0">
              <a:buNone/>
            </a:pPr>
            <a:r>
              <a:rPr lang="en-US" sz="1300" dirty="0">
                <a:solidFill>
                  <a:srgbClr val="1E293B"/>
                </a:solidFill>
                <a:latin typeface="Trebuchet MS" pitchFamily="34" charset="0"/>
                <a:ea typeface="Trebuchet MS" pitchFamily="34" charset="-122"/>
                <a:cs typeface="Trebuchet MS" pitchFamily="34" charset="-120"/>
              </a:rPr>
              <a:t>Rollback</a:t>
            </a:r>
            <a:endParaRPr lang="en-US" sz="1300" dirty="0"/>
          </a:p>
        </p:txBody>
      </p:sp>
      <p:sp>
        <p:nvSpPr>
          <p:cNvPr id="18" name="Text 16"/>
          <p:cNvSpPr/>
          <p:nvPr/>
        </p:nvSpPr>
        <p:spPr>
          <a:xfrm>
            <a:off x="566928" y="2926080"/>
            <a:ext cx="3712464" cy="548640"/>
          </a:xfrm>
          <a:prstGeom prst="rect">
            <a:avLst/>
          </a:prstGeom>
          <a:noFill/>
          <a:ln/>
        </p:spPr>
        <p:txBody>
          <a:bodyPr wrap="square" lIns="0" tIns="0" rIns="0" bIns="0" rtlCol="0" anchor="ctr"/>
          <a:lstStyle/>
          <a:p>
            <a:pPr indent="0" marL="0">
              <a:lnSpc>
                <a:spcPts val="1300"/>
              </a:lnSpc>
              <a:buNone/>
            </a:pPr>
            <a:r>
              <a:rPr lang="en-US" sz="950" dirty="0">
                <a:solidFill>
                  <a:srgbClr val="64748B"/>
                </a:solidFill>
                <a:latin typeface="Calibri" pitchFamily="34" charset="0"/>
                <a:ea typeface="Calibri" pitchFamily="34" charset="-122"/>
                <a:cs typeface="Calibri" pitchFamily="34" charset="-120"/>
              </a:rPr>
              <a:t>Candidates unfamiliar with rollback purposes; could not articulate any benefit</a:t>
            </a:r>
            <a:endParaRPr lang="en-US" sz="950" dirty="0"/>
          </a:p>
        </p:txBody>
      </p:sp>
      <p:sp>
        <p:nvSpPr>
          <p:cNvPr id="19" name="Shape 17"/>
          <p:cNvSpPr/>
          <p:nvPr/>
        </p:nvSpPr>
        <p:spPr>
          <a:xfrm>
            <a:off x="4754880" y="2468880"/>
            <a:ext cx="3931920" cy="1097280"/>
          </a:xfrm>
          <a:prstGeom prst="roundRect">
            <a:avLst>
              <a:gd name="adj" fmla="val 6667"/>
            </a:avLst>
          </a:prstGeom>
          <a:solidFill>
            <a:srgbClr val="FFFFFF"/>
          </a:solidFill>
          <a:ln/>
          <a:effectLst>
            <a:outerShdw sx="100000" sy="100000" kx="0" ky="0" algn="bl" rotWithShape="0" blurRad="101600" dist="25400" dir="8100000">
              <a:srgbClr val="000000">
                <a:alpha val="8000"/>
              </a:srgbClr>
            </a:outerShdw>
          </a:effectLst>
        </p:spPr>
      </p:sp>
      <p:sp>
        <p:nvSpPr>
          <p:cNvPr id="20" name="Text 18"/>
          <p:cNvSpPr/>
          <p:nvPr/>
        </p:nvSpPr>
        <p:spPr>
          <a:xfrm>
            <a:off x="4864608" y="2578608"/>
            <a:ext cx="594360" cy="219456"/>
          </a:xfrm>
          <a:prstGeom prst="roundRect">
            <a:avLst>
              <a:gd name="adj" fmla="val 16667"/>
            </a:avLst>
          </a:prstGeom>
          <a:solidFill>
            <a:srgbClr val="D1FAE5"/>
          </a:solidFill>
          <a:ln/>
        </p:spPr>
        <p:txBody>
          <a:bodyPr wrap="square" lIns="0" tIns="0" rIns="0" bIns="0" rtlCol="0" anchor="ctr"/>
          <a:lstStyle/>
          <a:p>
            <a:pPr algn="ctr" indent="0" marL="0">
              <a:buNone/>
            </a:pPr>
            <a:r>
              <a:rPr lang="en-US" sz="800" dirty="0">
                <a:solidFill>
                  <a:srgbClr val="10B981"/>
                </a:solidFill>
                <a:latin typeface="Trebuchet MS" pitchFamily="34" charset="0"/>
                <a:ea typeface="Trebuchet MS" pitchFamily="34" charset="-122"/>
                <a:cs typeface="Trebuchet MS" pitchFamily="34" charset="-120"/>
              </a:rPr>
              <a:t>Good</a:t>
            </a:r>
            <a:endParaRPr lang="en-US" sz="800" dirty="0"/>
          </a:p>
        </p:txBody>
      </p:sp>
      <p:sp>
        <p:nvSpPr>
          <p:cNvPr id="21" name="Text 19"/>
          <p:cNvSpPr/>
          <p:nvPr/>
        </p:nvSpPr>
        <p:spPr>
          <a:xfrm>
            <a:off x="5532120" y="2560320"/>
            <a:ext cx="2926080" cy="256032"/>
          </a:xfrm>
          <a:prstGeom prst="rect">
            <a:avLst/>
          </a:prstGeom>
          <a:noFill/>
          <a:ln/>
        </p:spPr>
        <p:txBody>
          <a:bodyPr wrap="square" lIns="0" tIns="0" rIns="0" bIns="0" rtlCol="0" anchor="ctr"/>
          <a:lstStyle/>
          <a:p>
            <a:pPr indent="0" marL="0">
              <a:buNone/>
            </a:pPr>
            <a:r>
              <a:rPr lang="en-US" sz="1300" dirty="0">
                <a:solidFill>
                  <a:srgbClr val="1E293B"/>
                </a:solidFill>
                <a:latin typeface="Trebuchet MS" pitchFamily="34" charset="0"/>
                <a:ea typeface="Trebuchet MS" pitchFamily="34" charset="-122"/>
                <a:cs typeface="Trebuchet MS" pitchFamily="34" charset="-120"/>
              </a:rPr>
              <a:t>Data Integrity</a:t>
            </a:r>
            <a:endParaRPr lang="en-US" sz="1300" dirty="0"/>
          </a:p>
        </p:txBody>
      </p:sp>
      <p:sp>
        <p:nvSpPr>
          <p:cNvPr id="22" name="Text 20"/>
          <p:cNvSpPr/>
          <p:nvPr/>
        </p:nvSpPr>
        <p:spPr>
          <a:xfrm>
            <a:off x="4864608" y="2926080"/>
            <a:ext cx="3712464" cy="548640"/>
          </a:xfrm>
          <a:prstGeom prst="rect">
            <a:avLst/>
          </a:prstGeom>
          <a:noFill/>
          <a:ln/>
        </p:spPr>
        <p:txBody>
          <a:bodyPr wrap="square" lIns="0" tIns="0" rIns="0" bIns="0" rtlCol="0" anchor="ctr"/>
          <a:lstStyle/>
          <a:p>
            <a:pPr indent="0" marL="0">
              <a:lnSpc>
                <a:spcPts val="1300"/>
              </a:lnSpc>
              <a:buNone/>
            </a:pPr>
            <a:r>
              <a:rPr lang="en-US" sz="950" dirty="0">
                <a:solidFill>
                  <a:srgbClr val="64748B"/>
                </a:solidFill>
                <a:latin typeface="Calibri" pitchFamily="34" charset="0"/>
                <a:ea typeface="Calibri" pitchFamily="34" charset="-122"/>
                <a:cs typeface="Calibri" pitchFamily="34" charset="-120"/>
              </a:rPr>
              <a:t>High proportion identified and described integrity problems clearly</a:t>
            </a:r>
            <a:endParaRPr lang="en-US" sz="950" dirty="0"/>
          </a:p>
        </p:txBody>
      </p:sp>
      <p:sp>
        <p:nvSpPr>
          <p:cNvPr id="23" name="Shape 21"/>
          <p:cNvSpPr/>
          <p:nvPr/>
        </p:nvSpPr>
        <p:spPr>
          <a:xfrm>
            <a:off x="457200" y="3813048"/>
            <a:ext cx="8229600" cy="502920"/>
          </a:xfrm>
          <a:prstGeom prst="roundRect">
            <a:avLst>
              <a:gd name="adj" fmla="val 10909"/>
            </a:avLst>
          </a:prstGeom>
          <a:solidFill>
            <a:srgbClr val="0C7C9B">
              <a:alpha val="12000"/>
            </a:srgbClr>
          </a:solidFill>
          <a:ln/>
        </p:spPr>
      </p:sp>
      <p:pic>
        <p:nvPicPr>
          <p:cNvPr id="24" name="Image 0" descr="icon_162.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94360" y="3922776"/>
            <a:ext cx="201168" cy="201168"/>
          </a:xfrm>
          <a:prstGeom prst="rect">
            <a:avLst/>
          </a:prstGeom>
        </p:spPr>
      </p:pic>
      <p:sp>
        <p:nvSpPr>
          <p:cNvPr id="25" name="Text 22"/>
          <p:cNvSpPr/>
          <p:nvPr/>
        </p:nvSpPr>
        <p:spPr>
          <a:xfrm>
            <a:off x="914400" y="3813048"/>
            <a:ext cx="7589520" cy="502920"/>
          </a:xfrm>
          <a:prstGeom prst="rect">
            <a:avLst/>
          </a:prstGeom>
          <a:noFill/>
          <a:ln/>
        </p:spPr>
        <p:txBody>
          <a:bodyPr wrap="square" lIns="0" tIns="0" rIns="0" bIns="0" rtlCol="0" anchor="ctr"/>
          <a:lstStyle/>
          <a:p>
            <a:pPr indent="0" marL="0">
              <a:buNone/>
            </a:pPr>
            <a:r>
              <a:rPr lang="en-US" sz="1000" dirty="0">
                <a:solidFill>
                  <a:srgbClr val="0C7C9B"/>
                </a:solidFill>
                <a:latin typeface="Calibri" pitchFamily="34" charset="0"/>
                <a:ea typeface="Calibri" pitchFamily="34" charset="-122"/>
                <a:cs typeface="Calibri" pitchFamily="34" charset="-120"/>
              </a:rPr>
              <a:t>Curriculum requires: Normalisation up to 3NF, denormalisation procedures, and rollback purposes</a:t>
            </a:r>
            <a:endParaRPr lang="en-US" sz="1000" dirty="0"/>
          </a:p>
        </p:txBody>
      </p:sp>
      <p:sp>
        <p:nvSpPr>
          <p:cNvPr id="26" name="Shape 23"/>
          <p:cNvSpPr/>
          <p:nvPr/>
        </p:nvSpPr>
        <p:spPr>
          <a:xfrm>
            <a:off x="0" y="4800600"/>
            <a:ext cx="9144000" cy="342900"/>
          </a:xfrm>
          <a:prstGeom prst="rect">
            <a:avLst/>
          </a:prstGeom>
          <a:solidFill>
            <a:srgbClr val="E2E8F0"/>
          </a:solidFill>
          <a:ln/>
        </p:spPr>
      </p:sp>
      <p:sp>
        <p:nvSpPr>
          <p:cNvPr id="27" name="Text 24"/>
          <p:cNvSpPr/>
          <p:nvPr/>
        </p:nvSpPr>
        <p:spPr>
          <a:xfrm>
            <a:off x="457200" y="4818888"/>
            <a:ext cx="4572000" cy="274320"/>
          </a:xfrm>
          <a:prstGeom prst="rect">
            <a:avLst/>
          </a:prstGeom>
          <a:noFill/>
          <a:ln/>
        </p:spPr>
        <p:txBody>
          <a:bodyPr wrap="square" lIns="0" tIns="0" rIns="0" bIns="0" rtlCol="0" anchor="ctr"/>
          <a:lstStyle/>
          <a:p>
            <a:pPr indent="0" marL="0">
              <a:buNone/>
            </a:pPr>
            <a:r>
              <a:rPr lang="en-US" sz="700" dirty="0">
                <a:solidFill>
                  <a:srgbClr val="94A3B8"/>
                </a:solidFill>
                <a:latin typeface="Calibri" pitchFamily="34" charset="0"/>
                <a:ea typeface="Calibri" pitchFamily="34" charset="-122"/>
                <a:cs typeface="Calibri" pitchFamily="34" charset="-120"/>
              </a:rPr>
              <a:t>HKDSE ICT 2025 Exam Skills Masterclass</a:t>
            </a:r>
            <a:endParaRPr lang="en-US" sz="700" dirty="0"/>
          </a:p>
        </p:txBody>
      </p:sp>
      <p:sp>
        <p:nvSpPr>
          <p:cNvPr id="25" name="Slide Number Placeholder 0"/>
          <p:cNvSpPr>
            <a:spLocks noGrp="1"/>
          </p:cNvSpPr>
          <p:nvPr>
            <p:ph type="sldNum" sz="quarter" idx="4294967295"/>
          </p:nvPr>
        </p:nvSpPr>
        <p:spPr>
          <a:xfrm>
            <a:off x="8503920" y="4886325"/>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Calibri"/>
                <a:ea typeface="Calibri"/>
                <a:cs typeface="Calibri"/>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0F7F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1628"/>
          </a:solidFill>
          <a:ln/>
        </p:spPr>
      </p:sp>
      <p:pic>
        <p:nvPicPr>
          <p:cNvPr id="3" name="Image 0" descr="icon_163.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57200" y="201168"/>
            <a:ext cx="365760" cy="365760"/>
          </a:xfrm>
          <a:prstGeom prst="rect">
            <a:avLst/>
          </a:prstGeom>
        </p:spPr>
      </p:pic>
      <p:sp>
        <p:nvSpPr>
          <p:cNvPr id="4" name="Text 1"/>
          <p:cNvSpPr/>
          <p:nvPr/>
        </p:nvSpPr>
        <p:spPr>
          <a:xfrm>
            <a:off x="960120" y="137160"/>
            <a:ext cx="7772400" cy="502920"/>
          </a:xfrm>
          <a:prstGeom prst="rect">
            <a:avLst/>
          </a:prstGeom>
          <a:noFill/>
          <a:ln/>
        </p:spPr>
        <p:txBody>
          <a:bodyPr wrap="square" lIns="0" tIns="0" rIns="0" bIns="0" rtlCol="0" anchor="ctr"/>
          <a:lstStyle/>
          <a:p>
            <a:pPr indent="0" marL="0">
              <a:buNone/>
            </a:pPr>
            <a:r>
              <a:rPr lang="en-US" sz="2100" dirty="0">
                <a:solidFill>
                  <a:srgbClr val="FFFFFF"/>
                </a:solidFill>
                <a:latin typeface="Trebuchet MS" pitchFamily="34" charset="0"/>
                <a:ea typeface="Trebuchet MS" pitchFamily="34" charset="-122"/>
                <a:cs typeface="Trebuchet MS" pitchFamily="34" charset="-120"/>
              </a:rPr>
              <a:t>Recurring Error Patterns Across All Papers</a:t>
            </a:r>
            <a:endParaRPr lang="en-US" sz="2100" dirty="0"/>
          </a:p>
        </p:txBody>
      </p:sp>
      <p:sp>
        <p:nvSpPr>
          <p:cNvPr id="5" name="Text 2"/>
          <p:cNvSpPr/>
          <p:nvPr/>
        </p:nvSpPr>
        <p:spPr>
          <a:xfrm>
            <a:off x="960120" y="594360"/>
            <a:ext cx="7772400" cy="274320"/>
          </a:xfrm>
          <a:prstGeom prst="rect">
            <a:avLst/>
          </a:prstGeom>
          <a:noFill/>
          <a:ln/>
        </p:spPr>
        <p:txBody>
          <a:bodyPr wrap="square" lIns="0" tIns="0" rIns="0" bIns="0" rtlCol="0" anchor="ctr"/>
          <a:lstStyle/>
          <a:p>
            <a:pPr indent="0" marL="0">
              <a:buNone/>
            </a:pPr>
            <a:r>
              <a:rPr lang="en-US" sz="1200" dirty="0">
                <a:solidFill>
                  <a:srgbClr val="B8D4E3"/>
                </a:solidFill>
                <a:latin typeface="Calibri" pitchFamily="34" charset="0"/>
                <a:ea typeface="Calibri" pitchFamily="34" charset="-122"/>
                <a:cs typeface="Calibri" pitchFamily="34" charset="-120"/>
              </a:rPr>
              <a:t>Six Categories of Mistakes That Appear Again and Again</a:t>
            </a:r>
            <a:endParaRPr lang="en-US" sz="1200" dirty="0"/>
          </a:p>
        </p:txBody>
      </p:sp>
      <p:sp>
        <p:nvSpPr>
          <p:cNvPr id="6" name="Shape 3"/>
          <p:cNvSpPr/>
          <p:nvPr/>
        </p:nvSpPr>
        <p:spPr>
          <a:xfrm>
            <a:off x="457200" y="1234440"/>
            <a:ext cx="2606040" cy="1261872"/>
          </a:xfrm>
          <a:prstGeom prst="roundRect">
            <a:avLst>
              <a:gd name="adj" fmla="val 5797"/>
            </a:avLst>
          </a:prstGeom>
          <a:solidFill>
            <a:srgbClr val="FFFFFF"/>
          </a:solidFill>
          <a:ln/>
          <a:effectLst>
            <a:outerShdw sx="100000" sy="100000" kx="0" ky="0" algn="bl" rotWithShape="0" blurRad="101600" dist="25400" dir="8100000">
              <a:srgbClr val="000000">
                <a:alpha val="8000"/>
              </a:srgbClr>
            </a:outerShdw>
          </a:effectLst>
        </p:spPr>
      </p:sp>
      <p:sp>
        <p:nvSpPr>
          <p:cNvPr id="7" name="Shape 4"/>
          <p:cNvSpPr/>
          <p:nvPr/>
        </p:nvSpPr>
        <p:spPr>
          <a:xfrm>
            <a:off x="457200" y="1234440"/>
            <a:ext cx="2606040" cy="45720"/>
          </a:xfrm>
          <a:prstGeom prst="rect">
            <a:avLst/>
          </a:prstGeom>
          <a:solidFill>
            <a:srgbClr val="EF4444"/>
          </a:solidFill>
          <a:ln/>
        </p:spPr>
      </p:sp>
      <p:pic>
        <p:nvPicPr>
          <p:cNvPr id="8" name="Image 1" descr="icon_164.sv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94360" y="1417320"/>
            <a:ext cx="274320" cy="274320"/>
          </a:xfrm>
          <a:prstGeom prst="rect">
            <a:avLst/>
          </a:prstGeom>
        </p:spPr>
      </p:pic>
      <p:sp>
        <p:nvSpPr>
          <p:cNvPr id="9" name="Text 5"/>
          <p:cNvSpPr/>
          <p:nvPr/>
        </p:nvSpPr>
        <p:spPr>
          <a:xfrm>
            <a:off x="960120" y="1399032"/>
            <a:ext cx="1965960" cy="274320"/>
          </a:xfrm>
          <a:prstGeom prst="rect">
            <a:avLst/>
          </a:prstGeom>
          <a:noFill/>
          <a:ln/>
        </p:spPr>
        <p:txBody>
          <a:bodyPr wrap="square" lIns="0" tIns="0" rIns="0" bIns="0" rtlCol="0" anchor="ctr"/>
          <a:lstStyle/>
          <a:p>
            <a:pPr indent="0" marL="0">
              <a:buNone/>
            </a:pPr>
            <a:r>
              <a:rPr lang="en-US" sz="1000" dirty="0">
                <a:solidFill>
                  <a:srgbClr val="1E293B"/>
                </a:solidFill>
                <a:latin typeface="Trebuchet MS" pitchFamily="34" charset="0"/>
                <a:ea typeface="Trebuchet MS" pitchFamily="34" charset="-122"/>
                <a:cs typeface="Trebuchet MS" pitchFamily="34" charset="-120"/>
              </a:rPr>
              <a:t>Formula/Function Misuse</a:t>
            </a:r>
            <a:endParaRPr lang="en-US" sz="1000" dirty="0"/>
          </a:p>
        </p:txBody>
      </p:sp>
      <p:sp>
        <p:nvSpPr>
          <p:cNvPr id="10" name="Text 6"/>
          <p:cNvSpPr/>
          <p:nvPr/>
        </p:nvSpPr>
        <p:spPr>
          <a:xfrm>
            <a:off x="594360" y="1783080"/>
            <a:ext cx="2331720" cy="640080"/>
          </a:xfrm>
          <a:prstGeom prst="rect">
            <a:avLst/>
          </a:prstGeom>
          <a:noFill/>
          <a:ln/>
        </p:spPr>
        <p:txBody>
          <a:bodyPr wrap="square" lIns="0" tIns="0" rIns="0" bIns="0" rtlCol="0" anchor="ctr"/>
          <a:lstStyle/>
          <a:p>
            <a:pPr indent="0" marL="0">
              <a:lnSpc>
                <a:spcPts val="1200"/>
              </a:lnSpc>
              <a:buNone/>
            </a:pPr>
            <a:r>
              <a:rPr lang="en-US" sz="900" dirty="0">
                <a:solidFill>
                  <a:srgbClr val="64748B"/>
                </a:solidFill>
                <a:latin typeface="Calibri" pitchFamily="34" charset="0"/>
                <a:ea typeface="Calibri" pitchFamily="34" charset="-122"/>
                <a:cs typeface="Calibri" pitchFamily="34" charset="-120"/>
              </a:rPr>
              <a:t>AVG vs AVERAGE, wrong loop ranges, UNION syntax, INSERT INTO quotation errors</a:t>
            </a:r>
            <a:endParaRPr lang="en-US" sz="900" dirty="0"/>
          </a:p>
        </p:txBody>
      </p:sp>
      <p:sp>
        <p:nvSpPr>
          <p:cNvPr id="11" name="Shape 7"/>
          <p:cNvSpPr/>
          <p:nvPr/>
        </p:nvSpPr>
        <p:spPr>
          <a:xfrm>
            <a:off x="3246120" y="1234440"/>
            <a:ext cx="2606040" cy="1261872"/>
          </a:xfrm>
          <a:prstGeom prst="roundRect">
            <a:avLst>
              <a:gd name="adj" fmla="val 5797"/>
            </a:avLst>
          </a:prstGeom>
          <a:solidFill>
            <a:srgbClr val="FFFFFF"/>
          </a:solidFill>
          <a:ln/>
          <a:effectLst>
            <a:outerShdw sx="100000" sy="100000" kx="0" ky="0" algn="bl" rotWithShape="0" blurRad="101600" dist="25400" dir="8100000">
              <a:srgbClr val="000000">
                <a:alpha val="8000"/>
              </a:srgbClr>
            </a:outerShdw>
          </a:effectLst>
        </p:spPr>
      </p:sp>
      <p:sp>
        <p:nvSpPr>
          <p:cNvPr id="12" name="Shape 8"/>
          <p:cNvSpPr/>
          <p:nvPr/>
        </p:nvSpPr>
        <p:spPr>
          <a:xfrm>
            <a:off x="3246120" y="1234440"/>
            <a:ext cx="2606040" cy="45720"/>
          </a:xfrm>
          <a:prstGeom prst="rect">
            <a:avLst/>
          </a:prstGeom>
          <a:solidFill>
            <a:srgbClr val="F59E0B"/>
          </a:solidFill>
          <a:ln/>
        </p:spPr>
      </p:sp>
      <p:pic>
        <p:nvPicPr>
          <p:cNvPr id="13" name="Image 2" descr="icon_165.sv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383280" y="1417320"/>
            <a:ext cx="274320" cy="274320"/>
          </a:xfrm>
          <a:prstGeom prst="rect">
            <a:avLst/>
          </a:prstGeom>
        </p:spPr>
      </p:pic>
      <p:sp>
        <p:nvSpPr>
          <p:cNvPr id="14" name="Text 9"/>
          <p:cNvSpPr/>
          <p:nvPr/>
        </p:nvSpPr>
        <p:spPr>
          <a:xfrm>
            <a:off x="3749040" y="1399032"/>
            <a:ext cx="1965960" cy="274320"/>
          </a:xfrm>
          <a:prstGeom prst="rect">
            <a:avLst/>
          </a:prstGeom>
          <a:noFill/>
          <a:ln/>
        </p:spPr>
        <p:txBody>
          <a:bodyPr wrap="square" lIns="0" tIns="0" rIns="0" bIns="0" rtlCol="0" anchor="ctr"/>
          <a:lstStyle/>
          <a:p>
            <a:pPr indent="0" marL="0">
              <a:buNone/>
            </a:pPr>
            <a:r>
              <a:rPr lang="en-US" sz="1000" dirty="0">
                <a:solidFill>
                  <a:srgbClr val="1E293B"/>
                </a:solidFill>
                <a:latin typeface="Trebuchet MS" pitchFamily="34" charset="0"/>
                <a:ea typeface="Trebuchet MS" pitchFamily="34" charset="-122"/>
                <a:cs typeface="Trebuchet MS" pitchFamily="34" charset="-120"/>
              </a:rPr>
              <a:t>Terminology Confusion</a:t>
            </a:r>
            <a:endParaRPr lang="en-US" sz="1000" dirty="0"/>
          </a:p>
        </p:txBody>
      </p:sp>
      <p:sp>
        <p:nvSpPr>
          <p:cNvPr id="15" name="Text 10"/>
          <p:cNvSpPr/>
          <p:nvPr/>
        </p:nvSpPr>
        <p:spPr>
          <a:xfrm>
            <a:off x="3383280" y="1783080"/>
            <a:ext cx="2331720" cy="640080"/>
          </a:xfrm>
          <a:prstGeom prst="rect">
            <a:avLst/>
          </a:prstGeom>
          <a:noFill/>
          <a:ln/>
        </p:spPr>
        <p:txBody>
          <a:bodyPr wrap="square" lIns="0" tIns="0" rIns="0" bIns="0" rtlCol="0" anchor="ctr"/>
          <a:lstStyle/>
          <a:p>
            <a:pPr indent="0" marL="0">
              <a:lnSpc>
                <a:spcPts val="1200"/>
              </a:lnSpc>
              <a:buNone/>
            </a:pPr>
            <a:r>
              <a:rPr lang="en-US" sz="900" dirty="0">
                <a:solidFill>
                  <a:srgbClr val="64748B"/>
                </a:solidFill>
                <a:latin typeface="Calibri" pitchFamily="34" charset="0"/>
                <a:ea typeface="Calibri" pitchFamily="34" charset="-122"/>
                <a:cs typeface="Calibri" pitchFamily="34" charset="-120"/>
              </a:rPr>
              <a:t>Virtualisation vs RAID, packet vs circuit switching, decomposition vs denormalisation</a:t>
            </a:r>
            <a:endParaRPr lang="en-US" sz="900" dirty="0"/>
          </a:p>
        </p:txBody>
      </p:sp>
      <p:sp>
        <p:nvSpPr>
          <p:cNvPr id="16" name="Shape 11"/>
          <p:cNvSpPr/>
          <p:nvPr/>
        </p:nvSpPr>
        <p:spPr>
          <a:xfrm>
            <a:off x="6035040" y="1234440"/>
            <a:ext cx="2606040" cy="1261872"/>
          </a:xfrm>
          <a:prstGeom prst="roundRect">
            <a:avLst>
              <a:gd name="adj" fmla="val 5797"/>
            </a:avLst>
          </a:prstGeom>
          <a:solidFill>
            <a:srgbClr val="FFFFFF"/>
          </a:solidFill>
          <a:ln/>
          <a:effectLst>
            <a:outerShdw sx="100000" sy="100000" kx="0" ky="0" algn="bl" rotWithShape="0" blurRad="101600" dist="25400" dir="8100000">
              <a:srgbClr val="000000">
                <a:alpha val="8000"/>
              </a:srgbClr>
            </a:outerShdw>
          </a:effectLst>
        </p:spPr>
      </p:sp>
      <p:sp>
        <p:nvSpPr>
          <p:cNvPr id="17" name="Shape 12"/>
          <p:cNvSpPr/>
          <p:nvPr/>
        </p:nvSpPr>
        <p:spPr>
          <a:xfrm>
            <a:off x="6035040" y="1234440"/>
            <a:ext cx="2606040" cy="45720"/>
          </a:xfrm>
          <a:prstGeom prst="rect">
            <a:avLst/>
          </a:prstGeom>
          <a:solidFill>
            <a:srgbClr val="8B5CF6"/>
          </a:solidFill>
          <a:ln/>
        </p:spPr>
      </p:sp>
      <p:pic>
        <p:nvPicPr>
          <p:cNvPr id="18" name="Image 3" descr="icon_166.sv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172200" y="1417320"/>
            <a:ext cx="274320" cy="274320"/>
          </a:xfrm>
          <a:prstGeom prst="rect">
            <a:avLst/>
          </a:prstGeom>
        </p:spPr>
      </p:pic>
      <p:sp>
        <p:nvSpPr>
          <p:cNvPr id="19" name="Text 13"/>
          <p:cNvSpPr/>
          <p:nvPr/>
        </p:nvSpPr>
        <p:spPr>
          <a:xfrm>
            <a:off x="6537960" y="1399032"/>
            <a:ext cx="1965960" cy="274320"/>
          </a:xfrm>
          <a:prstGeom prst="rect">
            <a:avLst/>
          </a:prstGeom>
          <a:noFill/>
          <a:ln/>
        </p:spPr>
        <p:txBody>
          <a:bodyPr wrap="square" lIns="0" tIns="0" rIns="0" bIns="0" rtlCol="0" anchor="ctr"/>
          <a:lstStyle/>
          <a:p>
            <a:pPr indent="0" marL="0">
              <a:buNone/>
            </a:pPr>
            <a:r>
              <a:rPr lang="en-US" sz="1000" dirty="0">
                <a:solidFill>
                  <a:srgbClr val="1E293B"/>
                </a:solidFill>
                <a:latin typeface="Trebuchet MS" pitchFamily="34" charset="0"/>
                <a:ea typeface="Trebuchet MS" pitchFamily="34" charset="-122"/>
                <a:cs typeface="Trebuchet MS" pitchFamily="34" charset="-120"/>
              </a:rPr>
              <a:t>Incomplete Explanations</a:t>
            </a:r>
            <a:endParaRPr lang="en-US" sz="1000" dirty="0"/>
          </a:p>
        </p:txBody>
      </p:sp>
      <p:sp>
        <p:nvSpPr>
          <p:cNvPr id="20" name="Text 14"/>
          <p:cNvSpPr/>
          <p:nvPr/>
        </p:nvSpPr>
        <p:spPr>
          <a:xfrm>
            <a:off x="6172200" y="1783080"/>
            <a:ext cx="2331720" cy="640080"/>
          </a:xfrm>
          <a:prstGeom prst="rect">
            <a:avLst/>
          </a:prstGeom>
          <a:noFill/>
          <a:ln/>
        </p:spPr>
        <p:txBody>
          <a:bodyPr wrap="square" lIns="0" tIns="0" rIns="0" bIns="0" rtlCol="0" anchor="ctr"/>
          <a:lstStyle/>
          <a:p>
            <a:pPr indent="0" marL="0">
              <a:lnSpc>
                <a:spcPts val="1200"/>
              </a:lnSpc>
              <a:buNone/>
            </a:pPr>
            <a:r>
              <a:rPr lang="en-US" sz="900" dirty="0">
                <a:solidFill>
                  <a:srgbClr val="64748B"/>
                </a:solidFill>
                <a:latin typeface="Calibri" pitchFamily="34" charset="0"/>
                <a:ea typeface="Calibri" pitchFamily="34" charset="-122"/>
                <a:cs typeface="Calibri" pitchFamily="34" charset="-120"/>
              </a:rPr>
              <a:t>Vague answers without elaboration, missing roles in encryption, no justification</a:t>
            </a:r>
            <a:endParaRPr lang="en-US" sz="900" dirty="0"/>
          </a:p>
        </p:txBody>
      </p:sp>
      <p:sp>
        <p:nvSpPr>
          <p:cNvPr id="21" name="Shape 15"/>
          <p:cNvSpPr/>
          <p:nvPr/>
        </p:nvSpPr>
        <p:spPr>
          <a:xfrm>
            <a:off x="457200" y="2633472"/>
            <a:ext cx="2606040" cy="1261872"/>
          </a:xfrm>
          <a:prstGeom prst="roundRect">
            <a:avLst>
              <a:gd name="adj" fmla="val 5797"/>
            </a:avLst>
          </a:prstGeom>
          <a:solidFill>
            <a:srgbClr val="FFFFFF"/>
          </a:solidFill>
          <a:ln/>
          <a:effectLst>
            <a:outerShdw sx="100000" sy="100000" kx="0" ky="0" algn="bl" rotWithShape="0" blurRad="101600" dist="25400" dir="8100000">
              <a:srgbClr val="000000">
                <a:alpha val="8000"/>
              </a:srgbClr>
            </a:outerShdw>
          </a:effectLst>
        </p:spPr>
      </p:sp>
      <p:sp>
        <p:nvSpPr>
          <p:cNvPr id="22" name="Shape 16"/>
          <p:cNvSpPr/>
          <p:nvPr/>
        </p:nvSpPr>
        <p:spPr>
          <a:xfrm>
            <a:off x="457200" y="2633472"/>
            <a:ext cx="2606040" cy="45720"/>
          </a:xfrm>
          <a:prstGeom prst="rect">
            <a:avLst/>
          </a:prstGeom>
          <a:solidFill>
            <a:srgbClr val="3B82F6"/>
          </a:solidFill>
          <a:ln/>
        </p:spPr>
      </p:sp>
      <p:pic>
        <p:nvPicPr>
          <p:cNvPr id="23" name="Image 4" descr="icon_167.sv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94360" y="2816352"/>
            <a:ext cx="274320" cy="274320"/>
          </a:xfrm>
          <a:prstGeom prst="rect">
            <a:avLst/>
          </a:prstGeom>
        </p:spPr>
      </p:pic>
      <p:sp>
        <p:nvSpPr>
          <p:cNvPr id="24" name="Text 17"/>
          <p:cNvSpPr/>
          <p:nvPr/>
        </p:nvSpPr>
        <p:spPr>
          <a:xfrm>
            <a:off x="960120" y="2798064"/>
            <a:ext cx="1965960" cy="274320"/>
          </a:xfrm>
          <a:prstGeom prst="rect">
            <a:avLst/>
          </a:prstGeom>
          <a:noFill/>
          <a:ln/>
        </p:spPr>
        <p:txBody>
          <a:bodyPr wrap="square" lIns="0" tIns="0" rIns="0" bIns="0" rtlCol="0" anchor="ctr"/>
          <a:lstStyle/>
          <a:p>
            <a:pPr indent="0" marL="0">
              <a:buNone/>
            </a:pPr>
            <a:r>
              <a:rPr lang="en-US" sz="1000" dirty="0">
                <a:solidFill>
                  <a:srgbClr val="1E293B"/>
                </a:solidFill>
                <a:latin typeface="Trebuchet MS" pitchFamily="34" charset="0"/>
                <a:ea typeface="Trebuchet MS" pitchFamily="34" charset="-122"/>
                <a:cs typeface="Trebuchet MS" pitchFamily="34" charset="-120"/>
              </a:rPr>
              <a:t>Unit Conversion Failures</a:t>
            </a:r>
            <a:endParaRPr lang="en-US" sz="1000" dirty="0"/>
          </a:p>
        </p:txBody>
      </p:sp>
      <p:sp>
        <p:nvSpPr>
          <p:cNvPr id="25" name="Text 18"/>
          <p:cNvSpPr/>
          <p:nvPr/>
        </p:nvSpPr>
        <p:spPr>
          <a:xfrm>
            <a:off x="594360" y="3182112"/>
            <a:ext cx="2331720" cy="640080"/>
          </a:xfrm>
          <a:prstGeom prst="rect">
            <a:avLst/>
          </a:prstGeom>
          <a:noFill/>
          <a:ln/>
        </p:spPr>
        <p:txBody>
          <a:bodyPr wrap="square" lIns="0" tIns="0" rIns="0" bIns="0" rtlCol="0" anchor="ctr"/>
          <a:lstStyle/>
          <a:p>
            <a:pPr indent="0" marL="0">
              <a:lnSpc>
                <a:spcPts val="1200"/>
              </a:lnSpc>
              <a:buNone/>
            </a:pPr>
            <a:r>
              <a:rPr lang="en-US" sz="900" dirty="0">
                <a:solidFill>
                  <a:srgbClr val="64748B"/>
                </a:solidFill>
                <a:latin typeface="Calibri" pitchFamily="34" charset="0"/>
                <a:ea typeface="Calibri" pitchFamily="34" charset="-122"/>
                <a:cs typeface="Calibri" pitchFamily="34" charset="-120"/>
              </a:rPr>
              <a:t>Bytes to bits (×8) errors, omitting units (seconds, bps) in calculations</a:t>
            </a:r>
            <a:endParaRPr lang="en-US" sz="900" dirty="0"/>
          </a:p>
        </p:txBody>
      </p:sp>
      <p:sp>
        <p:nvSpPr>
          <p:cNvPr id="26" name="Shape 19"/>
          <p:cNvSpPr/>
          <p:nvPr/>
        </p:nvSpPr>
        <p:spPr>
          <a:xfrm>
            <a:off x="3246120" y="2633472"/>
            <a:ext cx="2606040" cy="1261872"/>
          </a:xfrm>
          <a:prstGeom prst="roundRect">
            <a:avLst>
              <a:gd name="adj" fmla="val 5797"/>
            </a:avLst>
          </a:prstGeom>
          <a:solidFill>
            <a:srgbClr val="FFFFFF"/>
          </a:solidFill>
          <a:ln/>
          <a:effectLst>
            <a:outerShdw sx="100000" sy="100000" kx="0" ky="0" algn="bl" rotWithShape="0" blurRad="101600" dist="25400" dir="8100000">
              <a:srgbClr val="000000">
                <a:alpha val="8000"/>
              </a:srgbClr>
            </a:outerShdw>
          </a:effectLst>
        </p:spPr>
      </p:sp>
      <p:sp>
        <p:nvSpPr>
          <p:cNvPr id="27" name="Shape 20"/>
          <p:cNvSpPr/>
          <p:nvPr/>
        </p:nvSpPr>
        <p:spPr>
          <a:xfrm>
            <a:off x="3246120" y="2633472"/>
            <a:ext cx="2606040" cy="45720"/>
          </a:xfrm>
          <a:prstGeom prst="rect">
            <a:avLst/>
          </a:prstGeom>
          <a:solidFill>
            <a:srgbClr val="F97316"/>
          </a:solidFill>
          <a:ln/>
        </p:spPr>
      </p:sp>
      <p:pic>
        <p:nvPicPr>
          <p:cNvPr id="28" name="Image 5" descr="icon_168.sv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383280" y="2816352"/>
            <a:ext cx="274320" cy="274320"/>
          </a:xfrm>
          <a:prstGeom prst="rect">
            <a:avLst/>
          </a:prstGeom>
        </p:spPr>
      </p:pic>
      <p:sp>
        <p:nvSpPr>
          <p:cNvPr id="29" name="Text 21"/>
          <p:cNvSpPr/>
          <p:nvPr/>
        </p:nvSpPr>
        <p:spPr>
          <a:xfrm>
            <a:off x="3749040" y="2798064"/>
            <a:ext cx="1965960" cy="274320"/>
          </a:xfrm>
          <a:prstGeom prst="rect">
            <a:avLst/>
          </a:prstGeom>
          <a:noFill/>
          <a:ln/>
        </p:spPr>
        <p:txBody>
          <a:bodyPr wrap="square" lIns="0" tIns="0" rIns="0" bIns="0" rtlCol="0" anchor="ctr"/>
          <a:lstStyle/>
          <a:p>
            <a:pPr indent="0" marL="0">
              <a:buNone/>
            </a:pPr>
            <a:r>
              <a:rPr lang="en-US" sz="1000" dirty="0">
                <a:solidFill>
                  <a:srgbClr val="1E293B"/>
                </a:solidFill>
                <a:latin typeface="Trebuchet MS" pitchFamily="34" charset="0"/>
                <a:ea typeface="Trebuchet MS" pitchFamily="34" charset="-122"/>
                <a:cs typeface="Trebuchet MS" pitchFamily="34" charset="-120"/>
              </a:rPr>
              <a:t>Weak Practical Coding</a:t>
            </a:r>
            <a:endParaRPr lang="en-US" sz="1000" dirty="0"/>
          </a:p>
        </p:txBody>
      </p:sp>
      <p:sp>
        <p:nvSpPr>
          <p:cNvPr id="30" name="Text 22"/>
          <p:cNvSpPr/>
          <p:nvPr/>
        </p:nvSpPr>
        <p:spPr>
          <a:xfrm>
            <a:off x="3383280" y="3182112"/>
            <a:ext cx="2331720" cy="640080"/>
          </a:xfrm>
          <a:prstGeom prst="rect">
            <a:avLst/>
          </a:prstGeom>
          <a:noFill/>
          <a:ln/>
        </p:spPr>
        <p:txBody>
          <a:bodyPr wrap="square" lIns="0" tIns="0" rIns="0" bIns="0" rtlCol="0" anchor="ctr"/>
          <a:lstStyle/>
          <a:p>
            <a:pPr indent="0" marL="0">
              <a:lnSpc>
                <a:spcPts val="1200"/>
              </a:lnSpc>
              <a:buNone/>
            </a:pPr>
            <a:r>
              <a:rPr lang="en-US" sz="900" dirty="0">
                <a:solidFill>
                  <a:srgbClr val="64748B"/>
                </a:solidFill>
                <a:latin typeface="Calibri" pitchFamily="34" charset="0"/>
                <a:ea typeface="Calibri" pitchFamily="34" charset="-122"/>
                <a:cs typeface="Calibri" pitchFamily="34" charset="-120"/>
              </a:rPr>
              <a:t>Cannot write real PHP/SQL code, uninitialised variables, flag misapplication (~67%)</a:t>
            </a:r>
            <a:endParaRPr lang="en-US" sz="900" dirty="0"/>
          </a:p>
        </p:txBody>
      </p:sp>
      <p:sp>
        <p:nvSpPr>
          <p:cNvPr id="31" name="Shape 23"/>
          <p:cNvSpPr/>
          <p:nvPr/>
        </p:nvSpPr>
        <p:spPr>
          <a:xfrm>
            <a:off x="6035040" y="2633472"/>
            <a:ext cx="2606040" cy="1261872"/>
          </a:xfrm>
          <a:prstGeom prst="roundRect">
            <a:avLst>
              <a:gd name="adj" fmla="val 5797"/>
            </a:avLst>
          </a:prstGeom>
          <a:solidFill>
            <a:srgbClr val="FFFFFF"/>
          </a:solidFill>
          <a:ln/>
          <a:effectLst>
            <a:outerShdw sx="100000" sy="100000" kx="0" ky="0" algn="bl" rotWithShape="0" blurRad="101600" dist="25400" dir="8100000">
              <a:srgbClr val="000000">
                <a:alpha val="8000"/>
              </a:srgbClr>
            </a:outerShdw>
          </a:effectLst>
        </p:spPr>
      </p:sp>
      <p:sp>
        <p:nvSpPr>
          <p:cNvPr id="32" name="Shape 24"/>
          <p:cNvSpPr/>
          <p:nvPr/>
        </p:nvSpPr>
        <p:spPr>
          <a:xfrm>
            <a:off x="6035040" y="2633472"/>
            <a:ext cx="2606040" cy="45720"/>
          </a:xfrm>
          <a:prstGeom prst="rect">
            <a:avLst/>
          </a:prstGeom>
          <a:solidFill>
            <a:srgbClr val="EF4444"/>
          </a:solidFill>
          <a:ln/>
        </p:spPr>
      </p:sp>
      <p:pic>
        <p:nvPicPr>
          <p:cNvPr id="33" name="Image 6" descr="icon_169.sv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172200" y="2816352"/>
            <a:ext cx="274320" cy="274320"/>
          </a:xfrm>
          <a:prstGeom prst="rect">
            <a:avLst/>
          </a:prstGeom>
        </p:spPr>
      </p:pic>
      <p:sp>
        <p:nvSpPr>
          <p:cNvPr id="34" name="Text 25"/>
          <p:cNvSpPr/>
          <p:nvPr/>
        </p:nvSpPr>
        <p:spPr>
          <a:xfrm>
            <a:off x="6537960" y="2798064"/>
            <a:ext cx="1965960" cy="274320"/>
          </a:xfrm>
          <a:prstGeom prst="rect">
            <a:avLst/>
          </a:prstGeom>
          <a:noFill/>
          <a:ln/>
        </p:spPr>
        <p:txBody>
          <a:bodyPr wrap="square" lIns="0" tIns="0" rIns="0" bIns="0" rtlCol="0" anchor="ctr"/>
          <a:lstStyle/>
          <a:p>
            <a:pPr indent="0" marL="0">
              <a:buNone/>
            </a:pPr>
            <a:r>
              <a:rPr lang="en-US" sz="1000" dirty="0">
                <a:solidFill>
                  <a:srgbClr val="1E293B"/>
                </a:solidFill>
                <a:latin typeface="Trebuchet MS" pitchFamily="34" charset="0"/>
                <a:ea typeface="Trebuchet MS" pitchFamily="34" charset="-122"/>
                <a:cs typeface="Trebuchet MS" pitchFamily="34" charset="-120"/>
              </a:rPr>
              <a:t>AI/ML Knowledge Gap</a:t>
            </a:r>
            <a:endParaRPr lang="en-US" sz="1000" dirty="0"/>
          </a:p>
        </p:txBody>
      </p:sp>
      <p:sp>
        <p:nvSpPr>
          <p:cNvPr id="35" name="Text 26"/>
          <p:cNvSpPr/>
          <p:nvPr/>
        </p:nvSpPr>
        <p:spPr>
          <a:xfrm>
            <a:off x="6172200" y="3182112"/>
            <a:ext cx="2331720" cy="640080"/>
          </a:xfrm>
          <a:prstGeom prst="rect">
            <a:avLst/>
          </a:prstGeom>
          <a:noFill/>
          <a:ln/>
        </p:spPr>
        <p:txBody>
          <a:bodyPr wrap="square" lIns="0" tIns="0" rIns="0" bIns="0" rtlCol="0" anchor="ctr"/>
          <a:lstStyle/>
          <a:p>
            <a:pPr indent="0" marL="0">
              <a:lnSpc>
                <a:spcPts val="1200"/>
              </a:lnSpc>
              <a:buNone/>
            </a:pPr>
            <a:r>
              <a:rPr lang="en-US" sz="900" dirty="0">
                <a:solidFill>
                  <a:srgbClr val="64748B"/>
                </a:solidFill>
                <a:latin typeface="Calibri" pitchFamily="34" charset="0"/>
                <a:ea typeface="Calibri" pitchFamily="34" charset="-122"/>
                <a:cs typeface="Calibri" pitchFamily="34" charset="-120"/>
              </a:rPr>
              <a:t>Surface-level awareness only, irrelevant focus on copyright instead of training factors</a:t>
            </a:r>
            <a:endParaRPr lang="en-US" sz="900" dirty="0"/>
          </a:p>
        </p:txBody>
      </p:sp>
      <p:sp>
        <p:nvSpPr>
          <p:cNvPr id="36" name="Shape 27"/>
          <p:cNvSpPr/>
          <p:nvPr/>
        </p:nvSpPr>
        <p:spPr>
          <a:xfrm>
            <a:off x="0" y="4800600"/>
            <a:ext cx="9144000" cy="342900"/>
          </a:xfrm>
          <a:prstGeom prst="rect">
            <a:avLst/>
          </a:prstGeom>
          <a:solidFill>
            <a:srgbClr val="E2E8F0"/>
          </a:solidFill>
          <a:ln/>
        </p:spPr>
      </p:sp>
      <p:sp>
        <p:nvSpPr>
          <p:cNvPr id="37" name="Text 28"/>
          <p:cNvSpPr/>
          <p:nvPr/>
        </p:nvSpPr>
        <p:spPr>
          <a:xfrm>
            <a:off x="457200" y="4818888"/>
            <a:ext cx="4572000" cy="274320"/>
          </a:xfrm>
          <a:prstGeom prst="rect">
            <a:avLst/>
          </a:prstGeom>
          <a:noFill/>
          <a:ln/>
        </p:spPr>
        <p:txBody>
          <a:bodyPr wrap="square" lIns="0" tIns="0" rIns="0" bIns="0" rtlCol="0" anchor="ctr"/>
          <a:lstStyle/>
          <a:p>
            <a:pPr indent="0" marL="0">
              <a:buNone/>
            </a:pPr>
            <a:r>
              <a:rPr lang="en-US" sz="700" dirty="0">
                <a:solidFill>
                  <a:srgbClr val="94A3B8"/>
                </a:solidFill>
                <a:latin typeface="Calibri" pitchFamily="34" charset="0"/>
                <a:ea typeface="Calibri" pitchFamily="34" charset="-122"/>
                <a:cs typeface="Calibri" pitchFamily="34" charset="-120"/>
              </a:rPr>
              <a:t>HKDSE ICT 2025 Exam Skills Masterclass</a:t>
            </a:r>
            <a:endParaRPr lang="en-US" sz="700" dirty="0"/>
          </a:p>
        </p:txBody>
      </p:sp>
      <p:sp>
        <p:nvSpPr>
          <p:cNvPr id="25" name="Slide Number Placeholder 0"/>
          <p:cNvSpPr>
            <a:spLocks noGrp="1"/>
          </p:cNvSpPr>
          <p:nvPr>
            <p:ph type="sldNum" sz="quarter" idx="4294967295"/>
          </p:nvPr>
        </p:nvSpPr>
        <p:spPr>
          <a:xfrm>
            <a:off x="8503920" y="4886325"/>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Calibri"/>
                <a:ea typeface="Calibri"/>
                <a:cs typeface="Calibri"/>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0F7F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1628"/>
          </a:solidFill>
          <a:ln/>
        </p:spPr>
      </p:sp>
      <p:pic>
        <p:nvPicPr>
          <p:cNvPr id="3" name="Image 0" descr="icon_220.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57200" y="201168"/>
            <a:ext cx="365760" cy="365760"/>
          </a:xfrm>
          <a:prstGeom prst="rect">
            <a:avLst/>
          </a:prstGeom>
        </p:spPr>
      </p:pic>
      <p:sp>
        <p:nvSpPr>
          <p:cNvPr id="4" name="Text 1"/>
          <p:cNvSpPr/>
          <p:nvPr/>
        </p:nvSpPr>
        <p:spPr>
          <a:xfrm>
            <a:off x="960120" y="137160"/>
            <a:ext cx="7772400" cy="502920"/>
          </a:xfrm>
          <a:prstGeom prst="rect">
            <a:avLst/>
          </a:prstGeom>
          <a:noFill/>
          <a:ln/>
        </p:spPr>
        <p:txBody>
          <a:bodyPr wrap="square" lIns="0" tIns="0" rIns="0" bIns="0" rtlCol="0" anchor="ctr"/>
          <a:lstStyle/>
          <a:p>
            <a:pPr indent="0" marL="0">
              <a:buNone/>
            </a:pPr>
            <a:r>
              <a:rPr lang="en-US" sz="2200" dirty="0">
                <a:solidFill>
                  <a:srgbClr val="FFFFFF"/>
                </a:solidFill>
                <a:latin typeface="Trebuchet MS" pitchFamily="34" charset="0"/>
                <a:ea typeface="Trebuchet MS" pitchFamily="34" charset="-122"/>
                <a:cs typeface="Trebuchet MS" pitchFamily="34" charset="-120"/>
              </a:rPr>
              <a:t>Top 10 Exam Preparation Strategies</a:t>
            </a:r>
            <a:endParaRPr lang="en-US" sz="2200" dirty="0"/>
          </a:p>
        </p:txBody>
      </p:sp>
      <p:sp>
        <p:nvSpPr>
          <p:cNvPr id="5" name="Text 2"/>
          <p:cNvSpPr/>
          <p:nvPr/>
        </p:nvSpPr>
        <p:spPr>
          <a:xfrm>
            <a:off x="960120" y="594360"/>
            <a:ext cx="7772400" cy="274320"/>
          </a:xfrm>
          <a:prstGeom prst="rect">
            <a:avLst/>
          </a:prstGeom>
          <a:noFill/>
          <a:ln/>
        </p:spPr>
        <p:txBody>
          <a:bodyPr wrap="square" lIns="0" tIns="0" rIns="0" bIns="0" rtlCol="0" anchor="ctr"/>
          <a:lstStyle/>
          <a:p>
            <a:pPr indent="0" marL="0">
              <a:buNone/>
            </a:pPr>
            <a:r>
              <a:rPr lang="en-US" sz="1200" dirty="0">
                <a:solidFill>
                  <a:srgbClr val="B8D4E3"/>
                </a:solidFill>
                <a:latin typeface="Calibri" pitchFamily="34" charset="0"/>
                <a:ea typeface="Calibri" pitchFamily="34" charset="-122"/>
                <a:cs typeface="Calibri" pitchFamily="34" charset="-120"/>
              </a:rPr>
              <a:t>Ranked by Impact Based on 2025 Examiner Feedback</a:t>
            </a:r>
            <a:endParaRPr lang="en-US" sz="1200" dirty="0"/>
          </a:p>
        </p:txBody>
      </p:sp>
      <p:sp>
        <p:nvSpPr>
          <p:cNvPr id="6" name="Shape 3"/>
          <p:cNvSpPr/>
          <p:nvPr/>
        </p:nvSpPr>
        <p:spPr>
          <a:xfrm>
            <a:off x="457200" y="1188720"/>
            <a:ext cx="8229600" cy="640080"/>
          </a:xfrm>
          <a:prstGeom prst="roundRect">
            <a:avLst>
              <a:gd name="adj" fmla="val 8571"/>
            </a:avLst>
          </a:prstGeom>
          <a:solidFill>
            <a:srgbClr val="FFFFFF"/>
          </a:solidFill>
          <a:ln/>
          <a:effectLst>
            <a:outerShdw sx="100000" sy="100000" kx="0" ky="0" algn="bl" rotWithShape="0" blurRad="101600" dist="25400" dir="8100000">
              <a:srgbClr val="000000">
                <a:alpha val="8000"/>
              </a:srgbClr>
            </a:outerShdw>
          </a:effectLst>
        </p:spPr>
      </p:sp>
      <p:sp>
        <p:nvSpPr>
          <p:cNvPr id="7" name="Text 4"/>
          <p:cNvSpPr/>
          <p:nvPr/>
        </p:nvSpPr>
        <p:spPr>
          <a:xfrm>
            <a:off x="594360" y="1316736"/>
            <a:ext cx="384048" cy="384048"/>
          </a:xfrm>
          <a:prstGeom prst="roundRect">
            <a:avLst>
              <a:gd name="adj" fmla="val 19048"/>
            </a:avLst>
          </a:prstGeom>
          <a:solidFill>
            <a:srgbClr val="0C7C9B"/>
          </a:solidFill>
          <a:ln/>
        </p:spPr>
        <p:txBody>
          <a:bodyPr wrap="square" lIns="0" tIns="0" rIns="0" bIns="0" rtlCol="0" anchor="ctr"/>
          <a:lstStyle/>
          <a:p>
            <a:pPr algn="ctr" indent="0" marL="0">
              <a:buNone/>
            </a:pPr>
            <a:r>
              <a:rPr lang="en-US" sz="1800" dirty="0">
                <a:solidFill>
                  <a:srgbClr val="FFFFFF"/>
                </a:solidFill>
                <a:latin typeface="Trebuchet MS" pitchFamily="34" charset="0"/>
                <a:ea typeface="Trebuchet MS" pitchFamily="34" charset="-122"/>
                <a:cs typeface="Trebuchet MS" pitchFamily="34" charset="-120"/>
              </a:rPr>
              <a:t>1</a:t>
            </a:r>
            <a:endParaRPr lang="en-US" sz="1800" dirty="0"/>
          </a:p>
        </p:txBody>
      </p:sp>
      <p:pic>
        <p:nvPicPr>
          <p:cNvPr id="8" name="Image 1" descr="icon_221.sv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43000" y="1380744"/>
            <a:ext cx="256032" cy="256032"/>
          </a:xfrm>
          <a:prstGeom prst="rect">
            <a:avLst/>
          </a:prstGeom>
        </p:spPr>
      </p:pic>
      <p:sp>
        <p:nvSpPr>
          <p:cNvPr id="9" name="Text 5"/>
          <p:cNvSpPr/>
          <p:nvPr/>
        </p:nvSpPr>
        <p:spPr>
          <a:xfrm>
            <a:off x="1554480" y="1261872"/>
            <a:ext cx="3657600" cy="237744"/>
          </a:xfrm>
          <a:prstGeom prst="rect">
            <a:avLst/>
          </a:prstGeom>
          <a:noFill/>
          <a:ln/>
        </p:spPr>
        <p:txBody>
          <a:bodyPr wrap="square" lIns="0" tIns="0" rIns="0" bIns="0" rtlCol="0" anchor="ctr"/>
          <a:lstStyle/>
          <a:p>
            <a:pPr indent="0" marL="0">
              <a:buNone/>
            </a:pPr>
            <a:r>
              <a:rPr lang="en-US" sz="1200" dirty="0">
                <a:solidFill>
                  <a:srgbClr val="1E293B"/>
                </a:solidFill>
                <a:latin typeface="Trebuchet MS" pitchFamily="34" charset="0"/>
                <a:ea typeface="Trebuchet MS" pitchFamily="34" charset="-122"/>
                <a:cs typeface="Trebuchet MS" pitchFamily="34" charset="-120"/>
              </a:rPr>
              <a:t>Hands-on coding practice</a:t>
            </a:r>
            <a:endParaRPr lang="en-US" sz="1200" dirty="0"/>
          </a:p>
        </p:txBody>
      </p:sp>
      <p:sp>
        <p:nvSpPr>
          <p:cNvPr id="10" name="Text 6"/>
          <p:cNvSpPr/>
          <p:nvPr/>
        </p:nvSpPr>
        <p:spPr>
          <a:xfrm>
            <a:off x="1554480" y="1517904"/>
            <a:ext cx="6858000" cy="25603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Write, test &amp; debug real code — not just theory study</a:t>
            </a:r>
            <a:endParaRPr lang="en-US" sz="1000" dirty="0"/>
          </a:p>
        </p:txBody>
      </p:sp>
      <p:sp>
        <p:nvSpPr>
          <p:cNvPr id="11" name="Shape 7"/>
          <p:cNvSpPr/>
          <p:nvPr/>
        </p:nvSpPr>
        <p:spPr>
          <a:xfrm>
            <a:off x="457200" y="1883664"/>
            <a:ext cx="8229600" cy="640080"/>
          </a:xfrm>
          <a:prstGeom prst="roundRect">
            <a:avLst>
              <a:gd name="adj" fmla="val 8571"/>
            </a:avLst>
          </a:prstGeom>
          <a:solidFill>
            <a:srgbClr val="FFFFFF"/>
          </a:solidFill>
          <a:ln/>
          <a:effectLst>
            <a:outerShdw sx="100000" sy="100000" kx="0" ky="0" algn="bl" rotWithShape="0" blurRad="101600" dist="25400" dir="8100000">
              <a:srgbClr val="000000">
                <a:alpha val="8000"/>
              </a:srgbClr>
            </a:outerShdw>
          </a:effectLst>
        </p:spPr>
      </p:sp>
      <p:sp>
        <p:nvSpPr>
          <p:cNvPr id="12" name="Text 8"/>
          <p:cNvSpPr/>
          <p:nvPr/>
        </p:nvSpPr>
        <p:spPr>
          <a:xfrm>
            <a:off x="594360" y="2011680"/>
            <a:ext cx="384048" cy="384048"/>
          </a:xfrm>
          <a:prstGeom prst="roundRect">
            <a:avLst>
              <a:gd name="adj" fmla="val 19048"/>
            </a:avLst>
          </a:prstGeom>
          <a:solidFill>
            <a:srgbClr val="0E8FA8"/>
          </a:solidFill>
          <a:ln/>
        </p:spPr>
        <p:txBody>
          <a:bodyPr wrap="square" lIns="0" tIns="0" rIns="0" bIns="0" rtlCol="0" anchor="ctr"/>
          <a:lstStyle/>
          <a:p>
            <a:pPr algn="ctr" indent="0" marL="0">
              <a:buNone/>
            </a:pPr>
            <a:r>
              <a:rPr lang="en-US" sz="1800" dirty="0">
                <a:solidFill>
                  <a:srgbClr val="FFFFFF"/>
                </a:solidFill>
                <a:latin typeface="Trebuchet MS" pitchFamily="34" charset="0"/>
                <a:ea typeface="Trebuchet MS" pitchFamily="34" charset="-122"/>
                <a:cs typeface="Trebuchet MS" pitchFamily="34" charset="-120"/>
              </a:rPr>
              <a:t>2</a:t>
            </a:r>
            <a:endParaRPr lang="en-US" sz="1800" dirty="0"/>
          </a:p>
        </p:txBody>
      </p:sp>
      <p:pic>
        <p:nvPicPr>
          <p:cNvPr id="13" name="Image 2" descr="icon_222.sv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43000" y="2075688"/>
            <a:ext cx="256032" cy="256032"/>
          </a:xfrm>
          <a:prstGeom prst="rect">
            <a:avLst/>
          </a:prstGeom>
        </p:spPr>
      </p:pic>
      <p:sp>
        <p:nvSpPr>
          <p:cNvPr id="14" name="Text 9"/>
          <p:cNvSpPr/>
          <p:nvPr/>
        </p:nvSpPr>
        <p:spPr>
          <a:xfrm>
            <a:off x="1554480" y="1956816"/>
            <a:ext cx="3657600" cy="237744"/>
          </a:xfrm>
          <a:prstGeom prst="rect">
            <a:avLst/>
          </a:prstGeom>
          <a:noFill/>
          <a:ln/>
        </p:spPr>
        <p:txBody>
          <a:bodyPr wrap="square" lIns="0" tIns="0" rIns="0" bIns="0" rtlCol="0" anchor="ctr"/>
          <a:lstStyle/>
          <a:p>
            <a:pPr indent="0" marL="0">
              <a:buNone/>
            </a:pPr>
            <a:r>
              <a:rPr lang="en-US" sz="1200" dirty="0">
                <a:solidFill>
                  <a:srgbClr val="1E293B"/>
                </a:solidFill>
                <a:latin typeface="Trebuchet MS" pitchFamily="34" charset="0"/>
                <a:ea typeface="Trebuchet MS" pitchFamily="34" charset="-122"/>
                <a:cs typeface="Trebuchet MS" pitchFamily="34" charset="-120"/>
              </a:rPr>
              <a:t>Master networking fundamentals</a:t>
            </a:r>
            <a:endParaRPr lang="en-US" sz="1200" dirty="0"/>
          </a:p>
        </p:txBody>
      </p:sp>
      <p:sp>
        <p:nvSpPr>
          <p:cNvPr id="15" name="Text 10"/>
          <p:cNvSpPr/>
          <p:nvPr/>
        </p:nvSpPr>
        <p:spPr>
          <a:xfrm>
            <a:off x="1554480" y="2212848"/>
            <a:ext cx="6858000" cy="25603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IPv4 (0-255), TCP/IP packet switching, network device functions</a:t>
            </a:r>
            <a:endParaRPr lang="en-US" sz="1000" dirty="0"/>
          </a:p>
        </p:txBody>
      </p:sp>
      <p:sp>
        <p:nvSpPr>
          <p:cNvPr id="16" name="Shape 11"/>
          <p:cNvSpPr/>
          <p:nvPr/>
        </p:nvSpPr>
        <p:spPr>
          <a:xfrm>
            <a:off x="457200" y="2578608"/>
            <a:ext cx="8229600" cy="640080"/>
          </a:xfrm>
          <a:prstGeom prst="roundRect">
            <a:avLst>
              <a:gd name="adj" fmla="val 8571"/>
            </a:avLst>
          </a:prstGeom>
          <a:solidFill>
            <a:srgbClr val="FFFFFF"/>
          </a:solidFill>
          <a:ln/>
          <a:effectLst>
            <a:outerShdw sx="100000" sy="100000" kx="0" ky="0" algn="bl" rotWithShape="0" blurRad="101600" dist="25400" dir="8100000">
              <a:srgbClr val="000000">
                <a:alpha val="8000"/>
              </a:srgbClr>
            </a:outerShdw>
          </a:effectLst>
        </p:spPr>
      </p:sp>
      <p:sp>
        <p:nvSpPr>
          <p:cNvPr id="17" name="Text 12"/>
          <p:cNvSpPr/>
          <p:nvPr/>
        </p:nvSpPr>
        <p:spPr>
          <a:xfrm>
            <a:off x="594360" y="2706624"/>
            <a:ext cx="384048" cy="384048"/>
          </a:xfrm>
          <a:prstGeom prst="roundRect">
            <a:avLst>
              <a:gd name="adj" fmla="val 19048"/>
            </a:avLst>
          </a:prstGeom>
          <a:solidFill>
            <a:srgbClr val="10A1B4"/>
          </a:solidFill>
          <a:ln/>
        </p:spPr>
        <p:txBody>
          <a:bodyPr wrap="square" lIns="0" tIns="0" rIns="0" bIns="0" rtlCol="0" anchor="ctr"/>
          <a:lstStyle/>
          <a:p>
            <a:pPr algn="ctr" indent="0" marL="0">
              <a:buNone/>
            </a:pPr>
            <a:r>
              <a:rPr lang="en-US" sz="1800" dirty="0">
                <a:solidFill>
                  <a:srgbClr val="FFFFFF"/>
                </a:solidFill>
                <a:latin typeface="Trebuchet MS" pitchFamily="34" charset="0"/>
                <a:ea typeface="Trebuchet MS" pitchFamily="34" charset="-122"/>
                <a:cs typeface="Trebuchet MS" pitchFamily="34" charset="-120"/>
              </a:rPr>
              <a:t>3</a:t>
            </a:r>
            <a:endParaRPr lang="en-US" sz="1800" dirty="0"/>
          </a:p>
        </p:txBody>
      </p:sp>
      <p:pic>
        <p:nvPicPr>
          <p:cNvPr id="18" name="Image 3" descr="icon_223.sv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43000" y="2770632"/>
            <a:ext cx="256032" cy="256032"/>
          </a:xfrm>
          <a:prstGeom prst="rect">
            <a:avLst/>
          </a:prstGeom>
        </p:spPr>
      </p:pic>
      <p:sp>
        <p:nvSpPr>
          <p:cNvPr id="19" name="Text 13"/>
          <p:cNvSpPr/>
          <p:nvPr/>
        </p:nvSpPr>
        <p:spPr>
          <a:xfrm>
            <a:off x="1554480" y="2651760"/>
            <a:ext cx="3657600" cy="237744"/>
          </a:xfrm>
          <a:prstGeom prst="rect">
            <a:avLst/>
          </a:prstGeom>
          <a:noFill/>
          <a:ln/>
        </p:spPr>
        <p:txBody>
          <a:bodyPr wrap="square" lIns="0" tIns="0" rIns="0" bIns="0" rtlCol="0" anchor="ctr"/>
          <a:lstStyle/>
          <a:p>
            <a:pPr indent="0" marL="0">
              <a:buNone/>
            </a:pPr>
            <a:r>
              <a:rPr lang="en-US" sz="1200" dirty="0">
                <a:solidFill>
                  <a:srgbClr val="1E293B"/>
                </a:solidFill>
                <a:latin typeface="Trebuchet MS" pitchFamily="34" charset="0"/>
                <a:ea typeface="Trebuchet MS" pitchFamily="34" charset="-122"/>
                <a:cs typeface="Trebuchet MS" pitchFamily="34" charset="-120"/>
              </a:rPr>
              <a:t>Elaborate ALL written answers</a:t>
            </a:r>
            <a:endParaRPr lang="en-US" sz="1200" dirty="0"/>
          </a:p>
        </p:txBody>
      </p:sp>
      <p:sp>
        <p:nvSpPr>
          <p:cNvPr id="20" name="Text 14"/>
          <p:cNvSpPr/>
          <p:nvPr/>
        </p:nvSpPr>
        <p:spPr>
          <a:xfrm>
            <a:off x="1554480" y="2907792"/>
            <a:ext cx="6858000" cy="25603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Explain reasoning, provide examples, avoid one-word responses</a:t>
            </a:r>
            <a:endParaRPr lang="en-US" sz="1000" dirty="0"/>
          </a:p>
        </p:txBody>
      </p:sp>
      <p:sp>
        <p:nvSpPr>
          <p:cNvPr id="21" name="Shape 15"/>
          <p:cNvSpPr/>
          <p:nvPr/>
        </p:nvSpPr>
        <p:spPr>
          <a:xfrm>
            <a:off x="457200" y="3273552"/>
            <a:ext cx="8229600" cy="640080"/>
          </a:xfrm>
          <a:prstGeom prst="roundRect">
            <a:avLst>
              <a:gd name="adj" fmla="val 8571"/>
            </a:avLst>
          </a:prstGeom>
          <a:solidFill>
            <a:srgbClr val="FFFFFF"/>
          </a:solidFill>
          <a:ln/>
          <a:effectLst>
            <a:outerShdw sx="100000" sy="100000" kx="0" ky="0" algn="bl" rotWithShape="0" blurRad="101600" dist="25400" dir="8100000">
              <a:srgbClr val="000000">
                <a:alpha val="8000"/>
              </a:srgbClr>
            </a:outerShdw>
          </a:effectLst>
        </p:spPr>
      </p:sp>
      <p:sp>
        <p:nvSpPr>
          <p:cNvPr id="22" name="Text 16"/>
          <p:cNvSpPr/>
          <p:nvPr/>
        </p:nvSpPr>
        <p:spPr>
          <a:xfrm>
            <a:off x="594360" y="3401568"/>
            <a:ext cx="384048" cy="384048"/>
          </a:xfrm>
          <a:prstGeom prst="roundRect">
            <a:avLst>
              <a:gd name="adj" fmla="val 19048"/>
            </a:avLst>
          </a:prstGeom>
          <a:solidFill>
            <a:srgbClr val="12B3C0"/>
          </a:solidFill>
          <a:ln/>
        </p:spPr>
        <p:txBody>
          <a:bodyPr wrap="square" lIns="0" tIns="0" rIns="0" bIns="0" rtlCol="0" anchor="ctr"/>
          <a:lstStyle/>
          <a:p>
            <a:pPr algn="ctr" indent="0" marL="0">
              <a:buNone/>
            </a:pPr>
            <a:r>
              <a:rPr lang="en-US" sz="1800" dirty="0">
                <a:solidFill>
                  <a:srgbClr val="FFFFFF"/>
                </a:solidFill>
                <a:latin typeface="Trebuchet MS" pitchFamily="34" charset="0"/>
                <a:ea typeface="Trebuchet MS" pitchFamily="34" charset="-122"/>
                <a:cs typeface="Trebuchet MS" pitchFamily="34" charset="-120"/>
              </a:rPr>
              <a:t>4</a:t>
            </a:r>
            <a:endParaRPr lang="en-US" sz="1800" dirty="0"/>
          </a:p>
        </p:txBody>
      </p:sp>
      <p:pic>
        <p:nvPicPr>
          <p:cNvPr id="23" name="Image 4" descr="icon_224.sv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143000" y="3465576"/>
            <a:ext cx="256032" cy="256032"/>
          </a:xfrm>
          <a:prstGeom prst="rect">
            <a:avLst/>
          </a:prstGeom>
        </p:spPr>
      </p:pic>
      <p:sp>
        <p:nvSpPr>
          <p:cNvPr id="24" name="Text 17"/>
          <p:cNvSpPr/>
          <p:nvPr/>
        </p:nvSpPr>
        <p:spPr>
          <a:xfrm>
            <a:off x="1554480" y="3346704"/>
            <a:ext cx="3657600" cy="237744"/>
          </a:xfrm>
          <a:prstGeom prst="rect">
            <a:avLst/>
          </a:prstGeom>
          <a:noFill/>
          <a:ln/>
        </p:spPr>
        <p:txBody>
          <a:bodyPr wrap="square" lIns="0" tIns="0" rIns="0" bIns="0" rtlCol="0" anchor="ctr"/>
          <a:lstStyle/>
          <a:p>
            <a:pPr indent="0" marL="0">
              <a:buNone/>
            </a:pPr>
            <a:r>
              <a:rPr lang="en-US" sz="1200" dirty="0">
                <a:solidFill>
                  <a:srgbClr val="1E293B"/>
                </a:solidFill>
                <a:latin typeface="Trebuchet MS" pitchFamily="34" charset="0"/>
                <a:ea typeface="Trebuchet MS" pitchFamily="34" charset="-122"/>
                <a:cs typeface="Trebuchet MS" pitchFamily="34" charset="-120"/>
              </a:rPr>
              <a:t>Create comparison tables</a:t>
            </a:r>
            <a:endParaRPr lang="en-US" sz="1200" dirty="0"/>
          </a:p>
        </p:txBody>
      </p:sp>
      <p:sp>
        <p:nvSpPr>
          <p:cNvPr id="25" name="Text 18"/>
          <p:cNvSpPr/>
          <p:nvPr/>
        </p:nvSpPr>
        <p:spPr>
          <a:xfrm>
            <a:off x="1554480" y="3602736"/>
            <a:ext cx="6858000" cy="25603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Virtualisation vs RAID, packet vs circuit switching, normalisation vs denormalisation</a:t>
            </a:r>
            <a:endParaRPr lang="en-US" sz="1000" dirty="0"/>
          </a:p>
        </p:txBody>
      </p:sp>
      <p:sp>
        <p:nvSpPr>
          <p:cNvPr id="26" name="Shape 19"/>
          <p:cNvSpPr/>
          <p:nvPr/>
        </p:nvSpPr>
        <p:spPr>
          <a:xfrm>
            <a:off x="457200" y="3968496"/>
            <a:ext cx="8229600" cy="640080"/>
          </a:xfrm>
          <a:prstGeom prst="roundRect">
            <a:avLst>
              <a:gd name="adj" fmla="val 8571"/>
            </a:avLst>
          </a:prstGeom>
          <a:solidFill>
            <a:srgbClr val="FFFFFF"/>
          </a:solidFill>
          <a:ln/>
          <a:effectLst>
            <a:outerShdw sx="100000" sy="100000" kx="0" ky="0" algn="bl" rotWithShape="0" blurRad="101600" dist="25400" dir="8100000">
              <a:srgbClr val="000000">
                <a:alpha val="8000"/>
              </a:srgbClr>
            </a:outerShdw>
          </a:effectLst>
        </p:spPr>
      </p:sp>
      <p:sp>
        <p:nvSpPr>
          <p:cNvPr id="27" name="Text 20"/>
          <p:cNvSpPr/>
          <p:nvPr/>
        </p:nvSpPr>
        <p:spPr>
          <a:xfrm>
            <a:off x="594360" y="4096512"/>
            <a:ext cx="384048" cy="384048"/>
          </a:xfrm>
          <a:prstGeom prst="roundRect">
            <a:avLst>
              <a:gd name="adj" fmla="val 19048"/>
            </a:avLst>
          </a:prstGeom>
          <a:solidFill>
            <a:srgbClr val="14C5CC"/>
          </a:solidFill>
          <a:ln/>
        </p:spPr>
        <p:txBody>
          <a:bodyPr wrap="square" lIns="0" tIns="0" rIns="0" bIns="0" rtlCol="0" anchor="ctr"/>
          <a:lstStyle/>
          <a:p>
            <a:pPr algn="ctr" indent="0" marL="0">
              <a:buNone/>
            </a:pPr>
            <a:r>
              <a:rPr lang="en-US" sz="1800" dirty="0">
                <a:solidFill>
                  <a:srgbClr val="FFFFFF"/>
                </a:solidFill>
                <a:latin typeface="Trebuchet MS" pitchFamily="34" charset="0"/>
                <a:ea typeface="Trebuchet MS" pitchFamily="34" charset="-122"/>
                <a:cs typeface="Trebuchet MS" pitchFamily="34" charset="-120"/>
              </a:rPr>
              <a:t>5</a:t>
            </a:r>
            <a:endParaRPr lang="en-US" sz="1800" dirty="0"/>
          </a:p>
        </p:txBody>
      </p:sp>
      <p:pic>
        <p:nvPicPr>
          <p:cNvPr id="28" name="Image 5" descr="icon_225.sv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143000" y="4160520"/>
            <a:ext cx="256032" cy="256032"/>
          </a:xfrm>
          <a:prstGeom prst="rect">
            <a:avLst/>
          </a:prstGeom>
        </p:spPr>
      </p:pic>
      <p:sp>
        <p:nvSpPr>
          <p:cNvPr id="29" name="Text 21"/>
          <p:cNvSpPr/>
          <p:nvPr/>
        </p:nvSpPr>
        <p:spPr>
          <a:xfrm>
            <a:off x="1554480" y="4041648"/>
            <a:ext cx="3657600" cy="237744"/>
          </a:xfrm>
          <a:prstGeom prst="rect">
            <a:avLst/>
          </a:prstGeom>
          <a:noFill/>
          <a:ln/>
        </p:spPr>
        <p:txBody>
          <a:bodyPr wrap="square" lIns="0" tIns="0" rIns="0" bIns="0" rtlCol="0" anchor="ctr"/>
          <a:lstStyle/>
          <a:p>
            <a:pPr indent="0" marL="0">
              <a:buNone/>
            </a:pPr>
            <a:r>
              <a:rPr lang="en-US" sz="1200" dirty="0">
                <a:solidFill>
                  <a:srgbClr val="1E293B"/>
                </a:solidFill>
                <a:latin typeface="Trebuchet MS" pitchFamily="34" charset="0"/>
                <a:ea typeface="Trebuchet MS" pitchFamily="34" charset="-122"/>
                <a:cs typeface="Trebuchet MS" pitchFamily="34" charset="-120"/>
              </a:rPr>
              <a:t>Use precise technical terminology</a:t>
            </a:r>
            <a:endParaRPr lang="en-US" sz="1200" dirty="0"/>
          </a:p>
        </p:txBody>
      </p:sp>
      <p:sp>
        <p:nvSpPr>
          <p:cNvPr id="30" name="Text 22"/>
          <p:cNvSpPr/>
          <p:nvPr/>
        </p:nvSpPr>
        <p:spPr>
          <a:xfrm>
            <a:off x="1554480" y="4297680"/>
            <a:ext cx="6858000" cy="25603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Operating system not system, AVERAGE not AVG</a:t>
            </a:r>
            <a:endParaRPr lang="en-US" sz="1000" dirty="0"/>
          </a:p>
        </p:txBody>
      </p:sp>
      <p:sp>
        <p:nvSpPr>
          <p:cNvPr id="31" name="Shape 23"/>
          <p:cNvSpPr/>
          <p:nvPr/>
        </p:nvSpPr>
        <p:spPr>
          <a:xfrm>
            <a:off x="0" y="4800600"/>
            <a:ext cx="9144000" cy="342900"/>
          </a:xfrm>
          <a:prstGeom prst="rect">
            <a:avLst/>
          </a:prstGeom>
          <a:solidFill>
            <a:srgbClr val="E2E8F0"/>
          </a:solidFill>
          <a:ln/>
        </p:spPr>
      </p:sp>
      <p:sp>
        <p:nvSpPr>
          <p:cNvPr id="32" name="Text 24"/>
          <p:cNvSpPr/>
          <p:nvPr/>
        </p:nvSpPr>
        <p:spPr>
          <a:xfrm>
            <a:off x="457200" y="4818888"/>
            <a:ext cx="4572000" cy="274320"/>
          </a:xfrm>
          <a:prstGeom prst="rect">
            <a:avLst/>
          </a:prstGeom>
          <a:noFill/>
          <a:ln/>
        </p:spPr>
        <p:txBody>
          <a:bodyPr wrap="square" lIns="0" tIns="0" rIns="0" bIns="0" rtlCol="0" anchor="ctr"/>
          <a:lstStyle/>
          <a:p>
            <a:pPr indent="0" marL="0">
              <a:buNone/>
            </a:pPr>
            <a:r>
              <a:rPr lang="en-US" sz="700" dirty="0">
                <a:solidFill>
                  <a:srgbClr val="94A3B8"/>
                </a:solidFill>
                <a:latin typeface="Calibri" pitchFamily="34" charset="0"/>
                <a:ea typeface="Calibri" pitchFamily="34" charset="-122"/>
                <a:cs typeface="Calibri" pitchFamily="34" charset="-120"/>
              </a:rPr>
              <a:t>HKDSE ICT 2025 Exam Skills Masterclass</a:t>
            </a:r>
            <a:endParaRPr lang="en-US" sz="700" dirty="0"/>
          </a:p>
        </p:txBody>
      </p:sp>
      <p:sp>
        <p:nvSpPr>
          <p:cNvPr id="25" name="Slide Number Placeholder 0"/>
          <p:cNvSpPr>
            <a:spLocks noGrp="1"/>
          </p:cNvSpPr>
          <p:nvPr>
            <p:ph type="sldNum" sz="quarter" idx="4294967295"/>
          </p:nvPr>
        </p:nvSpPr>
        <p:spPr>
          <a:xfrm>
            <a:off x="8503920" y="4886325"/>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Calibri"/>
                <a:ea typeface="Calibri"/>
                <a:cs typeface="Calibri"/>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0F7F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1628"/>
          </a:solidFill>
          <a:ln/>
        </p:spPr>
      </p:sp>
      <p:pic>
        <p:nvPicPr>
          <p:cNvPr id="3" name="Image 0" descr="icon_226.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57200" y="201168"/>
            <a:ext cx="365760" cy="365760"/>
          </a:xfrm>
          <a:prstGeom prst="rect">
            <a:avLst/>
          </a:prstGeom>
        </p:spPr>
      </p:pic>
      <p:sp>
        <p:nvSpPr>
          <p:cNvPr id="4" name="Text 1"/>
          <p:cNvSpPr/>
          <p:nvPr/>
        </p:nvSpPr>
        <p:spPr>
          <a:xfrm>
            <a:off x="960120" y="137160"/>
            <a:ext cx="7772400" cy="502920"/>
          </a:xfrm>
          <a:prstGeom prst="rect">
            <a:avLst/>
          </a:prstGeom>
          <a:noFill/>
          <a:ln/>
        </p:spPr>
        <p:txBody>
          <a:bodyPr wrap="square" lIns="0" tIns="0" rIns="0" bIns="0" rtlCol="0" anchor="ctr"/>
          <a:lstStyle/>
          <a:p>
            <a:pPr indent="0" marL="0">
              <a:buNone/>
            </a:pPr>
            <a:r>
              <a:rPr lang="en-US" sz="2200" dirty="0">
                <a:solidFill>
                  <a:srgbClr val="FFFFFF"/>
                </a:solidFill>
                <a:latin typeface="Trebuchet MS" pitchFamily="34" charset="0"/>
                <a:ea typeface="Trebuchet MS" pitchFamily="34" charset="-122"/>
                <a:cs typeface="Trebuchet MS" pitchFamily="34" charset="-120"/>
              </a:rPr>
              <a:t>Strategies 6–10 &amp; Quick-Fire Revision Checklist</a:t>
            </a:r>
            <a:endParaRPr lang="en-US" sz="2200" dirty="0"/>
          </a:p>
        </p:txBody>
      </p:sp>
      <p:sp>
        <p:nvSpPr>
          <p:cNvPr id="5" name="Text 2"/>
          <p:cNvSpPr/>
          <p:nvPr/>
        </p:nvSpPr>
        <p:spPr>
          <a:xfrm>
            <a:off x="960120" y="594360"/>
            <a:ext cx="7772400" cy="274320"/>
          </a:xfrm>
          <a:prstGeom prst="rect">
            <a:avLst/>
          </a:prstGeom>
          <a:noFill/>
          <a:ln/>
        </p:spPr>
        <p:txBody>
          <a:bodyPr wrap="square" lIns="0" tIns="0" rIns="0" bIns="0" rtlCol="0" anchor="ctr"/>
          <a:lstStyle/>
          <a:p>
            <a:pPr indent="0" marL="0">
              <a:buNone/>
            </a:pPr>
            <a:r>
              <a:rPr lang="en-US" sz="1200" dirty="0">
                <a:solidFill>
                  <a:srgbClr val="B8D4E3"/>
                </a:solidFill>
                <a:latin typeface="Calibri" pitchFamily="34" charset="0"/>
                <a:ea typeface="Calibri" pitchFamily="34" charset="-122"/>
                <a:cs typeface="Calibri" pitchFamily="34" charset="-120"/>
              </a:rPr>
              <a:t>Your Action Plan Starting Today</a:t>
            </a:r>
            <a:endParaRPr lang="en-US" sz="1200" dirty="0"/>
          </a:p>
        </p:txBody>
      </p:sp>
      <p:sp>
        <p:nvSpPr>
          <p:cNvPr id="6" name="Shape 3"/>
          <p:cNvSpPr/>
          <p:nvPr/>
        </p:nvSpPr>
        <p:spPr>
          <a:xfrm>
            <a:off x="457200" y="1188720"/>
            <a:ext cx="8229600" cy="640080"/>
          </a:xfrm>
          <a:prstGeom prst="roundRect">
            <a:avLst>
              <a:gd name="adj" fmla="val 8571"/>
            </a:avLst>
          </a:prstGeom>
          <a:solidFill>
            <a:srgbClr val="FFFFFF"/>
          </a:solidFill>
          <a:ln/>
          <a:effectLst>
            <a:outerShdw sx="100000" sy="100000" kx="0" ky="0" algn="bl" rotWithShape="0" blurRad="101600" dist="25400" dir="8100000">
              <a:srgbClr val="000000">
                <a:alpha val="8000"/>
              </a:srgbClr>
            </a:outerShdw>
          </a:effectLst>
        </p:spPr>
      </p:sp>
      <p:sp>
        <p:nvSpPr>
          <p:cNvPr id="7" name="Text 4"/>
          <p:cNvSpPr/>
          <p:nvPr/>
        </p:nvSpPr>
        <p:spPr>
          <a:xfrm>
            <a:off x="594360" y="1316736"/>
            <a:ext cx="384048" cy="384048"/>
          </a:xfrm>
          <a:prstGeom prst="roundRect">
            <a:avLst>
              <a:gd name="adj" fmla="val 19048"/>
            </a:avLst>
          </a:prstGeom>
          <a:solidFill>
            <a:srgbClr val="14C5CC"/>
          </a:solidFill>
          <a:ln/>
        </p:spPr>
        <p:txBody>
          <a:bodyPr wrap="square" lIns="0" tIns="0" rIns="0" bIns="0" rtlCol="0" anchor="ctr"/>
          <a:lstStyle/>
          <a:p>
            <a:pPr algn="ctr" indent="0" marL="0">
              <a:buNone/>
            </a:pPr>
            <a:r>
              <a:rPr lang="en-US" sz="1600" dirty="0">
                <a:solidFill>
                  <a:srgbClr val="0A1628"/>
                </a:solidFill>
                <a:latin typeface="Trebuchet MS" pitchFamily="34" charset="0"/>
                <a:ea typeface="Trebuchet MS" pitchFamily="34" charset="-122"/>
                <a:cs typeface="Trebuchet MS" pitchFamily="34" charset="-120"/>
              </a:rPr>
              <a:t>6</a:t>
            </a:r>
            <a:endParaRPr lang="en-US" sz="1600" dirty="0"/>
          </a:p>
        </p:txBody>
      </p:sp>
      <p:pic>
        <p:nvPicPr>
          <p:cNvPr id="8" name="Image 1" descr="icon_227.sv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43000" y="1380744"/>
            <a:ext cx="256032" cy="256032"/>
          </a:xfrm>
          <a:prstGeom prst="rect">
            <a:avLst/>
          </a:prstGeom>
        </p:spPr>
      </p:pic>
      <p:sp>
        <p:nvSpPr>
          <p:cNvPr id="9" name="Text 5"/>
          <p:cNvSpPr/>
          <p:nvPr/>
        </p:nvSpPr>
        <p:spPr>
          <a:xfrm>
            <a:off x="1554480" y="1261872"/>
            <a:ext cx="4114800" cy="237744"/>
          </a:xfrm>
          <a:prstGeom prst="rect">
            <a:avLst/>
          </a:prstGeom>
          <a:noFill/>
          <a:ln/>
        </p:spPr>
        <p:txBody>
          <a:bodyPr wrap="square" lIns="0" tIns="0" rIns="0" bIns="0" rtlCol="0" anchor="ctr"/>
          <a:lstStyle/>
          <a:p>
            <a:pPr indent="0" marL="0">
              <a:buNone/>
            </a:pPr>
            <a:r>
              <a:rPr lang="en-US" sz="1200" dirty="0">
                <a:solidFill>
                  <a:srgbClr val="1E293B"/>
                </a:solidFill>
                <a:latin typeface="Trebuchet MS" pitchFamily="34" charset="0"/>
                <a:ea typeface="Trebuchet MS" pitchFamily="34" charset="-122"/>
                <a:cs typeface="Trebuchet MS" pitchFamily="34" charset="-120"/>
              </a:rPr>
              <a:t>Practise unit conversions</a:t>
            </a:r>
            <a:endParaRPr lang="en-US" sz="1200" dirty="0"/>
          </a:p>
        </p:txBody>
      </p:sp>
      <p:sp>
        <p:nvSpPr>
          <p:cNvPr id="10" name="Text 6"/>
          <p:cNvSpPr/>
          <p:nvPr/>
        </p:nvSpPr>
        <p:spPr>
          <a:xfrm>
            <a:off x="1554480" y="1517904"/>
            <a:ext cx="6858000" cy="25603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Byte-to-bit (×8), bandwidth calculations, always include units</a:t>
            </a:r>
            <a:endParaRPr lang="en-US" sz="1000" dirty="0"/>
          </a:p>
        </p:txBody>
      </p:sp>
      <p:sp>
        <p:nvSpPr>
          <p:cNvPr id="11" name="Shape 7"/>
          <p:cNvSpPr/>
          <p:nvPr/>
        </p:nvSpPr>
        <p:spPr>
          <a:xfrm>
            <a:off x="457200" y="1883664"/>
            <a:ext cx="8229600" cy="640080"/>
          </a:xfrm>
          <a:prstGeom prst="roundRect">
            <a:avLst>
              <a:gd name="adj" fmla="val 8571"/>
            </a:avLst>
          </a:prstGeom>
          <a:solidFill>
            <a:srgbClr val="FFFFFF"/>
          </a:solidFill>
          <a:ln/>
          <a:effectLst>
            <a:outerShdw sx="100000" sy="100000" kx="0" ky="0" algn="bl" rotWithShape="0" blurRad="101600" dist="25400" dir="8100000">
              <a:srgbClr val="000000">
                <a:alpha val="8000"/>
              </a:srgbClr>
            </a:outerShdw>
          </a:effectLst>
        </p:spPr>
      </p:sp>
      <p:sp>
        <p:nvSpPr>
          <p:cNvPr id="12" name="Text 8"/>
          <p:cNvSpPr/>
          <p:nvPr/>
        </p:nvSpPr>
        <p:spPr>
          <a:xfrm>
            <a:off x="594360" y="2011680"/>
            <a:ext cx="384048" cy="384048"/>
          </a:xfrm>
          <a:prstGeom prst="roundRect">
            <a:avLst>
              <a:gd name="adj" fmla="val 19048"/>
            </a:avLst>
          </a:prstGeom>
          <a:solidFill>
            <a:srgbClr val="16D7D8"/>
          </a:solidFill>
          <a:ln/>
        </p:spPr>
        <p:txBody>
          <a:bodyPr wrap="square" lIns="0" tIns="0" rIns="0" bIns="0" rtlCol="0" anchor="ctr"/>
          <a:lstStyle/>
          <a:p>
            <a:pPr algn="ctr" indent="0" marL="0">
              <a:buNone/>
            </a:pPr>
            <a:r>
              <a:rPr lang="en-US" sz="1600" dirty="0">
                <a:solidFill>
                  <a:srgbClr val="0A1628"/>
                </a:solidFill>
                <a:latin typeface="Trebuchet MS" pitchFamily="34" charset="0"/>
                <a:ea typeface="Trebuchet MS" pitchFamily="34" charset="-122"/>
                <a:cs typeface="Trebuchet MS" pitchFamily="34" charset="-120"/>
              </a:rPr>
              <a:t>7</a:t>
            </a:r>
            <a:endParaRPr lang="en-US" sz="1600" dirty="0"/>
          </a:p>
        </p:txBody>
      </p:sp>
      <p:pic>
        <p:nvPicPr>
          <p:cNvPr id="13" name="Image 2" descr="icon_228.sv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43000" y="2075688"/>
            <a:ext cx="256032" cy="256032"/>
          </a:xfrm>
          <a:prstGeom prst="rect">
            <a:avLst/>
          </a:prstGeom>
        </p:spPr>
      </p:pic>
      <p:sp>
        <p:nvSpPr>
          <p:cNvPr id="14" name="Text 9"/>
          <p:cNvSpPr/>
          <p:nvPr/>
        </p:nvSpPr>
        <p:spPr>
          <a:xfrm>
            <a:off x="1554480" y="1956816"/>
            <a:ext cx="4114800" cy="237744"/>
          </a:xfrm>
          <a:prstGeom prst="rect">
            <a:avLst/>
          </a:prstGeom>
          <a:noFill/>
          <a:ln/>
        </p:spPr>
        <p:txBody>
          <a:bodyPr wrap="square" lIns="0" tIns="0" rIns="0" bIns="0" rtlCol="0" anchor="ctr"/>
          <a:lstStyle/>
          <a:p>
            <a:pPr indent="0" marL="0">
              <a:buNone/>
            </a:pPr>
            <a:r>
              <a:rPr lang="en-US" sz="1200" dirty="0">
                <a:solidFill>
                  <a:srgbClr val="1E293B"/>
                </a:solidFill>
                <a:latin typeface="Trebuchet MS" pitchFamily="34" charset="0"/>
                <a:ea typeface="Trebuchet MS" pitchFamily="34" charset="-122"/>
                <a:cs typeface="Trebuchet MS" pitchFamily="34" charset="-120"/>
              </a:rPr>
              <a:t>Study AI/ML concepts</a:t>
            </a:r>
            <a:endParaRPr lang="en-US" sz="1200" dirty="0"/>
          </a:p>
        </p:txBody>
      </p:sp>
      <p:sp>
        <p:nvSpPr>
          <p:cNvPr id="15" name="Text 10"/>
          <p:cNvSpPr/>
          <p:nvPr/>
        </p:nvSpPr>
        <p:spPr>
          <a:xfrm>
            <a:off x="1554480" y="2212848"/>
            <a:ext cx="6858000" cy="25603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Training data selection, model evaluation, practical use cases</a:t>
            </a:r>
            <a:endParaRPr lang="en-US" sz="1000" dirty="0"/>
          </a:p>
        </p:txBody>
      </p:sp>
      <p:sp>
        <p:nvSpPr>
          <p:cNvPr id="16" name="Shape 11"/>
          <p:cNvSpPr/>
          <p:nvPr/>
        </p:nvSpPr>
        <p:spPr>
          <a:xfrm>
            <a:off x="457200" y="2578608"/>
            <a:ext cx="8229600" cy="640080"/>
          </a:xfrm>
          <a:prstGeom prst="roundRect">
            <a:avLst>
              <a:gd name="adj" fmla="val 8571"/>
            </a:avLst>
          </a:prstGeom>
          <a:solidFill>
            <a:srgbClr val="FFFFFF"/>
          </a:solidFill>
          <a:ln/>
          <a:effectLst>
            <a:outerShdw sx="100000" sy="100000" kx="0" ky="0" algn="bl" rotWithShape="0" blurRad="101600" dist="25400" dir="8100000">
              <a:srgbClr val="000000">
                <a:alpha val="8000"/>
              </a:srgbClr>
            </a:outerShdw>
          </a:effectLst>
        </p:spPr>
      </p:sp>
      <p:sp>
        <p:nvSpPr>
          <p:cNvPr id="17" name="Text 12"/>
          <p:cNvSpPr/>
          <p:nvPr/>
        </p:nvSpPr>
        <p:spPr>
          <a:xfrm>
            <a:off x="594360" y="2706624"/>
            <a:ext cx="384048" cy="384048"/>
          </a:xfrm>
          <a:prstGeom prst="roundRect">
            <a:avLst>
              <a:gd name="adj" fmla="val 19048"/>
            </a:avLst>
          </a:prstGeom>
          <a:solidFill>
            <a:srgbClr val="18E9E4"/>
          </a:solidFill>
          <a:ln/>
        </p:spPr>
        <p:txBody>
          <a:bodyPr wrap="square" lIns="0" tIns="0" rIns="0" bIns="0" rtlCol="0" anchor="ctr"/>
          <a:lstStyle/>
          <a:p>
            <a:pPr algn="ctr" indent="0" marL="0">
              <a:buNone/>
            </a:pPr>
            <a:r>
              <a:rPr lang="en-US" sz="1600" dirty="0">
                <a:solidFill>
                  <a:srgbClr val="0A1628"/>
                </a:solidFill>
                <a:latin typeface="Trebuchet MS" pitchFamily="34" charset="0"/>
                <a:ea typeface="Trebuchet MS" pitchFamily="34" charset="-122"/>
                <a:cs typeface="Trebuchet MS" pitchFamily="34" charset="-120"/>
              </a:rPr>
              <a:t>8</a:t>
            </a:r>
            <a:endParaRPr lang="en-US" sz="1600" dirty="0"/>
          </a:p>
        </p:txBody>
      </p:sp>
      <p:pic>
        <p:nvPicPr>
          <p:cNvPr id="18" name="Image 3" descr="icon_229.sv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43000" y="2770632"/>
            <a:ext cx="256032" cy="256032"/>
          </a:xfrm>
          <a:prstGeom prst="rect">
            <a:avLst/>
          </a:prstGeom>
        </p:spPr>
      </p:pic>
      <p:sp>
        <p:nvSpPr>
          <p:cNvPr id="19" name="Text 13"/>
          <p:cNvSpPr/>
          <p:nvPr/>
        </p:nvSpPr>
        <p:spPr>
          <a:xfrm>
            <a:off x="1554480" y="2651760"/>
            <a:ext cx="4114800" cy="237744"/>
          </a:xfrm>
          <a:prstGeom prst="rect">
            <a:avLst/>
          </a:prstGeom>
          <a:noFill/>
          <a:ln/>
        </p:spPr>
        <p:txBody>
          <a:bodyPr wrap="square" lIns="0" tIns="0" rIns="0" bIns="0" rtlCol="0" anchor="ctr"/>
          <a:lstStyle/>
          <a:p>
            <a:pPr indent="0" marL="0">
              <a:buNone/>
            </a:pPr>
            <a:r>
              <a:rPr lang="en-US" sz="1200" dirty="0">
                <a:solidFill>
                  <a:srgbClr val="1E293B"/>
                </a:solidFill>
                <a:latin typeface="Trebuchet MS" pitchFamily="34" charset="0"/>
                <a:ea typeface="Trebuchet MS" pitchFamily="34" charset="-122"/>
                <a:cs typeface="Trebuchet MS" pitchFamily="34" charset="-120"/>
              </a:rPr>
              <a:t>Strengthen CSS &amp; web technology</a:t>
            </a:r>
            <a:endParaRPr lang="en-US" sz="1200" dirty="0"/>
          </a:p>
        </p:txBody>
      </p:sp>
      <p:sp>
        <p:nvSpPr>
          <p:cNvPr id="20" name="Text 14"/>
          <p:cNvSpPr/>
          <p:nvPr/>
        </p:nvSpPr>
        <p:spPr>
          <a:xfrm>
            <a:off x="1554480" y="2907792"/>
            <a:ext cx="6858000" cy="25603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External vs inline CSS, display size vs file size</a:t>
            </a:r>
            <a:endParaRPr lang="en-US" sz="1000" dirty="0"/>
          </a:p>
        </p:txBody>
      </p:sp>
      <p:sp>
        <p:nvSpPr>
          <p:cNvPr id="21" name="Shape 15"/>
          <p:cNvSpPr/>
          <p:nvPr/>
        </p:nvSpPr>
        <p:spPr>
          <a:xfrm>
            <a:off x="457200" y="3273552"/>
            <a:ext cx="8229600" cy="640080"/>
          </a:xfrm>
          <a:prstGeom prst="roundRect">
            <a:avLst>
              <a:gd name="adj" fmla="val 8571"/>
            </a:avLst>
          </a:prstGeom>
          <a:solidFill>
            <a:srgbClr val="FFFFFF"/>
          </a:solidFill>
          <a:ln/>
          <a:effectLst>
            <a:outerShdw sx="100000" sy="100000" kx="0" ky="0" algn="bl" rotWithShape="0" blurRad="101600" dist="25400" dir="8100000">
              <a:srgbClr val="000000">
                <a:alpha val="8000"/>
              </a:srgbClr>
            </a:outerShdw>
          </a:effectLst>
        </p:spPr>
      </p:sp>
      <p:sp>
        <p:nvSpPr>
          <p:cNvPr id="22" name="Text 16"/>
          <p:cNvSpPr/>
          <p:nvPr/>
        </p:nvSpPr>
        <p:spPr>
          <a:xfrm>
            <a:off x="594360" y="3401568"/>
            <a:ext cx="384048" cy="384048"/>
          </a:xfrm>
          <a:prstGeom prst="roundRect">
            <a:avLst>
              <a:gd name="adj" fmla="val 19048"/>
            </a:avLst>
          </a:prstGeom>
          <a:solidFill>
            <a:srgbClr val="1AFBF0"/>
          </a:solidFill>
          <a:ln/>
        </p:spPr>
        <p:txBody>
          <a:bodyPr wrap="square" lIns="0" tIns="0" rIns="0" bIns="0" rtlCol="0" anchor="ctr"/>
          <a:lstStyle/>
          <a:p>
            <a:pPr algn="ctr" indent="0" marL="0">
              <a:buNone/>
            </a:pPr>
            <a:r>
              <a:rPr lang="en-US" sz="1600" dirty="0">
                <a:solidFill>
                  <a:srgbClr val="0A1628"/>
                </a:solidFill>
                <a:latin typeface="Trebuchet MS" pitchFamily="34" charset="0"/>
                <a:ea typeface="Trebuchet MS" pitchFamily="34" charset="-122"/>
                <a:cs typeface="Trebuchet MS" pitchFamily="34" charset="-120"/>
              </a:rPr>
              <a:t>9</a:t>
            </a:r>
            <a:endParaRPr lang="en-US" sz="1600" dirty="0"/>
          </a:p>
        </p:txBody>
      </p:sp>
      <p:pic>
        <p:nvPicPr>
          <p:cNvPr id="23" name="Image 4" descr="icon_230.sv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143000" y="3465576"/>
            <a:ext cx="256032" cy="256032"/>
          </a:xfrm>
          <a:prstGeom prst="rect">
            <a:avLst/>
          </a:prstGeom>
        </p:spPr>
      </p:pic>
      <p:sp>
        <p:nvSpPr>
          <p:cNvPr id="24" name="Text 17"/>
          <p:cNvSpPr/>
          <p:nvPr/>
        </p:nvSpPr>
        <p:spPr>
          <a:xfrm>
            <a:off x="1554480" y="3346704"/>
            <a:ext cx="4114800" cy="237744"/>
          </a:xfrm>
          <a:prstGeom prst="rect">
            <a:avLst/>
          </a:prstGeom>
          <a:noFill/>
          <a:ln/>
        </p:spPr>
        <p:txBody>
          <a:bodyPr wrap="square" lIns="0" tIns="0" rIns="0" bIns="0" rtlCol="0" anchor="ctr"/>
          <a:lstStyle/>
          <a:p>
            <a:pPr indent="0" marL="0">
              <a:buNone/>
            </a:pPr>
            <a:r>
              <a:rPr lang="en-US" sz="1200" dirty="0">
                <a:solidFill>
                  <a:srgbClr val="1E293B"/>
                </a:solidFill>
                <a:latin typeface="Trebuchet MS" pitchFamily="34" charset="0"/>
                <a:ea typeface="Trebuchet MS" pitchFamily="34" charset="-122"/>
                <a:cs typeface="Trebuchet MS" pitchFamily="34" charset="-120"/>
              </a:rPr>
              <a:t>Practise database normalisation end-to-end</a:t>
            </a:r>
            <a:endParaRPr lang="en-US" sz="1200" dirty="0"/>
          </a:p>
        </p:txBody>
      </p:sp>
      <p:sp>
        <p:nvSpPr>
          <p:cNvPr id="25" name="Text 18"/>
          <p:cNvSpPr/>
          <p:nvPr/>
        </p:nvSpPr>
        <p:spPr>
          <a:xfrm>
            <a:off x="1554480" y="3602736"/>
            <a:ext cx="6858000" cy="25603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1NF to 3NF with correct attributes and primary keys</a:t>
            </a:r>
            <a:endParaRPr lang="en-US" sz="1000" dirty="0"/>
          </a:p>
        </p:txBody>
      </p:sp>
      <p:sp>
        <p:nvSpPr>
          <p:cNvPr id="26" name="Shape 19"/>
          <p:cNvSpPr/>
          <p:nvPr/>
        </p:nvSpPr>
        <p:spPr>
          <a:xfrm>
            <a:off x="457200" y="3968496"/>
            <a:ext cx="8229600" cy="640080"/>
          </a:xfrm>
          <a:prstGeom prst="roundRect">
            <a:avLst>
              <a:gd name="adj" fmla="val 8571"/>
            </a:avLst>
          </a:prstGeom>
          <a:solidFill>
            <a:srgbClr val="FFFFFF"/>
          </a:solidFill>
          <a:ln/>
          <a:effectLst>
            <a:outerShdw sx="100000" sy="100000" kx="0" ky="0" algn="bl" rotWithShape="0" blurRad="101600" dist="25400" dir="8100000">
              <a:srgbClr val="000000">
                <a:alpha val="8000"/>
              </a:srgbClr>
            </a:outerShdw>
          </a:effectLst>
        </p:spPr>
      </p:sp>
      <p:sp>
        <p:nvSpPr>
          <p:cNvPr id="27" name="Text 20"/>
          <p:cNvSpPr/>
          <p:nvPr/>
        </p:nvSpPr>
        <p:spPr>
          <a:xfrm>
            <a:off x="594360" y="4096512"/>
            <a:ext cx="384048" cy="384048"/>
          </a:xfrm>
          <a:prstGeom prst="roundRect">
            <a:avLst>
              <a:gd name="adj" fmla="val 19048"/>
            </a:avLst>
          </a:prstGeom>
          <a:solidFill>
            <a:srgbClr val="06D6A0"/>
          </a:solidFill>
          <a:ln/>
        </p:spPr>
        <p:txBody>
          <a:bodyPr wrap="square" lIns="0" tIns="0" rIns="0" bIns="0" rtlCol="0" anchor="ctr"/>
          <a:lstStyle/>
          <a:p>
            <a:pPr algn="ctr" indent="0" marL="0">
              <a:buNone/>
            </a:pPr>
            <a:r>
              <a:rPr lang="en-US" sz="1600" dirty="0">
                <a:solidFill>
                  <a:srgbClr val="0A1628"/>
                </a:solidFill>
                <a:latin typeface="Trebuchet MS" pitchFamily="34" charset="0"/>
                <a:ea typeface="Trebuchet MS" pitchFamily="34" charset="-122"/>
                <a:cs typeface="Trebuchet MS" pitchFamily="34" charset="-120"/>
              </a:rPr>
              <a:t>10</a:t>
            </a:r>
            <a:endParaRPr lang="en-US" sz="1600" dirty="0"/>
          </a:p>
        </p:txBody>
      </p:sp>
      <p:pic>
        <p:nvPicPr>
          <p:cNvPr id="28" name="Image 5" descr="icon_231.sv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143000" y="4160520"/>
            <a:ext cx="256032" cy="256032"/>
          </a:xfrm>
          <a:prstGeom prst="rect">
            <a:avLst/>
          </a:prstGeom>
        </p:spPr>
      </p:pic>
      <p:sp>
        <p:nvSpPr>
          <p:cNvPr id="29" name="Text 21"/>
          <p:cNvSpPr/>
          <p:nvPr/>
        </p:nvSpPr>
        <p:spPr>
          <a:xfrm>
            <a:off x="1554480" y="4041648"/>
            <a:ext cx="4114800" cy="237744"/>
          </a:xfrm>
          <a:prstGeom prst="rect">
            <a:avLst/>
          </a:prstGeom>
          <a:noFill/>
          <a:ln/>
        </p:spPr>
        <p:txBody>
          <a:bodyPr wrap="square" lIns="0" tIns="0" rIns="0" bIns="0" rtlCol="0" anchor="ctr"/>
          <a:lstStyle/>
          <a:p>
            <a:pPr indent="0" marL="0">
              <a:buNone/>
            </a:pPr>
            <a:r>
              <a:rPr lang="en-US" sz="1200" dirty="0">
                <a:solidFill>
                  <a:srgbClr val="1E293B"/>
                </a:solidFill>
                <a:latin typeface="Trebuchet MS" pitchFamily="34" charset="0"/>
                <a:ea typeface="Trebuchet MS" pitchFamily="34" charset="-122"/>
                <a:cs typeface="Trebuchet MS" pitchFamily="34" charset="-120"/>
              </a:rPr>
              <a:t>Learn correct spreadsheet function names</a:t>
            </a:r>
            <a:endParaRPr lang="en-US" sz="1200" dirty="0"/>
          </a:p>
        </p:txBody>
      </p:sp>
      <p:sp>
        <p:nvSpPr>
          <p:cNvPr id="30" name="Text 22"/>
          <p:cNvSpPr/>
          <p:nvPr/>
        </p:nvSpPr>
        <p:spPr>
          <a:xfrm>
            <a:off x="1554480" y="4297680"/>
            <a:ext cx="6858000" cy="25603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AVERAGE not AVG, master &amp; concatenation operator</a:t>
            </a:r>
            <a:endParaRPr lang="en-US" sz="1000" dirty="0"/>
          </a:p>
        </p:txBody>
      </p:sp>
      <p:sp>
        <p:nvSpPr>
          <p:cNvPr id="31" name="Shape 23"/>
          <p:cNvSpPr/>
          <p:nvPr/>
        </p:nvSpPr>
        <p:spPr>
          <a:xfrm>
            <a:off x="0" y="4800600"/>
            <a:ext cx="9144000" cy="342900"/>
          </a:xfrm>
          <a:prstGeom prst="rect">
            <a:avLst/>
          </a:prstGeom>
          <a:solidFill>
            <a:srgbClr val="E2E8F0"/>
          </a:solidFill>
          <a:ln/>
        </p:spPr>
      </p:sp>
      <p:sp>
        <p:nvSpPr>
          <p:cNvPr id="32" name="Text 24"/>
          <p:cNvSpPr/>
          <p:nvPr/>
        </p:nvSpPr>
        <p:spPr>
          <a:xfrm>
            <a:off x="457200" y="4818888"/>
            <a:ext cx="4572000" cy="274320"/>
          </a:xfrm>
          <a:prstGeom prst="rect">
            <a:avLst/>
          </a:prstGeom>
          <a:noFill/>
          <a:ln/>
        </p:spPr>
        <p:txBody>
          <a:bodyPr wrap="square" lIns="0" tIns="0" rIns="0" bIns="0" rtlCol="0" anchor="ctr"/>
          <a:lstStyle/>
          <a:p>
            <a:pPr indent="0" marL="0">
              <a:buNone/>
            </a:pPr>
            <a:r>
              <a:rPr lang="en-US" sz="700" dirty="0">
                <a:solidFill>
                  <a:srgbClr val="94A3B8"/>
                </a:solidFill>
                <a:latin typeface="Calibri" pitchFamily="34" charset="0"/>
                <a:ea typeface="Calibri" pitchFamily="34" charset="-122"/>
                <a:cs typeface="Calibri" pitchFamily="34" charset="-120"/>
              </a:rPr>
              <a:t>HKDSE ICT 2025 Exam Skills Masterclass</a:t>
            </a:r>
            <a:endParaRPr lang="en-US" sz="700" dirty="0"/>
          </a:p>
        </p:txBody>
      </p:sp>
      <p:sp>
        <p:nvSpPr>
          <p:cNvPr id="25" name="Slide Number Placeholder 0"/>
          <p:cNvSpPr>
            <a:spLocks noGrp="1"/>
          </p:cNvSpPr>
          <p:nvPr>
            <p:ph type="sldNum" sz="quarter" idx="4294967295"/>
          </p:nvPr>
        </p:nvSpPr>
        <p:spPr>
          <a:xfrm>
            <a:off x="8503920" y="4886325"/>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Calibri"/>
                <a:ea typeface="Calibri"/>
                <a:cs typeface="Calibri"/>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1371600" y="-914400"/>
            <a:ext cx="3657600" cy="3657600"/>
          </a:xfrm>
          <a:prstGeom prst="ellipse">
            <a:avLst/>
          </a:prstGeom>
          <a:solidFill>
            <a:srgbClr val="0C7C9B">
              <a:alpha val="10000"/>
            </a:srgbClr>
          </a:solidFill>
          <a:ln/>
        </p:spPr>
      </p:sp>
      <p:sp>
        <p:nvSpPr>
          <p:cNvPr id="3" name="Shape 1"/>
          <p:cNvSpPr/>
          <p:nvPr/>
        </p:nvSpPr>
        <p:spPr>
          <a:xfrm>
            <a:off x="6858000" y="2743200"/>
            <a:ext cx="3657600" cy="3657600"/>
          </a:xfrm>
          <a:prstGeom prst="ellipse">
            <a:avLst/>
          </a:prstGeom>
          <a:solidFill>
            <a:srgbClr val="14B8A6">
              <a:alpha val="8000"/>
            </a:srgbClr>
          </a:solidFill>
          <a:ln/>
        </p:spPr>
      </p:sp>
      <p:pic>
        <p:nvPicPr>
          <p:cNvPr id="4" name="Image 0" descr="icon_232.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57200" y="274320"/>
            <a:ext cx="411480" cy="411480"/>
          </a:xfrm>
          <a:prstGeom prst="rect">
            <a:avLst/>
          </a:prstGeom>
        </p:spPr>
      </p:pic>
      <p:sp>
        <p:nvSpPr>
          <p:cNvPr id="5" name="Text 2"/>
          <p:cNvSpPr/>
          <p:nvPr/>
        </p:nvSpPr>
        <p:spPr>
          <a:xfrm>
            <a:off x="1005840" y="228600"/>
            <a:ext cx="7315200" cy="502920"/>
          </a:xfrm>
          <a:prstGeom prst="rect">
            <a:avLst/>
          </a:prstGeom>
          <a:noFill/>
          <a:ln/>
        </p:spPr>
        <p:txBody>
          <a:bodyPr wrap="square" lIns="0" tIns="0" rIns="0" bIns="0" rtlCol="0" anchor="ctr"/>
          <a:lstStyle/>
          <a:p>
            <a:pPr indent="0" marL="0">
              <a:buNone/>
            </a:pPr>
            <a:r>
              <a:rPr lang="en-US" sz="2600" dirty="0">
                <a:solidFill>
                  <a:srgbClr val="FFFFFF"/>
                </a:solidFill>
                <a:latin typeface="Trebuchet MS" pitchFamily="34" charset="0"/>
                <a:ea typeface="Trebuchet MS" pitchFamily="34" charset="-122"/>
                <a:cs typeface="Trebuchet MS" pitchFamily="34" charset="-120"/>
              </a:rPr>
              <a:t>Summary &amp; Next Steps</a:t>
            </a:r>
            <a:endParaRPr lang="en-US" sz="2600" dirty="0"/>
          </a:p>
        </p:txBody>
      </p:sp>
      <p:sp>
        <p:nvSpPr>
          <p:cNvPr id="6" name="Text 3"/>
          <p:cNvSpPr/>
          <p:nvPr/>
        </p:nvSpPr>
        <p:spPr>
          <a:xfrm>
            <a:off x="1005840" y="731520"/>
            <a:ext cx="7315200" cy="274320"/>
          </a:xfrm>
          <a:prstGeom prst="rect">
            <a:avLst/>
          </a:prstGeom>
          <a:noFill/>
          <a:ln/>
        </p:spPr>
        <p:txBody>
          <a:bodyPr wrap="square" lIns="0" tIns="0" rIns="0" bIns="0" rtlCol="0" anchor="ctr"/>
          <a:lstStyle/>
          <a:p>
            <a:pPr indent="0" marL="0">
              <a:buNone/>
            </a:pPr>
            <a:r>
              <a:rPr lang="en-US" sz="1200" dirty="0">
                <a:solidFill>
                  <a:srgbClr val="B8D4E3"/>
                </a:solidFill>
                <a:latin typeface="Calibri" pitchFamily="34" charset="0"/>
                <a:ea typeface="Calibri" pitchFamily="34" charset="-122"/>
                <a:cs typeface="Calibri" pitchFamily="34" charset="-120"/>
              </a:rPr>
              <a:t>Key Takeaways from Today and Your Path to Exam Success</a:t>
            </a:r>
            <a:endParaRPr lang="en-US" sz="1200" dirty="0"/>
          </a:p>
        </p:txBody>
      </p:sp>
      <p:sp>
        <p:nvSpPr>
          <p:cNvPr id="7" name="Shape 4"/>
          <p:cNvSpPr/>
          <p:nvPr/>
        </p:nvSpPr>
        <p:spPr>
          <a:xfrm>
            <a:off x="457200" y="1188720"/>
            <a:ext cx="8229600" cy="749808"/>
          </a:xfrm>
          <a:prstGeom prst="roundRect">
            <a:avLst>
              <a:gd name="adj" fmla="val 9756"/>
            </a:avLst>
          </a:prstGeom>
          <a:solidFill>
            <a:srgbClr val="FFFFFF">
              <a:alpha val="10000"/>
            </a:srgbClr>
          </a:solidFill>
          <a:ln/>
        </p:spPr>
      </p:sp>
      <p:sp>
        <p:nvSpPr>
          <p:cNvPr id="8" name="Text 5"/>
          <p:cNvSpPr/>
          <p:nvPr/>
        </p:nvSpPr>
        <p:spPr>
          <a:xfrm>
            <a:off x="594360" y="1426464"/>
            <a:ext cx="1005840" cy="274320"/>
          </a:xfrm>
          <a:prstGeom prst="roundRect">
            <a:avLst>
              <a:gd name="adj" fmla="val 20000"/>
            </a:avLst>
          </a:prstGeom>
          <a:solidFill>
            <a:srgbClr val="3B82F6"/>
          </a:solidFill>
          <a:ln/>
        </p:spPr>
        <p:txBody>
          <a:bodyPr wrap="square" lIns="0" tIns="0" rIns="0" bIns="0" rtlCol="0" anchor="ctr"/>
          <a:lstStyle/>
          <a:p>
            <a:pPr algn="ctr" indent="0" marL="0">
              <a:buNone/>
            </a:pPr>
            <a:r>
              <a:rPr lang="en-US" sz="1000" dirty="0">
                <a:solidFill>
                  <a:srgbClr val="FFFFFF"/>
                </a:solidFill>
                <a:latin typeface="Trebuchet MS" pitchFamily="34" charset="0"/>
                <a:ea typeface="Trebuchet MS" pitchFamily="34" charset="-122"/>
                <a:cs typeface="Trebuchet MS" pitchFamily="34" charset="-120"/>
              </a:rPr>
              <a:t>Paper 1A</a:t>
            </a:r>
            <a:endParaRPr lang="en-US" sz="1000" dirty="0"/>
          </a:p>
        </p:txBody>
      </p:sp>
      <p:sp>
        <p:nvSpPr>
          <p:cNvPr id="9" name="Text 6"/>
          <p:cNvSpPr/>
          <p:nvPr/>
        </p:nvSpPr>
        <p:spPr>
          <a:xfrm>
            <a:off x="1783080" y="1298448"/>
            <a:ext cx="5303520" cy="530352"/>
          </a:xfrm>
          <a:prstGeom prst="rect">
            <a:avLst/>
          </a:prstGeom>
          <a:noFill/>
          <a:ln/>
        </p:spPr>
        <p:txBody>
          <a:bodyPr wrap="square" lIns="0" tIns="0" rIns="0" bIns="0" rtlCol="0" anchor="ctr"/>
          <a:lstStyle/>
          <a:p>
            <a:pPr indent="0" marL="0">
              <a:buNone/>
            </a:pPr>
            <a:r>
              <a:rPr lang="en-US" sz="1100" dirty="0">
                <a:solidFill>
                  <a:srgbClr val="B8D4E3"/>
                </a:solidFill>
                <a:latin typeface="Calibri" pitchFamily="34" charset="0"/>
                <a:ea typeface="Calibri" pitchFamily="34" charset="-122"/>
                <a:cs typeface="Calibri" pitchFamily="34" charset="-120"/>
              </a:rPr>
              <a:t>Master Internet &amp; Applications and Computer Systems — these are your biggest mark gains</a:t>
            </a:r>
            <a:endParaRPr lang="en-US" sz="1100" dirty="0"/>
          </a:p>
        </p:txBody>
      </p:sp>
      <p:sp>
        <p:nvSpPr>
          <p:cNvPr id="10" name="Text 7"/>
          <p:cNvSpPr/>
          <p:nvPr/>
        </p:nvSpPr>
        <p:spPr>
          <a:xfrm>
            <a:off x="7315200" y="1417320"/>
            <a:ext cx="1188720" cy="292608"/>
          </a:xfrm>
          <a:prstGeom prst="rect">
            <a:avLst/>
          </a:prstGeom>
          <a:noFill/>
          <a:ln/>
        </p:spPr>
        <p:txBody>
          <a:bodyPr wrap="square" lIns="0" tIns="0" rIns="0" bIns="0" rtlCol="0" anchor="ctr"/>
          <a:lstStyle/>
          <a:p>
            <a:pPr algn="ctr" indent="0" marL="0">
              <a:buNone/>
            </a:pPr>
            <a:r>
              <a:rPr lang="en-US" sz="1100" dirty="0">
                <a:solidFill>
                  <a:srgbClr val="06D6A0"/>
                </a:solidFill>
                <a:latin typeface="Trebuchet MS" pitchFamily="34" charset="0"/>
                <a:ea typeface="Trebuchet MS" pitchFamily="34" charset="-122"/>
                <a:cs typeface="Trebuchet MS" pitchFamily="34" charset="-120"/>
              </a:rPr>
              <a:t>70% avg</a:t>
            </a:r>
            <a:endParaRPr lang="en-US" sz="1100" dirty="0"/>
          </a:p>
        </p:txBody>
      </p:sp>
      <p:sp>
        <p:nvSpPr>
          <p:cNvPr id="11" name="Shape 8"/>
          <p:cNvSpPr/>
          <p:nvPr/>
        </p:nvSpPr>
        <p:spPr>
          <a:xfrm>
            <a:off x="457200" y="2029968"/>
            <a:ext cx="8229600" cy="749808"/>
          </a:xfrm>
          <a:prstGeom prst="roundRect">
            <a:avLst>
              <a:gd name="adj" fmla="val 9756"/>
            </a:avLst>
          </a:prstGeom>
          <a:solidFill>
            <a:srgbClr val="FFFFFF">
              <a:alpha val="10000"/>
            </a:srgbClr>
          </a:solidFill>
          <a:ln/>
        </p:spPr>
      </p:sp>
      <p:sp>
        <p:nvSpPr>
          <p:cNvPr id="12" name="Text 9"/>
          <p:cNvSpPr/>
          <p:nvPr/>
        </p:nvSpPr>
        <p:spPr>
          <a:xfrm>
            <a:off x="594360" y="2267712"/>
            <a:ext cx="1005840" cy="274320"/>
          </a:xfrm>
          <a:prstGeom prst="roundRect">
            <a:avLst>
              <a:gd name="adj" fmla="val 20000"/>
            </a:avLst>
          </a:prstGeom>
          <a:solidFill>
            <a:srgbClr val="8B5CF6"/>
          </a:solidFill>
          <a:ln/>
        </p:spPr>
        <p:txBody>
          <a:bodyPr wrap="square" lIns="0" tIns="0" rIns="0" bIns="0" rtlCol="0" anchor="ctr"/>
          <a:lstStyle/>
          <a:p>
            <a:pPr algn="ctr" indent="0" marL="0">
              <a:buNone/>
            </a:pPr>
            <a:r>
              <a:rPr lang="en-US" sz="1000" dirty="0">
                <a:solidFill>
                  <a:srgbClr val="FFFFFF"/>
                </a:solidFill>
                <a:latin typeface="Trebuchet MS" pitchFamily="34" charset="0"/>
                <a:ea typeface="Trebuchet MS" pitchFamily="34" charset="-122"/>
                <a:cs typeface="Trebuchet MS" pitchFamily="34" charset="-120"/>
              </a:rPr>
              <a:t>Paper 1B</a:t>
            </a:r>
            <a:endParaRPr lang="en-US" sz="1000" dirty="0"/>
          </a:p>
        </p:txBody>
      </p:sp>
      <p:sp>
        <p:nvSpPr>
          <p:cNvPr id="13" name="Text 10"/>
          <p:cNvSpPr/>
          <p:nvPr/>
        </p:nvSpPr>
        <p:spPr>
          <a:xfrm>
            <a:off x="1783080" y="2139696"/>
            <a:ext cx="5303520" cy="530352"/>
          </a:xfrm>
          <a:prstGeom prst="rect">
            <a:avLst/>
          </a:prstGeom>
          <a:noFill/>
          <a:ln/>
        </p:spPr>
        <p:txBody>
          <a:bodyPr wrap="square" lIns="0" tIns="0" rIns="0" bIns="0" rtlCol="0" anchor="ctr"/>
          <a:lstStyle/>
          <a:p>
            <a:pPr indent="0" marL="0">
              <a:buNone/>
            </a:pPr>
            <a:r>
              <a:rPr lang="en-US" sz="1100" dirty="0">
                <a:solidFill>
                  <a:srgbClr val="B8D4E3"/>
                </a:solidFill>
                <a:latin typeface="Calibri" pitchFamily="34" charset="0"/>
                <a:ea typeface="Calibri" pitchFamily="34" charset="-122"/>
                <a:cs typeface="Calibri" pitchFamily="34" charset="-120"/>
              </a:rPr>
              <a:t>Use precise terminology, elaborate every answer, include units, initialise variables</a:t>
            </a:r>
            <a:endParaRPr lang="en-US" sz="1100" dirty="0"/>
          </a:p>
        </p:txBody>
      </p:sp>
      <p:sp>
        <p:nvSpPr>
          <p:cNvPr id="14" name="Text 11"/>
          <p:cNvSpPr/>
          <p:nvPr/>
        </p:nvSpPr>
        <p:spPr>
          <a:xfrm>
            <a:off x="7315200" y="2258568"/>
            <a:ext cx="1188720" cy="292608"/>
          </a:xfrm>
          <a:prstGeom prst="rect">
            <a:avLst/>
          </a:prstGeom>
          <a:noFill/>
          <a:ln/>
        </p:spPr>
        <p:txBody>
          <a:bodyPr wrap="square" lIns="0" tIns="0" rIns="0" bIns="0" rtlCol="0" anchor="ctr"/>
          <a:lstStyle/>
          <a:p>
            <a:pPr algn="ctr" indent="0" marL="0">
              <a:buNone/>
            </a:pPr>
            <a:r>
              <a:rPr lang="en-US" sz="1100" dirty="0">
                <a:solidFill>
                  <a:srgbClr val="06D6A0"/>
                </a:solidFill>
                <a:latin typeface="Trebuchet MS" pitchFamily="34" charset="0"/>
                <a:ea typeface="Trebuchet MS" pitchFamily="34" charset="-122"/>
                <a:cs typeface="Trebuchet MS" pitchFamily="34" charset="-120"/>
              </a:rPr>
              <a:t>4 Poor</a:t>
            </a:r>
            <a:endParaRPr lang="en-US" sz="1100" dirty="0"/>
          </a:p>
        </p:txBody>
      </p:sp>
      <p:sp>
        <p:nvSpPr>
          <p:cNvPr id="15" name="Shape 12"/>
          <p:cNvSpPr/>
          <p:nvPr/>
        </p:nvSpPr>
        <p:spPr>
          <a:xfrm>
            <a:off x="457200" y="2871216"/>
            <a:ext cx="8229600" cy="749808"/>
          </a:xfrm>
          <a:prstGeom prst="roundRect">
            <a:avLst>
              <a:gd name="adj" fmla="val 9756"/>
            </a:avLst>
          </a:prstGeom>
          <a:solidFill>
            <a:srgbClr val="FFFFFF">
              <a:alpha val="10000"/>
            </a:srgbClr>
          </a:solidFill>
          <a:ln/>
        </p:spPr>
      </p:sp>
      <p:sp>
        <p:nvSpPr>
          <p:cNvPr id="16" name="Text 13"/>
          <p:cNvSpPr/>
          <p:nvPr/>
        </p:nvSpPr>
        <p:spPr>
          <a:xfrm>
            <a:off x="594360" y="3108960"/>
            <a:ext cx="1005840" cy="274320"/>
          </a:xfrm>
          <a:prstGeom prst="roundRect">
            <a:avLst>
              <a:gd name="adj" fmla="val 20000"/>
            </a:avLst>
          </a:prstGeom>
          <a:solidFill>
            <a:srgbClr val="F97316"/>
          </a:solidFill>
          <a:ln/>
        </p:spPr>
        <p:txBody>
          <a:bodyPr wrap="square" lIns="0" tIns="0" rIns="0" bIns="0" rtlCol="0" anchor="ctr"/>
          <a:lstStyle/>
          <a:p>
            <a:pPr algn="ctr" indent="0" marL="0">
              <a:buNone/>
            </a:pPr>
            <a:r>
              <a:rPr lang="en-US" sz="1000" dirty="0">
                <a:solidFill>
                  <a:srgbClr val="FFFFFF"/>
                </a:solidFill>
                <a:latin typeface="Trebuchet MS" pitchFamily="34" charset="0"/>
                <a:ea typeface="Trebuchet MS" pitchFamily="34" charset="-122"/>
                <a:cs typeface="Trebuchet MS" pitchFamily="34" charset="-120"/>
              </a:rPr>
              <a:t>Paper 2</a:t>
            </a:r>
            <a:endParaRPr lang="en-US" sz="1000" dirty="0"/>
          </a:p>
        </p:txBody>
      </p:sp>
      <p:sp>
        <p:nvSpPr>
          <p:cNvPr id="17" name="Text 14"/>
          <p:cNvSpPr/>
          <p:nvPr/>
        </p:nvSpPr>
        <p:spPr>
          <a:xfrm>
            <a:off x="1783080" y="2980944"/>
            <a:ext cx="5303520" cy="530352"/>
          </a:xfrm>
          <a:prstGeom prst="rect">
            <a:avLst/>
          </a:prstGeom>
          <a:noFill/>
          <a:ln/>
        </p:spPr>
        <p:txBody>
          <a:bodyPr wrap="square" lIns="0" tIns="0" rIns="0" bIns="0" rtlCol="0" anchor="ctr"/>
          <a:lstStyle/>
          <a:p>
            <a:pPr indent="0" marL="0">
              <a:buNone/>
            </a:pPr>
            <a:r>
              <a:rPr lang="en-US" sz="1100" dirty="0">
                <a:solidFill>
                  <a:srgbClr val="B8D4E3"/>
                </a:solidFill>
                <a:latin typeface="Calibri" pitchFamily="34" charset="0"/>
                <a:ea typeface="Calibri" pitchFamily="34" charset="-122"/>
                <a:cs typeface="Calibri" pitchFamily="34" charset="-120"/>
              </a:rPr>
              <a:t>Practise UNION, INSERT INTO syntax, normalisation to 3NF, and rollback concepts</a:t>
            </a:r>
            <a:endParaRPr lang="en-US" sz="1100" dirty="0"/>
          </a:p>
        </p:txBody>
      </p:sp>
      <p:sp>
        <p:nvSpPr>
          <p:cNvPr id="18" name="Text 15"/>
          <p:cNvSpPr/>
          <p:nvPr/>
        </p:nvSpPr>
        <p:spPr>
          <a:xfrm>
            <a:off x="7315200" y="3099816"/>
            <a:ext cx="1188720" cy="292608"/>
          </a:xfrm>
          <a:prstGeom prst="rect">
            <a:avLst/>
          </a:prstGeom>
          <a:noFill/>
          <a:ln/>
        </p:spPr>
        <p:txBody>
          <a:bodyPr wrap="square" lIns="0" tIns="0" rIns="0" bIns="0" rtlCol="0" anchor="ctr"/>
          <a:lstStyle/>
          <a:p>
            <a:pPr algn="ctr" indent="0" marL="0">
              <a:buNone/>
            </a:pPr>
            <a:r>
              <a:rPr lang="en-US" sz="1100" dirty="0">
                <a:solidFill>
                  <a:srgbClr val="06D6A0"/>
                </a:solidFill>
                <a:latin typeface="Trebuchet MS" pitchFamily="34" charset="0"/>
                <a:ea typeface="Trebuchet MS" pitchFamily="34" charset="-122"/>
                <a:cs typeface="Trebuchet MS" pitchFamily="34" charset="-120"/>
              </a:rPr>
              <a:t>SQL gaps</a:t>
            </a:r>
            <a:endParaRPr lang="en-US" sz="1100" dirty="0"/>
          </a:p>
        </p:txBody>
      </p:sp>
      <p:sp>
        <p:nvSpPr>
          <p:cNvPr id="19" name="Shape 16"/>
          <p:cNvSpPr/>
          <p:nvPr/>
        </p:nvSpPr>
        <p:spPr>
          <a:xfrm>
            <a:off x="457200" y="3758184"/>
            <a:ext cx="8229600" cy="411480"/>
          </a:xfrm>
          <a:prstGeom prst="roundRect">
            <a:avLst>
              <a:gd name="adj" fmla="val 13333"/>
            </a:avLst>
          </a:prstGeom>
          <a:solidFill>
            <a:srgbClr val="06D6A0">
              <a:alpha val="15000"/>
            </a:srgbClr>
          </a:solidFill>
          <a:ln/>
        </p:spPr>
      </p:sp>
      <p:pic>
        <p:nvPicPr>
          <p:cNvPr id="20" name="Image 1" descr="icon_233.sv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94360" y="3831336"/>
            <a:ext cx="201168" cy="201168"/>
          </a:xfrm>
          <a:prstGeom prst="rect">
            <a:avLst/>
          </a:prstGeom>
        </p:spPr>
      </p:pic>
      <p:sp>
        <p:nvSpPr>
          <p:cNvPr id="21" name="Text 17"/>
          <p:cNvSpPr/>
          <p:nvPr/>
        </p:nvSpPr>
        <p:spPr>
          <a:xfrm>
            <a:off x="914400" y="3758184"/>
            <a:ext cx="7589520" cy="411480"/>
          </a:xfrm>
          <a:prstGeom prst="rect">
            <a:avLst/>
          </a:prstGeom>
          <a:noFill/>
          <a:ln/>
        </p:spPr>
        <p:txBody>
          <a:bodyPr wrap="square" lIns="0" tIns="0" rIns="0" bIns="0" rtlCol="0" anchor="ctr"/>
          <a:lstStyle/>
          <a:p>
            <a:pPr indent="0" marL="0">
              <a:buNone/>
            </a:pPr>
            <a:r>
              <a:rPr lang="en-US" sz="1000" dirty="0">
                <a:solidFill>
                  <a:srgbClr val="06D6A0"/>
                </a:solidFill>
                <a:latin typeface="Calibri" pitchFamily="34" charset="0"/>
                <a:ea typeface="Calibri" pitchFamily="34" charset="-122"/>
                <a:cs typeface="Calibri" pitchFamily="34" charset="-120"/>
              </a:rPr>
              <a:t>Cognitive levels: Match your answer depth to the action verb — define vs explain vs evaluate vs design</a:t>
            </a:r>
            <a:endParaRPr lang="en-US" sz="1000" dirty="0"/>
          </a:p>
        </p:txBody>
      </p:sp>
      <p:sp>
        <p:nvSpPr>
          <p:cNvPr id="22" name="Shape 18"/>
          <p:cNvSpPr/>
          <p:nvPr/>
        </p:nvSpPr>
        <p:spPr>
          <a:xfrm>
            <a:off x="1371600" y="4306824"/>
            <a:ext cx="6400800" cy="594360"/>
          </a:xfrm>
          <a:prstGeom prst="roundRect">
            <a:avLst>
              <a:gd name="adj" fmla="val 15385"/>
            </a:avLst>
          </a:prstGeom>
          <a:solidFill>
            <a:srgbClr val="14B8A6"/>
          </a:solidFill>
          <a:ln/>
        </p:spPr>
      </p:sp>
      <p:pic>
        <p:nvPicPr>
          <p:cNvPr id="23" name="Image 2" descr="icon_234.sv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600200" y="4443984"/>
            <a:ext cx="274320" cy="274320"/>
          </a:xfrm>
          <a:prstGeom prst="rect">
            <a:avLst/>
          </a:prstGeom>
        </p:spPr>
      </p:pic>
      <p:sp>
        <p:nvSpPr>
          <p:cNvPr id="24" name="Text 19"/>
          <p:cNvSpPr/>
          <p:nvPr/>
        </p:nvSpPr>
        <p:spPr>
          <a:xfrm>
            <a:off x="2011680" y="4352544"/>
            <a:ext cx="5486400" cy="50292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Start today: Create comparison tables, do hands-on coding, and practise past paper questions under timed conditions</a:t>
            </a:r>
            <a:endParaRPr lang="en-US" sz="1100" dirty="0"/>
          </a:p>
        </p:txBody>
      </p:sp>
      <p:sp>
        <p:nvSpPr>
          <p:cNvPr id="25" name="Shape 20"/>
          <p:cNvSpPr/>
          <p:nvPr/>
        </p:nvSpPr>
        <p:spPr>
          <a:xfrm>
            <a:off x="0" y="4800600"/>
            <a:ext cx="9144000" cy="342900"/>
          </a:xfrm>
          <a:prstGeom prst="rect">
            <a:avLst/>
          </a:prstGeom>
          <a:solidFill>
            <a:srgbClr val="071120"/>
          </a:solidFill>
          <a:ln/>
        </p:spPr>
      </p:sp>
      <p:sp>
        <p:nvSpPr>
          <p:cNvPr id="26" name="Text 21"/>
          <p:cNvSpPr/>
          <p:nvPr/>
        </p:nvSpPr>
        <p:spPr>
          <a:xfrm>
            <a:off x="457200" y="4818888"/>
            <a:ext cx="4572000" cy="274320"/>
          </a:xfrm>
          <a:prstGeom prst="rect">
            <a:avLst/>
          </a:prstGeom>
          <a:noFill/>
          <a:ln/>
        </p:spPr>
        <p:txBody>
          <a:bodyPr wrap="square" lIns="0" tIns="0" rIns="0" bIns="0" rtlCol="0" anchor="ctr"/>
          <a:lstStyle/>
          <a:p>
            <a:pPr indent="0" marL="0">
              <a:buNone/>
            </a:pPr>
            <a:r>
              <a:rPr lang="en-US" sz="700" dirty="0">
                <a:solidFill>
                  <a:srgbClr val="4A6A8A"/>
                </a:solidFill>
                <a:latin typeface="Calibri" pitchFamily="34" charset="0"/>
                <a:ea typeface="Calibri" pitchFamily="34" charset="-122"/>
                <a:cs typeface="Calibri" pitchFamily="34" charset="-120"/>
              </a:rPr>
              <a:t>HKDSE ICT 2025 Exam Skills Masterclass</a:t>
            </a:r>
            <a:endParaRPr lang="en-US" sz="700" dirty="0"/>
          </a:p>
        </p:txBody>
      </p:sp>
      <p:sp>
        <p:nvSpPr>
          <p:cNvPr id="25" name="Slide Number Placeholder 0"/>
          <p:cNvSpPr>
            <a:spLocks noGrp="1"/>
          </p:cNvSpPr>
          <p:nvPr>
            <p:ph type="sldNum" sz="quarter" idx="4294967295"/>
          </p:nvPr>
        </p:nvSpPr>
        <p:spPr>
          <a:xfrm>
            <a:off x="8503920" y="4886325"/>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6B8CAE"/>
                </a:solidFill>
                <a:latin typeface="Calibri"/>
                <a:ea typeface="Calibri"/>
                <a:cs typeface="Calibri"/>
              </a:defRPr>
            </a:lvl1pPr>
          </a:lstStyle>
          <a:p>
            <a:pPr algn="l"/>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
  <Relationship Id="rId1" Type="http://schemas.microsoft.com/office/2011/relationships/webextension" Target="webextension1.xml"/>
</Relationships>
</file>

<file path=ppt/webextensions/taskpanes.xml><?xml version="1.0" encoding="utf-8"?>
<wetp:taskpanes xmlns:wetp="http://schemas.microsoft.com/office/webextensions/taskpanes/2010/11">
  <wetp:taskpane dockstate="right" visibility="1"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8C48FA88-C415-4D70-BA88-6B60403133F7}">
  <we:reference id="WA200010606" version="1.0.10036.0" store="en-us" storeType="OMEX"/>
  <we:alternateReferences/>
  <we:properties>
    <we:property name="Office.AutoShowTaskpaneWithDocument" value="true"/>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HKDSE ICT 2025 Exam Skills Masterclass</dc:title>
  <dc:subject>PptxGenJS Presentation</dc:subject>
  <dc:creator>HKDSE ICT Teacher</dc:creator>
  <cp:lastModifiedBy>HKDSE ICT Teacher</cp:lastModifiedBy>
  <cp:revision>1</cp:revision>
  <dcterms:created xsi:type="dcterms:W3CDTF">2026-09-18T04:59:07Z</dcterms:created>
  <dcterms:modified xsi:type="dcterms:W3CDTF">2026-09-18T04:59:07Z</dcterms:modified>
</cp:coreProperties>
</file>